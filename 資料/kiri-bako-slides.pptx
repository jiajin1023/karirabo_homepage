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1905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6400800" cy="0"/>
          </a:xfrm>
          <a:prstGeom prst="line">
            <a:avLst/>
          </a:prstGeom>
          <a:noFill/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931920"/>
            <a:ext cx="8229600" cy="0"/>
          </a:xfrm>
          <a:prstGeom prst="line">
            <a:avLst/>
          </a:prstGeom>
          <a:noFill/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74320"/>
            <a:ext cx="1828800" cy="4114800"/>
          </a:xfrm>
          <a:prstGeom prst="line">
            <a:avLst/>
          </a:prstGeom>
          <a:noFill/>
          <a:ln w="19050">
            <a:solidFill>
              <a:srgbClr val="7BF1A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82880"/>
            <a:ext cx="1097280" cy="3200400"/>
          </a:xfrm>
          <a:prstGeom prst="line">
            <a:avLst/>
          </a:prstGeom>
          <a:noFill/>
          <a:ln w="12700">
            <a:solidFill>
              <a:srgbClr val="7BF1A8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4389120"/>
            <a:ext cx="3657600" cy="-1371600"/>
          </a:xfrm>
          <a:prstGeom prst="line">
            <a:avLst/>
          </a:prstGeom>
          <a:noFill/>
          <a:ln w="12700">
            <a:solidFill>
              <a:srgbClr val="F72585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放射線、見えました。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ドライアイス霧箱で「目に見えない世界」を覗く実験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342900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自然科学VTuber　かず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霧箱（クラウドチェンバー）とは？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303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4754880" cy="3840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仕組みはこうです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アルコール蒸気を漂わせた密閉空間を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ドライアイスで極端に冷やすと、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「過飽和」という不安定な状態になります。
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77A8"/>
                </a:solidFill>
              </a:rPr>
              <a:t>放射線が通過すると…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  ✦  空気の分子がイオン化される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  ✦  イオンが液滴の「核」になる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  ✦  白い飛跡（軌跡）が現れる！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914400"/>
            <a:ext cx="3291840" cy="3108960"/>
          </a:xfrm>
          <a:prstGeom prst="rect">
            <a:avLst/>
          </a:prstGeom>
          <a:solidFill>
            <a:srgbClr val="E8F4F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914400"/>
            <a:ext cx="3291840" cy="384048"/>
          </a:xfrm>
          <a:prstGeom prst="rect">
            <a:avLst/>
          </a:prstGeom>
          <a:solidFill>
            <a:srgbClr val="C8E6C9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932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5E20"/>
                </a:solidFill>
              </a:rPr>
              <a:t>アルコール蒸気（過飽和層）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0" y="3657600"/>
            <a:ext cx="3291840" cy="365760"/>
          </a:xfrm>
          <a:prstGeom prst="rect">
            <a:avLst/>
          </a:prstGeom>
          <a:solidFill>
            <a:srgbClr val="B3D9F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36758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</a:rPr>
              <a:t>ドライアイス（冷却）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52160" y="2011680"/>
            <a:ext cx="1188720" cy="0"/>
          </a:xfrm>
          <a:prstGeom prst="line">
            <a:avLst/>
          </a:prstGeom>
          <a:noFill/>
          <a:ln w="63500">
            <a:solidFill>
              <a:srgbClr val="4CC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1554480"/>
            <a:ext cx="457200" cy="457200"/>
          </a:xfrm>
          <a:prstGeom prst="line">
            <a:avLst/>
          </a:prstGeom>
          <a:noFill/>
          <a:ln w="25400">
            <a:solidFill>
              <a:srgbClr val="F725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2011680"/>
            <a:ext cx="365760" cy="-320040"/>
          </a:xfrm>
          <a:prstGeom prst="line">
            <a:avLst/>
          </a:prstGeom>
          <a:noFill/>
          <a:ln w="25400">
            <a:solidFill>
              <a:srgbClr val="F725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1371600"/>
            <a:ext cx="3017520" cy="2103120"/>
          </a:xfrm>
          <a:prstGeom prst="line">
            <a:avLst/>
          </a:prstGeom>
          <a:noFill/>
          <a:ln w="25400">
            <a:solidFill>
              <a:srgbClr val="38A1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0C0"/>
                </a:solidFill>
              </a:rPr>
              <a:t>α線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78040" y="1737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2585"/>
                </a:solidFill>
              </a:rPr>
              <a:t>β線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5528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宇宙線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4069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FA6"/>
                </a:solidFill>
              </a:rPr>
              <a:t>霧箱（断面イメージ）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実験で見える放射線の3種類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3749040"/>
          </a:xfrm>
          <a:prstGeom prst="rect">
            <a:avLst/>
          </a:prstGeom>
          <a:solidFill>
            <a:srgbClr val="EBF8FF"/>
          </a:solidFill>
          <a:ln w="25400">
            <a:solidFill>
              <a:srgbClr val="4CC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651760" cy="45720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2412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α線（アルファ線）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1920240" cy="0"/>
          </a:xfrm>
          <a:prstGeom prst="line">
            <a:avLst/>
          </a:prstGeom>
          <a:noFill/>
          <a:ln w="762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920240"/>
            <a:ext cx="2505456" cy="2743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正体：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ヘリウム原子核
（陽子2＋中性子2）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飛跡：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太くて短い
まっすぐ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透過力：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紙1枚で止まる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（最も弱い）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3749040"/>
          </a:xfrm>
          <a:prstGeom prst="rect">
            <a:avLst/>
          </a:prstGeom>
          <a:solidFill>
            <a:srgbClr val="FFF0F6"/>
          </a:solidFill>
          <a:ln w="25400">
            <a:solidFill>
              <a:srgbClr val="F7258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651760" cy="457200"/>
          </a:xfrm>
          <a:prstGeom prst="rect">
            <a:avLst/>
          </a:prstGeom>
          <a:solidFill>
            <a:srgbClr val="F72585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2412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β線（ベータ線）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429000" y="1719072"/>
            <a:ext cx="548640" cy="201168"/>
          </a:xfrm>
          <a:prstGeom prst="line">
            <a:avLst/>
          </a:prstGeom>
          <a:noFill/>
          <a:ln w="38100">
            <a:solidFill>
              <a:srgbClr val="F725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77640" y="1920240"/>
            <a:ext cx="502920" cy="-182880"/>
          </a:xfrm>
          <a:prstGeom prst="line">
            <a:avLst/>
          </a:prstGeom>
          <a:noFill/>
          <a:ln w="38100">
            <a:solidFill>
              <a:srgbClr val="F725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737360"/>
            <a:ext cx="502920" cy="201168"/>
          </a:xfrm>
          <a:prstGeom prst="line">
            <a:avLst/>
          </a:prstGeom>
          <a:noFill/>
          <a:ln w="38100">
            <a:solidFill>
              <a:srgbClr val="F725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1938528"/>
            <a:ext cx="457200" cy="-164592"/>
          </a:xfrm>
          <a:prstGeom prst="line">
            <a:avLst/>
          </a:prstGeom>
          <a:noFill/>
          <a:ln w="38100">
            <a:solidFill>
              <a:srgbClr val="F725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920240"/>
            <a:ext cx="2505456" cy="2743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正体：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高速の電子
（または陽電子）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飛跡：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細くて
グネグネ曲がる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透過力：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薄いアルミで止まる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（中程度）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2651760" cy="3749040"/>
          </a:xfrm>
          <a:prstGeom prst="rect">
            <a:avLst/>
          </a:prstGeom>
          <a:solidFill>
            <a:srgbClr val="F0FFF4"/>
          </a:solidFill>
          <a:ln w="25400">
            <a:solidFill>
              <a:srgbClr val="38A1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05840"/>
            <a:ext cx="2651760" cy="4572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02412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宇宙線（ミューオン）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0" y="1554480"/>
            <a:ext cx="2194560" cy="457200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920240"/>
            <a:ext cx="2505456" cy="2743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正体：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宇宙からの粒子が
大気と反応して生成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飛跡：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長くてまっすぐ
スパッと貫く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★ 放射線源なしで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    必ず見える！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実験の材料と手順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572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必要なもの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47472" cy="347472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14081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透明な密閉容器（アクリルケースなど）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347472" cy="347472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9019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ドライアイス 500g〜1kg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59152"/>
            <a:ext cx="347472" cy="347472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" y="23957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無水エタノール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52928"/>
            <a:ext cx="347472" cy="347472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28895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黒いフェルト（容器上部内側に貼る）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346704"/>
            <a:ext cx="347472" cy="347472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33832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懐中電灯（横から水平に照らす）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347472" cy="347472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8770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断熱手袋（素手厳禁！）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868680"/>
            <a:ext cx="4251960" cy="4069080"/>
          </a:xfrm>
          <a:prstGeom prst="rect">
            <a:avLst/>
          </a:prstGeom>
          <a:solidFill>
            <a:srgbClr val="EBF4FA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実験手順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73168" y="1444752"/>
            <a:ext cx="384048" cy="384048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48656" y="1472184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フェルトにアルコールをたっぷり染み込ませ、容器上部の内側に貼る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73168" y="2066544"/>
            <a:ext cx="384048" cy="384048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48656" y="2093976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ドライアイスを金属トレーに並べ、容器を逆さに載せる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73168" y="2688336"/>
            <a:ext cx="384048" cy="384048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48656" y="2715768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3〜5分待つ。底面付近に霧がたなびけば準備OK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73168" y="3310128"/>
            <a:ext cx="384048" cy="384048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48656" y="3337560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部屋を暗くして、横から懐中電灯を水平に当てる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73168" y="3931920"/>
            <a:ext cx="384048" cy="384048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48656" y="3959352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じっと観察！白い飛跡が放射線の証拠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480560"/>
            <a:ext cx="8549640" cy="457200"/>
          </a:xfrm>
          <a:prstGeom prst="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507992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5800"/>
                </a:solidFill>
              </a:rPr>
              <a:t>⚠️  ドライアイスは素手厳禁！エタノールは火気厳禁！換気のよい場所で実施してください。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19050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19050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1097280" cy="5143500"/>
          </a:xfrm>
          <a:prstGeom prst="line">
            <a:avLst/>
          </a:prstGeom>
          <a:noFill/>
          <a:ln w="12700">
            <a:solidFill>
              <a:srgbClr val="7BF1A8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0"/>
            <a:ext cx="822960" cy="5143500"/>
          </a:xfrm>
          <a:prstGeom prst="line">
            <a:avLst/>
          </a:prstGeom>
          <a:noFill/>
          <a:ln w="12700">
            <a:solidFill>
              <a:srgbClr val="7BF1A8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572000"/>
            <a:ext cx="5486400" cy="-2286000"/>
          </a:xfrm>
          <a:prstGeom prst="line">
            <a:avLst/>
          </a:prstGeom>
          <a:noFill/>
          <a:ln w="12700">
            <a:solidFill>
              <a:srgbClr val="F72585">
                <a:alpha val="2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目に見えない世界に、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見える窓をつくった。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200400" y="269748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放射線は「特別な場所」だけにあるのではなく、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自然の一部としてずっとそこにあります。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ドライアイスと透明な容器があれば、今日から見えます。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自然科学VTuber　かず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霧箱実験で放射線を見る</dc:title>
  <dc:subject>PptxGenJS Presentation</dc:subject>
  <dc:creator>PptxGenJS</dc:creator>
  <cp:lastModifiedBy>PptxGenJS</cp:lastModifiedBy>
  <cp:revision>1</cp:revision>
  <dcterms:created xsi:type="dcterms:W3CDTF">2026-03-14T06:10:32Z</dcterms:created>
  <dcterms:modified xsi:type="dcterms:W3CDTF">2026-03-14T06:10:32Z</dcterms:modified>
</cp:coreProperties>
</file>