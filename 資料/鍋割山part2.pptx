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0688955" cy="15123795"/>
  <p:notesSz cx="15123795" cy="1068895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DC87A">
              <a:alpha val="12000"/>
            </a:srgbClr>
          </a:solidFill>
          <a:ln w="12700">
            <a:solidFill>
              <a:srgbClr val="7DC87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2344400"/>
            <a:ext cx="4114800" cy="4114800"/>
          </a:xfrm>
          <a:prstGeom prst="ellipse">
            <a:avLst/>
          </a:prstGeom>
          <a:solidFill>
            <a:srgbClr val="3E9E56">
              <a:alpha val="10000"/>
            </a:srgbClr>
          </a:solidFill>
          <a:ln w="12700">
            <a:solidFill>
              <a:srgbClr val="3E9E56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689336" cy="201168"/>
          </a:xfrm>
          <a:prstGeom prst="rect">
            <a:avLst/>
          </a:prstGeom>
          <a:solidFill>
            <a:srgbClr val="2C6B3A"/>
          </a:solidFill>
          <a:ln w="12700">
            <a:solidFill>
              <a:srgbClr val="2C6B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1168"/>
            <a:ext cx="10689336" cy="54864"/>
          </a:xfrm>
          <a:prstGeom prst="rect">
            <a:avLst/>
          </a:prstGeom>
          <a:solidFill>
            <a:srgbClr val="7DC87A">
              <a:alpha val="50000"/>
            </a:srgbClr>
          </a:solidFill>
          <a:ln w="12700">
            <a:solidFill>
              <a:srgbClr val="7DC87A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4886432"/>
            <a:ext cx="10689336" cy="237744"/>
          </a:xfrm>
          <a:prstGeom prst="rect">
            <a:avLst/>
          </a:prstGeom>
          <a:solidFill>
            <a:srgbClr val="2C6B3A"/>
          </a:solidFill>
          <a:ln w="12700">
            <a:solidFill>
              <a:srgbClr val="2C6B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" y="347472"/>
            <a:ext cx="804672" cy="804672"/>
          </a:xfrm>
          <a:prstGeom prst="ellipse">
            <a:avLst/>
          </a:prstGeom>
          <a:solidFill>
            <a:srgbClr val="3E9E56"/>
          </a:solidFill>
          <a:ln w="12700">
            <a:solidFill>
              <a:srgbClr val="2C6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347472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16736" y="402336"/>
            <a:ext cx="8046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6B3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TANZAWA HIKING EVENT 2025 — 神奈川県秦野市・丹沢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" y="868680"/>
            <a:ext cx="98755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A382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丹沢で遊ぼう！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02336" y="1901952"/>
            <a:ext cx="9875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C6B3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鍋割山 登山 × 鍋焼きうどん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02336" y="2615184"/>
            <a:ext cx="9875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A6A5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〜 絶景の富士山と絶品うどんを求めて丹沢へ 〜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2336" y="3090672"/>
            <a:ext cx="9884664" cy="658368"/>
          </a:xfrm>
          <a:prstGeom prst="rect">
            <a:avLst/>
          </a:prstGeom>
          <a:solidFill>
            <a:srgbClr val="2C6B3A"/>
          </a:solidFill>
          <a:ln w="12700">
            <a:solidFill>
              <a:srgbClr val="2C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2336" y="3090672"/>
            <a:ext cx="164592" cy="658368"/>
          </a:xfrm>
          <a:prstGeom prst="rect">
            <a:avLst/>
          </a:prstGeom>
          <a:solidFill>
            <a:srgbClr val="D4860E"/>
          </a:solidFill>
          <a:ln w="12700">
            <a:solidFill>
              <a:srgbClr val="D486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090672"/>
            <a:ext cx="56692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📅  2025年5月4日（日・祝）　GW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3090672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⏰ 集合：渋沢駅 08:00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02336" y="3877056"/>
            <a:ext cx="9884664" cy="2560320"/>
          </a:xfrm>
          <a:prstGeom prst="rect">
            <a:avLst/>
          </a:prstGeom>
          <a:solidFill>
            <a:srgbClr val="CCCCCC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02336" y="3877056"/>
            <a:ext cx="9884664" cy="256032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02336" y="6126480"/>
            <a:ext cx="9884664" cy="310896"/>
          </a:xfrm>
          <a:prstGeom prst="rect">
            <a:avLst/>
          </a:prstGeom>
          <a:solidFill>
            <a:srgbClr val="000000">
              <a:alpha val="68000"/>
            </a:srgbClr>
          </a:solidFill>
          <a:ln w="12700">
            <a:solidFill>
              <a:srgbClr val="000000">
                <a:alpha val="6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" y="6163056"/>
            <a:ext cx="9692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鍋割山頂より富士山を望む（標高1,272m）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02336" y="6583680"/>
            <a:ext cx="3127248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C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02336" y="6583680"/>
            <a:ext cx="3127248" cy="329184"/>
          </a:xfrm>
          <a:prstGeom prst="rect">
            <a:avLst/>
          </a:prstGeom>
          <a:solidFill>
            <a:srgbClr val="2C6B3A"/>
          </a:solidFill>
          <a:ln w="12700">
            <a:solidFill>
              <a:srgbClr val="2C6B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" y="6620256"/>
            <a:ext cx="2944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🏔️ コース概要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" y="6986016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B3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コース：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554480" y="6986016"/>
            <a:ext cx="18653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4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大倉～二俣～後沢乗越～鍋割山 往復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12064" y="7388352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B3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距離：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554480" y="7388352"/>
            <a:ext cx="18653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4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約16km（往復）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12064" y="7790688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B3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標高差：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554480" y="7790688"/>
            <a:ext cx="18653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4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約1,000m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12064" y="8193024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B3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山頂：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554480" y="8193024"/>
            <a:ext cx="18653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4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鍋割山 1,272m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758184" y="6583680"/>
            <a:ext cx="3127248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A6B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3758184" y="6583680"/>
            <a:ext cx="3127248" cy="329184"/>
          </a:xfrm>
          <a:prstGeom prst="rect">
            <a:avLst/>
          </a:prstGeom>
          <a:solidFill>
            <a:srgbClr val="2A6BAE"/>
          </a:solidFill>
          <a:ln w="12700">
            <a:solidFill>
              <a:srgbClr val="2A6BA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849624" y="6620256"/>
            <a:ext cx="2944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⏱️ コースタイム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3867912" y="6986016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6BA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登り：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910328" y="6986016"/>
            <a:ext cx="18653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4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約3〜3.5時間（休憩込み）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3867912" y="7388352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6BA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下り：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910328" y="7388352"/>
            <a:ext cx="18653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4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約2〜2.5時間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3867912" y="7790688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6BA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合計：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910328" y="7790688"/>
            <a:ext cx="18653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4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約5.5〜6時間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3867912" y="8193024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6BA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難易度：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910328" y="8193024"/>
            <a:ext cx="18653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4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★★★☆ 中級（体力必要）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114032" y="6583680"/>
            <a:ext cx="3127248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486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114032" y="6583680"/>
            <a:ext cx="3127248" cy="329184"/>
          </a:xfrm>
          <a:prstGeom prst="rect">
            <a:avLst/>
          </a:prstGeom>
          <a:solidFill>
            <a:srgbClr val="D4860E"/>
          </a:solidFill>
          <a:ln w="12700">
            <a:solidFill>
              <a:srgbClr val="D4860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205472" y="6620256"/>
            <a:ext cx="2944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🍜 鍋割山荘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7223760" y="6986016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60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名物：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266176" y="6986016"/>
            <a:ext cx="18653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4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鍋焼きうどん 2,000円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223760" y="7388352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60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営業：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8266176" y="7388352"/>
            <a:ext cx="18653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4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土日祝：10:00〜13:00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7223760" y="7790688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60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注意：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8266176" y="7790688"/>
            <a:ext cx="18653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4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GWは売り切れ早め！早出必須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7223760" y="8193024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60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予約：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8266176" y="8193024"/>
            <a:ext cx="18653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4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不可（当日並ぶのみ）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402336" y="8833104"/>
            <a:ext cx="4860036" cy="1572768"/>
          </a:xfrm>
          <a:prstGeom prst="rect">
            <a:avLst/>
          </a:prstGeom>
          <a:solidFill>
            <a:srgbClr val="CCCCCC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2336" y="8833104"/>
            <a:ext cx="4860036" cy="1572768"/>
          </a:xfrm>
          <a:prstGeom prst="rect">
            <a:avLst/>
          </a:prstGeom>
        </p:spPr>
      </p:pic>
      <p:sp>
        <p:nvSpPr>
          <p:cNvPr id="56" name="Shape 52"/>
          <p:cNvSpPr/>
          <p:nvPr/>
        </p:nvSpPr>
        <p:spPr>
          <a:xfrm>
            <a:off x="402336" y="10113264"/>
            <a:ext cx="4860036" cy="292608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70000"/>
              </a:srgbClr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457200" y="10131552"/>
            <a:ext cx="47503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🍜 名物 鍋焼きうどん（2,000円）</a:t>
            </a:r>
            <a:endParaRPr lang="en-US" sz="1150" dirty="0"/>
          </a:p>
        </p:txBody>
      </p:sp>
      <p:sp>
        <p:nvSpPr>
          <p:cNvPr id="58" name="Shape 54"/>
          <p:cNvSpPr/>
          <p:nvPr/>
        </p:nvSpPr>
        <p:spPr>
          <a:xfrm>
            <a:off x="5426964" y="8833104"/>
            <a:ext cx="4860036" cy="1572768"/>
          </a:xfrm>
          <a:prstGeom prst="rect">
            <a:avLst/>
          </a:prstGeom>
          <a:solidFill>
            <a:srgbClr val="CCCCCC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5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26964" y="8833104"/>
            <a:ext cx="4860036" cy="157276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5426964" y="10113264"/>
            <a:ext cx="4860036" cy="292608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70000"/>
              </a:srgbClr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5481828" y="10131552"/>
            <a:ext cx="47503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🌿 新緑のブナ林を歩く</a:t>
            </a:r>
            <a:endParaRPr lang="en-US" sz="1150" dirty="0"/>
          </a:p>
        </p:txBody>
      </p:sp>
      <p:sp>
        <p:nvSpPr>
          <p:cNvPr id="62" name="Shape 57"/>
          <p:cNvSpPr/>
          <p:nvPr/>
        </p:nvSpPr>
        <p:spPr>
          <a:xfrm>
            <a:off x="402336" y="10552176"/>
            <a:ext cx="9884664" cy="621792"/>
          </a:xfrm>
          <a:prstGeom prst="rect">
            <a:avLst/>
          </a:prstGeom>
          <a:solidFill>
            <a:srgbClr val="FFF4E0"/>
          </a:solidFill>
          <a:ln w="25400">
            <a:solidFill>
              <a:srgbClr val="D486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3" name="Shape 58"/>
          <p:cNvSpPr/>
          <p:nvPr/>
        </p:nvSpPr>
        <p:spPr>
          <a:xfrm>
            <a:off x="402336" y="10552176"/>
            <a:ext cx="164592" cy="621792"/>
          </a:xfrm>
          <a:prstGeom prst="rect">
            <a:avLst/>
          </a:prstGeom>
          <a:solidFill>
            <a:srgbClr val="D4860E"/>
          </a:solidFill>
          <a:ln w="12700">
            <a:solidFill>
              <a:srgbClr val="D4860E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676656" y="10552176"/>
            <a:ext cx="94183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860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⚠️  申込締め切り：5月1日（木）まで　｜　1日参加コース</a:t>
            </a:r>
            <a:endParaRPr lang="en-US" sz="2000" dirty="0"/>
          </a:p>
        </p:txBody>
      </p:sp>
      <p:sp>
        <p:nvSpPr>
          <p:cNvPr id="65" name="Shape 60"/>
          <p:cNvSpPr/>
          <p:nvPr/>
        </p:nvSpPr>
        <p:spPr>
          <a:xfrm>
            <a:off x="402336" y="11301984"/>
            <a:ext cx="988466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6" name="Text 61"/>
          <p:cNvSpPr/>
          <p:nvPr/>
        </p:nvSpPr>
        <p:spPr>
          <a:xfrm>
            <a:off x="530352" y="1135684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6B3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🎒  持ち物（必須）</a:t>
            </a:r>
            <a:endParaRPr lang="en-US" sz="1400" dirty="0"/>
          </a:p>
        </p:txBody>
      </p:sp>
      <p:sp>
        <p:nvSpPr>
          <p:cNvPr id="67" name="Text 62"/>
          <p:cNvSpPr/>
          <p:nvPr/>
        </p:nvSpPr>
        <p:spPr>
          <a:xfrm>
            <a:off x="530352" y="1166774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4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👟  登山靴・トレッキングシューズ（必須・16km歩く）</a:t>
            </a:r>
            <a:endParaRPr lang="en-US" sz="1200" dirty="0"/>
          </a:p>
        </p:txBody>
      </p:sp>
      <p:sp>
        <p:nvSpPr>
          <p:cNvPr id="68" name="Text 63"/>
          <p:cNvSpPr/>
          <p:nvPr/>
        </p:nvSpPr>
        <p:spPr>
          <a:xfrm>
            <a:off x="530352" y="12070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4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🎒  ザック25〜30L・レインウェア上下</a:t>
            </a:r>
            <a:endParaRPr lang="en-US" sz="1200" dirty="0"/>
          </a:p>
        </p:txBody>
      </p:sp>
      <p:sp>
        <p:nvSpPr>
          <p:cNvPr id="69" name="Text 64"/>
          <p:cNvSpPr/>
          <p:nvPr/>
        </p:nvSpPr>
        <p:spPr>
          <a:xfrm>
            <a:off x="530352" y="1247241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4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💧  水2L以上・行動食・昼食は山頂うどんで OK</a:t>
            </a:r>
            <a:endParaRPr lang="en-US" sz="1200" dirty="0"/>
          </a:p>
        </p:txBody>
      </p:sp>
      <p:sp>
        <p:nvSpPr>
          <p:cNvPr id="70" name="Text 65"/>
          <p:cNvSpPr/>
          <p:nvPr/>
        </p:nvSpPr>
        <p:spPr>
          <a:xfrm>
            <a:off x="5559552" y="1166774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4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📱  スマホ・モバイルバッテリー・現金（うどん2,000円！）</a:t>
            </a:r>
            <a:endParaRPr lang="en-US" sz="1200" dirty="0"/>
          </a:p>
        </p:txBody>
      </p:sp>
      <p:sp>
        <p:nvSpPr>
          <p:cNvPr id="71" name="Text 66"/>
          <p:cNvSpPr/>
          <p:nvPr/>
        </p:nvSpPr>
        <p:spPr>
          <a:xfrm>
            <a:off x="5559552" y="12070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4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🩹  絆創膏・テーピング・防寒着・虫よけスプレー</a:t>
            </a:r>
            <a:endParaRPr lang="en-US" sz="1200" dirty="0"/>
          </a:p>
        </p:txBody>
      </p:sp>
      <p:sp>
        <p:nvSpPr>
          <p:cNvPr id="72" name="Shape 67"/>
          <p:cNvSpPr/>
          <p:nvPr/>
        </p:nvSpPr>
        <p:spPr>
          <a:xfrm>
            <a:off x="402336" y="13002768"/>
            <a:ext cx="988466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3" name="Text 68"/>
          <p:cNvSpPr/>
          <p:nvPr/>
        </p:nvSpPr>
        <p:spPr>
          <a:xfrm>
            <a:off x="530352" y="1305763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6B3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🚃  アクセス</a:t>
            </a:r>
            <a:endParaRPr lang="en-US" sz="1400" dirty="0"/>
          </a:p>
        </p:txBody>
      </p:sp>
      <p:sp>
        <p:nvSpPr>
          <p:cNvPr id="74" name="Text 69"/>
          <p:cNvSpPr/>
          <p:nvPr/>
        </p:nvSpPr>
        <p:spPr>
          <a:xfrm>
            <a:off x="530352" y="13350240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44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渋沢駅（08:00集合）→ 北口バス停【渋02】大倉行 → 大倉バス停（約15分）→ 登山口へ徒歩すぐ</a:t>
            </a:r>
            <a:endParaRPr lang="en-US" sz="1250" dirty="0"/>
          </a:p>
        </p:txBody>
      </p:sp>
      <p:sp>
        <p:nvSpPr>
          <p:cNvPr id="75" name="Text 70"/>
          <p:cNvSpPr/>
          <p:nvPr/>
        </p:nvSpPr>
        <p:spPr>
          <a:xfrm>
            <a:off x="530352" y="13661136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A5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GWは大倉行バスに長蛇の列！  早めに渋沢駅に集合するのが大事</a:t>
            </a:r>
            <a:endParaRPr lang="en-US" sz="1200" dirty="0"/>
          </a:p>
        </p:txBody>
      </p:sp>
      <p:sp>
        <p:nvSpPr>
          <p:cNvPr id="76" name="Shape 71"/>
          <p:cNvSpPr/>
          <p:nvPr/>
        </p:nvSpPr>
        <p:spPr>
          <a:xfrm>
            <a:off x="402336" y="14118336"/>
            <a:ext cx="9884664" cy="548640"/>
          </a:xfrm>
          <a:prstGeom prst="rect">
            <a:avLst/>
          </a:prstGeom>
          <a:solidFill>
            <a:srgbClr val="FEF9C3"/>
          </a:solidFill>
          <a:ln w="12700">
            <a:solidFill>
              <a:srgbClr val="D4860E"/>
            </a:solidFill>
            <a:prstDash val="solid"/>
          </a:ln>
        </p:spPr>
      </p:sp>
      <p:sp>
        <p:nvSpPr>
          <p:cNvPr id="77" name="Text 72"/>
          <p:cNvSpPr/>
          <p:nvPr/>
        </p:nvSpPr>
        <p:spPr>
          <a:xfrm>
            <a:off x="530352" y="1415491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8350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💡  鍋焼きうどんはGWは早い時間に売り切れ必至！  山荘予約不可・早出が鉄則  ／  ヤマビル注意（5〜10月）</a:t>
            </a:r>
            <a:endParaRPr lang="en-US" sz="1150" dirty="0"/>
          </a:p>
        </p:txBody>
      </p:sp>
      <p:sp>
        <p:nvSpPr>
          <p:cNvPr id="78" name="Text 73"/>
          <p:cNvSpPr/>
          <p:nvPr/>
        </p:nvSpPr>
        <p:spPr>
          <a:xfrm>
            <a:off x="402336" y="1492300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#鍋割山　#丹沢登山　#鍋焼きうどん　#GWイベント</a:t>
            </a:r>
            <a:endParaRPr lang="en-US" sz="1050" dirty="0"/>
          </a:p>
        </p:txBody>
      </p:sp>
      <p:sp>
        <p:nvSpPr>
          <p:cNvPr id="79" name="Text 74"/>
          <p:cNvSpPr/>
          <p:nvPr/>
        </p:nvSpPr>
        <p:spPr>
          <a:xfrm>
            <a:off x="8229600" y="14923008"/>
            <a:ext cx="2057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AACDE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※ 詳細・申込は主催者まで</a:t>
            </a:r>
            <a:endParaRPr lang="en-US" sz="1050" dirty="0"/>
          </a:p>
        </p:txBody>
      </p:sp>
      <p:sp>
        <p:nvSpPr>
          <p:cNvPr id="80" name="Shape 75"/>
          <p:cNvSpPr/>
          <p:nvPr/>
        </p:nvSpPr>
        <p:spPr>
          <a:xfrm>
            <a:off x="201168" y="256032"/>
            <a:ext cx="10287000" cy="146121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E9E56">
                <a:alpha val="28000"/>
              </a:srgbClr>
            </a:solidFill>
            <a:prstDash val="solid"/>
          </a:ln>
        </p:spPr>
      </p:sp>
      <p:pic>
        <p:nvPicPr>
          <p:cNvPr id="94" name="図形 93" descr="S__230686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565" y="1358900"/>
            <a:ext cx="1384300" cy="1384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738</Words>
  <Application>WPS Presentation</Application>
  <PresentationFormat>On-screen Show (16:9)</PresentationFormat>
  <Paragraphs>100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ＭＳ Ｐゴシック</vt:lpstr>
      <vt:lpstr>Wingdings</vt:lpstr>
      <vt:lpstr>メイリオ</vt:lpstr>
      <vt:lpstr>メイリオ</vt:lpstr>
      <vt:lpstr>メイリオ</vt:lpstr>
      <vt:lpstr>Calibri</vt:lpstr>
      <vt:lpstr>Microsoft YaHei</vt:lpstr>
      <vt:lpstr>ＭＳ Ｐゴシック</vt:lpstr>
      <vt:lpstr>Arial Unicode MS</vt:lpstr>
      <vt:lpstr>游ゴシック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5月4日 鍋割山イベントポスター</dc:title>
  <dc:creator>PptxGenJS</dc:creator>
  <dc:subject>PptxGenJS Presentation</dc:subject>
  <cp:lastModifiedBy>user</cp:lastModifiedBy>
  <cp:revision>4</cp:revision>
  <dcterms:created xsi:type="dcterms:W3CDTF">2026-04-17T13:05:00Z</dcterms:created>
  <dcterms:modified xsi:type="dcterms:W3CDTF">2026-04-21T08:16:43Z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1041-11.8.2.10339</vt:lpwstr>
  </property>
</Properties>
</file>