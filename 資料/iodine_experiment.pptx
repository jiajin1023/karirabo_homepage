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5" r:id="rId11"/>
    <p:sldId id="263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CDF1FFE2-7EEC-412C-802C-6711DEB0A98D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6B00E365-854E-4DD7-A3B8-9E56379337CA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今日は「うがい薬と石灰水」を使った、酸で文字が浮かび上がる化学実験を紹介します。ヨウ素の性質、酸・塩基の反応を目で見て体験できる実験です。</a:t>
            </a: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実験は5つのステップで進みます。うがい薬（ヨウ素液）を石灰水で無色にし、その液で文字を書いて乾燥させます。最後にクエン酸をスプレーすると文字が浮かび上がります。</a:t>
            </a: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材料は6種類です。うがい薬・石灰水・クエン酸水溶液は反応に直接関わる試薬です。保護メガネと手袋は必ず用意してください。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5ステップで実験します。特にSTEP2の石灰水の量とSTEP4の乾燥が成功の鍵です。石灰水を入れすぎると発色が悪くなり、乾燥が不十分だと文字がにじみます。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石灰水（アルカリ）を加えると、ヨウ素 I₂ が OH⁻ と反応して無色のヨウ化物イオン（I⁻）と次亜ヨウ素酸イオン（IO⁻）に変わります。これが液の色が消える理由です。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クエン酸（酸性）をスプレーすると、紙に残ったヨウ素種（IO₃⁻ など）から再びヨウ素 I₂ が生成されます。この反応が文字を書いた部分だけで起きるため、茶褐色の文字が浮かび上がります。</a:t>
            </a:r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成功のコツは3つ。①石灰水は少しずつ加える、②完全に乾燥させる、③作った液は早めに使う。IO⁻ は時間とともに IO₃⁻ に変化しやすく、発色が弱くなります。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成功のコツは3つ。①石灰水は少しずつ加える、②完全に乾燥させる、③作った液は早めに使う。IO⁻ は時間とともに IO₃⁻ に変化しやすく、発色が弱くなります。</a:t>
            </a: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まとめです。この実験は酸塩基反応と酸化還元反応を組み合わせた、視覚的にわかりやすい化学実験です。ヨウ素の性質、アルカリ・酸の働きを体験を通して学べます。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1765" y="380365"/>
            <a:ext cx="982345" cy="1036955"/>
          </a:xfrm>
          <a:prstGeom prst="ellipse">
            <a:avLst/>
          </a:prstGeom>
          <a:solidFill>
            <a:srgbClr val="F0A500">
              <a:alpha val="2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46625" y="1833880"/>
            <a:ext cx="914400" cy="914400"/>
          </a:xfrm>
          <a:prstGeom prst="ellipse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3794760"/>
            <a:ext cx="640080" cy="640080"/>
          </a:xfrm>
          <a:prstGeom prst="ellipse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94278" y="219583"/>
            <a:ext cx="512064" cy="512064"/>
          </a:xfrm>
          <a:prstGeom prst="ellipse">
            <a:avLst/>
          </a:prstGeom>
          <a:solidFill>
            <a:srgbClr val="F0A500">
              <a:alpha val="18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31520"/>
            <a:ext cx="6858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うがい薬と石灰水で作る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酸で文字が浮かび上がる化学実験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35635" y="2102993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CDE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〜 ヨウ素と酸・塩基の反応を体験しよう 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920240" cy="411480"/>
          </a:xfrm>
          <a:prstGeom prst="rect">
            <a:avLst/>
          </a:prstGeom>
          <a:solidFill>
            <a:srgbClr val="2A4D7A"/>
          </a:solidFill>
          <a:ln w="19050">
            <a:solidFill>
              <a:srgbClr val="3ABD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89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BDB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ヨウ素（I₂）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2788920"/>
            <a:ext cx="1920240" cy="411480"/>
          </a:xfrm>
          <a:prstGeom prst="rect">
            <a:avLst/>
          </a:prstGeom>
          <a:solidFill>
            <a:srgbClr val="2A4D7A"/>
          </a:solidFill>
          <a:ln w="19050">
            <a:solidFill>
              <a:srgbClr val="3ABD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7889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BDB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石灰水（アルカリ）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788920"/>
            <a:ext cx="1920240" cy="411480"/>
          </a:xfrm>
          <a:prstGeom prst="rect">
            <a:avLst/>
          </a:prstGeom>
          <a:solidFill>
            <a:srgbClr val="2A4D7A"/>
          </a:solidFill>
          <a:ln w="19050">
            <a:solidFill>
              <a:srgbClr val="3ABD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7889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BDB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クエン酸（酸）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95160" y="2788920"/>
            <a:ext cx="1920240" cy="411480"/>
          </a:xfrm>
          <a:prstGeom prst="rect">
            <a:avLst/>
          </a:prstGeom>
          <a:solidFill>
            <a:srgbClr val="2A4D7A"/>
          </a:solidFill>
          <a:ln w="19050">
            <a:solidFill>
              <a:srgbClr val="3ABD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27889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BDB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酸化還元反応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8046720" cy="1371600"/>
          </a:xfrm>
          <a:prstGeom prst="rect">
            <a:avLst/>
          </a:prstGeom>
          <a:solidFill>
            <a:srgbClr val="2A4D7A"/>
          </a:solidFill>
          <a:ln w="12700">
            <a:solidFill>
              <a:srgbClr val="3ABD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82803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対象：中高生〜一般向け</a:t>
            </a:r>
            <a:endParaRPr lang="en-US" sz="1200" dirty="0"/>
          </a:p>
        </p:txBody>
      </p:sp>
      <p:sp>
        <p:nvSpPr>
          <p:cNvPr id="22" name="テキストボックス 21"/>
          <p:cNvSpPr txBox="1"/>
          <p:nvPr/>
        </p:nvSpPr>
        <p:spPr>
          <a:xfrm>
            <a:off x="738505" y="3497580"/>
            <a:ext cx="75819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ja-JP" altLang="en-US" sz="2400" b="1">
                <a:solidFill>
                  <a:srgbClr val="FFC000"/>
                </a:solidFill>
              </a:rPr>
              <a:t>①反応：</a:t>
            </a:r>
            <a:r>
              <a:rPr lang="en-US" altLang="ja-JP" sz="2400" b="1">
                <a:solidFill>
                  <a:srgbClr val="FFC000"/>
                </a:solidFill>
              </a:rPr>
              <a:t>I₂ </a:t>
            </a:r>
            <a:r>
              <a:rPr lang="ja-JP" altLang="en-US" sz="2400" b="1">
                <a:solidFill>
                  <a:srgbClr val="FFC000"/>
                </a:solidFill>
              </a:rPr>
              <a:t>＋</a:t>
            </a:r>
            <a:r>
              <a:rPr lang="en-US" altLang="ja-JP" sz="2400" b="1">
                <a:solidFill>
                  <a:srgbClr val="FFC000"/>
                </a:solidFill>
              </a:rPr>
              <a:t> 2OH⁻ → I⁻ </a:t>
            </a:r>
            <a:r>
              <a:rPr lang="ja-JP" altLang="en-US" sz="2400" b="1">
                <a:solidFill>
                  <a:srgbClr val="FFC000"/>
                </a:solidFill>
              </a:rPr>
              <a:t>＋</a:t>
            </a:r>
            <a:r>
              <a:rPr lang="en-US" altLang="ja-JP" sz="2400" b="1">
                <a:solidFill>
                  <a:srgbClr val="FFC000"/>
                </a:solidFill>
              </a:rPr>
              <a:t> IO⁻ </a:t>
            </a:r>
            <a:r>
              <a:rPr lang="ja-JP" altLang="en-US" sz="2400" b="1">
                <a:solidFill>
                  <a:srgbClr val="FFC000"/>
                </a:solidFill>
              </a:rPr>
              <a:t>＋</a:t>
            </a:r>
            <a:r>
              <a:rPr lang="en-US" altLang="ja-JP" sz="2400" b="1">
                <a:solidFill>
                  <a:srgbClr val="FFC000"/>
                </a:solidFill>
              </a:rPr>
              <a:t> H₂O</a:t>
            </a:r>
            <a:endParaRPr lang="en-US" sz="2400" b="1" dirty="0">
              <a:solidFill>
                <a:srgbClr val="FFC000"/>
              </a:solidFill>
            </a:endParaRPr>
          </a:p>
          <a:p>
            <a:pPr algn="l"/>
            <a:r>
              <a:rPr lang="ja-JP" altLang="en-US" sz="2400" b="1">
                <a:solidFill>
                  <a:srgbClr val="FFC000"/>
                </a:solidFill>
              </a:rPr>
              <a:t>副反応：</a:t>
            </a:r>
            <a:r>
              <a:rPr lang="en-US" altLang="ja-JP" sz="2400" b="1">
                <a:solidFill>
                  <a:srgbClr val="FFC000"/>
                </a:solidFill>
              </a:rPr>
              <a:t>3IO⁻ → IO₃⁻ + 2I⁻</a:t>
            </a:r>
            <a:endParaRPr lang="en-US" altLang="ja-JP" sz="2400" b="1">
              <a:solidFill>
                <a:srgbClr val="FFC000"/>
              </a:solidFill>
            </a:endParaRPr>
          </a:p>
          <a:p>
            <a:pPr algn="l"/>
            <a:r>
              <a:rPr lang="ja-JP" altLang="en-US" sz="2400" b="1">
                <a:solidFill>
                  <a:srgbClr val="92D050"/>
                </a:solidFill>
              </a:rPr>
              <a:t>②反応：</a:t>
            </a:r>
            <a:r>
              <a:rPr lang="en-US" altLang="ja-JP" sz="2400" b="1">
                <a:solidFill>
                  <a:srgbClr val="92D050"/>
                </a:solidFill>
              </a:rPr>
              <a:t>IO₃⁻ </a:t>
            </a:r>
            <a:r>
              <a:rPr lang="ja-JP" altLang="en-US" sz="2400" b="1">
                <a:solidFill>
                  <a:srgbClr val="92D050"/>
                </a:solidFill>
              </a:rPr>
              <a:t>＋</a:t>
            </a:r>
            <a:r>
              <a:rPr lang="en-US" altLang="ja-JP" sz="2400" b="1">
                <a:solidFill>
                  <a:srgbClr val="92D050"/>
                </a:solidFill>
              </a:rPr>
              <a:t> 5I⁻ </a:t>
            </a:r>
            <a:r>
              <a:rPr lang="ja-JP" altLang="en-US" sz="2400" b="1">
                <a:solidFill>
                  <a:srgbClr val="92D050"/>
                </a:solidFill>
              </a:rPr>
              <a:t>＋</a:t>
            </a:r>
            <a:r>
              <a:rPr lang="en-US" altLang="ja-JP" sz="2400" b="1">
                <a:solidFill>
                  <a:srgbClr val="92D050"/>
                </a:solidFill>
              </a:rPr>
              <a:t> 6H⁺ → I₂ </a:t>
            </a:r>
            <a:r>
              <a:rPr lang="ja-JP" altLang="en-US" sz="2400" b="1">
                <a:solidFill>
                  <a:srgbClr val="92D050"/>
                </a:solidFill>
              </a:rPr>
              <a:t>＋</a:t>
            </a:r>
            <a:r>
              <a:rPr lang="en-US" altLang="ja-JP" sz="2400" b="1">
                <a:solidFill>
                  <a:srgbClr val="92D050"/>
                </a:solidFill>
              </a:rPr>
              <a:t> 3H₂O</a:t>
            </a:r>
            <a:endParaRPr lang="en-US" altLang="ja-JP" sz="2400" b="1">
              <a:solidFill>
                <a:srgbClr val="92D050"/>
              </a:solidFill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930265" y="776605"/>
            <a:ext cx="2985135" cy="1658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実験の流れ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4320" y="868680"/>
            <a:ext cx="493776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40680" y="896112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04688" y="1005840"/>
            <a:ext cx="438912" cy="43891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04688" y="100584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35040" y="987552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うがい薬（ヨウ素液）を用意する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40680" y="1700784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9E6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04688" y="1810512"/>
            <a:ext cx="438912" cy="43891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04688" y="181051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35040" y="1792224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石灰水を1滴ずつ加えて無色にする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40680" y="2505456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ABDB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04688" y="2615184"/>
            <a:ext cx="438912" cy="438912"/>
          </a:xfrm>
          <a:prstGeom prst="ellipse">
            <a:avLst/>
          </a:prstGeom>
          <a:solidFill>
            <a:srgbClr val="3ABDB0"/>
          </a:solidFill>
          <a:ln w="12700">
            <a:solidFill>
              <a:srgbClr val="3ABDB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04688" y="26151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35040" y="2596896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その無色の液で紙に文字を書く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40680" y="3310128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4D7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04688" y="3419856"/>
            <a:ext cx="438912" cy="438912"/>
          </a:xfrm>
          <a:prstGeom prst="ellipse">
            <a:avLst/>
          </a:prstGeom>
          <a:solidFill>
            <a:srgbClr val="2A4D7A"/>
          </a:solidFill>
          <a:ln w="12700">
            <a:solidFill>
              <a:srgbClr val="2A4D7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04688" y="341985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35040" y="3401568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完全に乾燥させる（文字は見えない）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40680" y="4114800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9404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04688" y="4224528"/>
            <a:ext cx="438912" cy="43891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04688" y="422452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⑤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035040" y="4206240"/>
            <a:ext cx="28163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クエン酸水溶液をスプレー → 文字が浮かぶ！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使用する材料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41248"/>
            <a:ext cx="4206240" cy="3474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877824"/>
            <a:ext cx="3986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🟤  うがい薬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261872"/>
            <a:ext cx="3986784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ヨウ素（I₂）を含む褐色の液体。市販品でOK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2062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2E9E6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41248"/>
            <a:ext cx="4206240" cy="347472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877824"/>
            <a:ext cx="3986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⬜  石灰水 Ca(OH)₂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18888" y="1261872"/>
            <a:ext cx="3986784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アルカリ性。ヨウ素を無色に変える役割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258568"/>
            <a:ext cx="42062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E8A02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258568"/>
            <a:ext cx="420624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2295144"/>
            <a:ext cx="3986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🟡  クエン酸水溶液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" y="2679192"/>
            <a:ext cx="3986784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酸性。文字を浮かび上がらせるスプレーとして使用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258568"/>
            <a:ext cx="42062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3ABDB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258568"/>
            <a:ext cx="4206240" cy="347472"/>
          </a:xfrm>
          <a:prstGeom prst="rect">
            <a:avLst/>
          </a:prstGeom>
          <a:solidFill>
            <a:srgbClr val="3ABDB0"/>
          </a:solidFill>
          <a:ln w="12700">
            <a:solidFill>
              <a:srgbClr val="3ABD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295144"/>
            <a:ext cx="3986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📄  紙・筆（または綿棒）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8888" y="2679192"/>
            <a:ext cx="3986784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文字や絵を書くための道具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675888"/>
            <a:ext cx="42062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2A4D7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675888"/>
            <a:ext cx="4206240" cy="347472"/>
          </a:xfrm>
          <a:prstGeom prst="rect">
            <a:avLst/>
          </a:prstGeom>
          <a:solidFill>
            <a:srgbClr val="2A4D7A"/>
          </a:solidFill>
          <a:ln w="12700">
            <a:solidFill>
              <a:srgbClr val="2A4D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3712464"/>
            <a:ext cx="3986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💧  スプレーボトル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4096512"/>
            <a:ext cx="3986784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クエン酸水溶液を霧状に噴霧するため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675888"/>
            <a:ext cx="42062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D9404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75888"/>
            <a:ext cx="4206240" cy="347472"/>
          </a:xfrm>
          <a:prstGeom prst="rect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12464"/>
            <a:ext cx="398678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🥽  保護メガネ・手袋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18888" y="4096512"/>
            <a:ext cx="3986784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目や皮膚の保護のために必ず着用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773168"/>
            <a:ext cx="8686800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91456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💡 うがい薬の濃度は製品によって異なります。石灰水を加える量は試しながら調整してください。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実験手順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41248"/>
            <a:ext cx="1115568" cy="7498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77824"/>
            <a:ext cx="1115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44752" y="88696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ヨウ素液の準備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44752" y="120700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うがい薬をビーカーに少量（約5mL）入れる。褐色の液が入っていることを確認。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950976"/>
            <a:ext cx="2240280" cy="512064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969264"/>
            <a:ext cx="2176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👁 褐色のヨウ素液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66420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664208"/>
            <a:ext cx="1115568" cy="749808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700784"/>
            <a:ext cx="1115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44752" y="170992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石灰水で脱色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44752" y="202996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石灰水を1滴ずつ加えてよく混ぜる。液が無色〜薄い黄色になるまで調整する。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1773936"/>
            <a:ext cx="2240280" cy="512064"/>
          </a:xfrm>
          <a:prstGeom prst="rect">
            <a:avLst/>
          </a:prstGeom>
          <a:solidFill>
            <a:srgbClr val="2E9E6B">
              <a:alpha val="12000"/>
            </a:srgbClr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1792224"/>
            <a:ext cx="2176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👁 液が透明になる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48716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3ABD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487168"/>
            <a:ext cx="1115568" cy="749808"/>
          </a:xfrm>
          <a:prstGeom prst="rect">
            <a:avLst/>
          </a:prstGeom>
          <a:solidFill>
            <a:srgbClr val="3ABDB0"/>
          </a:solidFill>
          <a:ln w="12700">
            <a:solidFill>
              <a:srgbClr val="3ABD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523744"/>
            <a:ext cx="1115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44752" y="253288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紙に文字を書く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44752" y="285292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無色の液を筆や綿棒につけ、白い紙に文字や絵を書く。書いた部分はほぼ見えない。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2596896"/>
            <a:ext cx="2240280" cy="512064"/>
          </a:xfrm>
          <a:prstGeom prst="rect">
            <a:avLst/>
          </a:prstGeom>
          <a:solidFill>
            <a:srgbClr val="3ABDB0">
              <a:alpha val="12000"/>
            </a:srgbClr>
          </a:solidFill>
          <a:ln w="12700">
            <a:solidFill>
              <a:srgbClr val="3ABD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2615184"/>
            <a:ext cx="2176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BDB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👁 ほぼ見えない文字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31012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A4D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3310128"/>
            <a:ext cx="1115568" cy="749808"/>
          </a:xfrm>
          <a:prstGeom prst="rect">
            <a:avLst/>
          </a:prstGeom>
          <a:solidFill>
            <a:srgbClr val="2A4D7A"/>
          </a:solidFill>
          <a:ln w="12700">
            <a:solidFill>
              <a:srgbClr val="2A4D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346704"/>
            <a:ext cx="1115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44752" y="335584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乾燥させる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44752" y="367588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ドライヤーや自然乾燥で完全に乾かす。乾燥が不十分だと効果が弱くなる。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3419856"/>
            <a:ext cx="2240280" cy="512064"/>
          </a:xfrm>
          <a:prstGeom prst="rect">
            <a:avLst/>
          </a:prstGeom>
          <a:solidFill>
            <a:srgbClr val="2A4D7A">
              <a:alpha val="12000"/>
            </a:srgbClr>
          </a:solidFill>
          <a:ln w="12700">
            <a:solidFill>
              <a:srgbClr val="2A4D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3438144"/>
            <a:ext cx="2176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4D7A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👁 文字が完全に消える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D94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4133088"/>
            <a:ext cx="1115568" cy="749808"/>
          </a:xfrm>
          <a:prstGeom prst="rect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169664"/>
            <a:ext cx="111556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444752" y="417880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クエン酸をスプレー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44752" y="4498848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クエン酸水溶液をスプレーボトルで均一に吹きかける。数秒で文字が浮かび上がる！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4242816"/>
            <a:ext cx="2240280" cy="512064"/>
          </a:xfrm>
          <a:prstGeom prst="rect">
            <a:avLst/>
          </a:prstGeom>
          <a:solidFill>
            <a:srgbClr val="D94040">
              <a:alpha val="12000"/>
            </a:srgbClr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0256" y="4261104"/>
            <a:ext cx="2176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404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👁 茶褐色の文字が出現！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石灰水で色が消える理由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8463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4320" y="886968"/>
            <a:ext cx="475488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57800" y="841248"/>
            <a:ext cx="3611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76672" y="896112"/>
            <a:ext cx="3383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何が起きている？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76672" y="1261872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ヨウ素 I₂ は褐色の物質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76672" y="1591056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石灰水（Ca(OH)₂）はアルカリ性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76672" y="1920240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OH⁻ が I₂ に作用して無色のイオンに変化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76672" y="2249424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結果として液が透明になる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57800" y="2852928"/>
            <a:ext cx="3611880" cy="658368"/>
          </a:xfrm>
          <a:prstGeom prst="rect">
            <a:avLst/>
          </a:prstGeom>
          <a:solidFill>
            <a:srgbClr val="EAF3FF"/>
          </a:solidFill>
          <a:ln w="25400">
            <a:solidFill>
              <a:srgbClr val="2A6B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21808" y="2889504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35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I₂ + 2OH⁻  →  I⁻ + IO⁻ + H₂O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257800" y="3611880"/>
            <a:ext cx="3611880" cy="1207008"/>
          </a:xfrm>
          <a:prstGeom prst="rect">
            <a:avLst/>
          </a:prstGeom>
          <a:solidFill>
            <a:srgbClr val="F0FDF4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3675888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ポイント：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I⁻（ヨウ化物イオン）と IO⁻（次亜ヨウ素酸イオン）はどちらも無色のため、液全体の褐色が消える。石灰水は入れすぎに注意！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酸で文字が現れる理由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754880" y="841248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00600" y="886968"/>
            <a:ext cx="41148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841248"/>
            <a:ext cx="434340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47472" y="8961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何が起きている？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7472" y="126187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紙に残ったヨウ素種（I⁻・IO₃⁻ など）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" y="1591056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クエン酸（H⁺）が反応を起こす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" y="192024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再びヨウ素 I₂ が生成される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" y="2249424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I₂ が紙に触れて茶褐色の文字が出現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8600" y="2816352"/>
            <a:ext cx="4343400" cy="658368"/>
          </a:xfrm>
          <a:prstGeom prst="rect">
            <a:avLst/>
          </a:prstGeom>
          <a:solidFill>
            <a:srgbClr val="FFF7ED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2852928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55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IO₃⁻ + 5I⁻ + 6H⁺  →  3I₂ + 3H₂O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28600" y="3611880"/>
            <a:ext cx="4343400" cy="1207008"/>
          </a:xfrm>
          <a:prstGeom prst="rect">
            <a:avLst/>
          </a:prstGeom>
          <a:solidFill>
            <a:srgbClr val="FFFBEB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3675888"/>
            <a:ext cx="4160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なぜ文字の部分だけ？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文字を書いた部分にだけヨウ素種が残っているため、クエン酸をスプレーするとその部分だけ I₂ が再生成され、茶褐色の文字が浮かび上がる。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成功のコツと注意点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41375"/>
            <a:ext cx="8686800" cy="296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4465" y="861695"/>
            <a:ext cx="5444490" cy="270383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08955" y="849630"/>
            <a:ext cx="3306445" cy="29159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" y="3844925"/>
            <a:ext cx="8733155" cy="12026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0040" y="4284599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石灰水は1滴ずつ加える（入れすぎNG）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0040" y="4622927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✅ 乾燥は十分に。生乾きだとにじむ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671695" y="4284345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04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❌ 作った液は長時間放置しない（IO⁻ → IO₃⁻ に変化）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71695" y="4622673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50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⚠️ スプレー前に試し書きで発色を確認する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320040" y="3964559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ja-JP" altLang="en-US" sz="1100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〇な</a:t>
            </a:r>
            <a:r>
              <a:rPr lang="ja-JP" altLang="en-US" sz="1100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例</a:t>
            </a:r>
            <a:endParaRPr lang="ja-JP" altLang="en-US" sz="1100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4671695" y="3964305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100" b="1" dirty="0">
                <a:solidFill>
                  <a:srgbClr val="D9404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❌ </a:t>
            </a:r>
            <a:r>
              <a:rPr lang="ja-JP" altLang="en-US" sz="1100" b="1" dirty="0">
                <a:solidFill>
                  <a:srgbClr val="D9404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△</a:t>
            </a:r>
            <a:r>
              <a:rPr lang="ja-JP" altLang="en-US" sz="1100" b="1" dirty="0">
                <a:solidFill>
                  <a:srgbClr val="D94040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な例</a:t>
            </a:r>
            <a:endParaRPr lang="ja-JP" altLang="en-US" sz="1100" b="1" dirty="0">
              <a:solidFill>
                <a:srgbClr val="D94040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132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686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400" b="1" dirty="0">
                <a:solidFill>
                  <a:schemeClr val="bg1"/>
                </a:solidFill>
              </a:rPr>
              <a:t>イベント予約方法</a:t>
            </a:r>
            <a:endParaRPr lang="ja-JP" altLang="en-US" sz="2400" b="1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64465" y="829310"/>
            <a:ext cx="8686800" cy="3938905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77825" y="1360170"/>
            <a:ext cx="4114800" cy="1267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✅ Line</a:t>
            </a:r>
            <a:r>
              <a:rPr lang="ja-JP" alt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友達追加</a:t>
            </a:r>
            <a:endParaRPr lang="ja-JP" altLang="en-US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✅ </a:t>
            </a:r>
            <a:r>
              <a:rPr lang="ja-JP" alt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名前</a:t>
            </a:r>
            <a:endParaRPr lang="ja-JP" altLang="en-US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✅ </a:t>
            </a:r>
            <a:r>
              <a:rPr lang="ja-JP" alt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年齢</a:t>
            </a:r>
            <a:endParaRPr lang="ja-JP" altLang="en-US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✅ </a:t>
            </a:r>
            <a:r>
              <a:rPr lang="ja-JP" alt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注意点確認</a:t>
            </a:r>
            <a:endParaRPr lang="ja-JP" altLang="en-US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77825" y="913130"/>
            <a:ext cx="3534410" cy="6070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ja-JP" altLang="en-US" sz="2400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予約の方法</a:t>
            </a:r>
            <a:endParaRPr lang="ja-JP" altLang="en-US" sz="2400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pic>
        <p:nvPicPr>
          <p:cNvPr id="94" name="図形 93" descr="S__230686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065" y="970915"/>
            <a:ext cx="3681095" cy="3681095"/>
          </a:xfrm>
          <a:prstGeom prst="rect">
            <a:avLst/>
          </a:prstGeom>
        </p:spPr>
      </p:pic>
      <p:sp>
        <p:nvSpPr>
          <p:cNvPr id="7" name="Text 6"/>
          <p:cNvSpPr/>
          <p:nvPr/>
        </p:nvSpPr>
        <p:spPr>
          <a:xfrm>
            <a:off x="377825" y="2680335"/>
            <a:ext cx="3534410" cy="6070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ja-JP" altLang="en-US" sz="2400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準備</a:t>
            </a:r>
            <a:endParaRPr lang="ja-JP" altLang="en-US" sz="2400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77825" y="3103245"/>
            <a:ext cx="4114800" cy="12674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✅ </a:t>
            </a:r>
            <a:r>
              <a:rPr lang="ja-JP" alt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長袖長ズボン</a:t>
            </a:r>
            <a:endParaRPr lang="ja-JP" altLang="en-US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✅ </a:t>
            </a:r>
            <a:r>
              <a:rPr lang="ja-JP" alt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石鹸</a:t>
            </a:r>
            <a:endParaRPr lang="ja-JP" altLang="en-US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✅ </a:t>
            </a:r>
            <a:r>
              <a:rPr lang="ja-JP" alt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キャンドルを冷やす</a:t>
            </a:r>
            <a:r>
              <a:rPr lang="ja-JP" altLang="en-US" b="1" dirty="0">
                <a:solidFill>
                  <a:srgbClr val="2E9E6B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  <a:sym typeface="+mn-ea"/>
              </a:rPr>
              <a:t>小さめの容器</a:t>
            </a:r>
            <a:endParaRPr lang="ja-JP" altLang="en-US" b="1" dirty="0">
              <a:solidFill>
                <a:srgbClr val="2E9E6B"/>
              </a:solidFill>
              <a:latin typeface="メイリオ" panose="020B0604030504040204" pitchFamily="34" charset="-128"/>
              <a:ea typeface="メイリオ" panose="020B0604030504040204" pitchFamily="34" charset="-122"/>
              <a:cs typeface="メイリオ" panose="020B060403050404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896112"/>
          </a:xfrm>
          <a:prstGeom prst="rect">
            <a:avLst/>
          </a:prstGeom>
          <a:solidFill>
            <a:srgbClr val="2A4D7A"/>
          </a:solidFill>
          <a:ln w="25400">
            <a:solidFill>
              <a:srgbClr val="2E9E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438912" cy="438912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69264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うがい薬のヨウ素（I₂）は石灰水（アルカリ）を加えると無色のI⁻・IO⁻に変わる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950976"/>
            <a:ext cx="2944368" cy="749808"/>
          </a:xfrm>
          <a:prstGeom prst="rect">
            <a:avLst/>
          </a:prstGeom>
          <a:solidFill>
            <a:srgbClr val="1C3557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05856" y="950976"/>
            <a:ext cx="2907792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E6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I₂ + 2OH⁻ → I⁻ + IO⁻ + H₂O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8412480" cy="658368"/>
          </a:xfrm>
          <a:prstGeom prst="rect">
            <a:avLst/>
          </a:prstGeom>
          <a:solidFill>
            <a:srgbClr val="2A4D7A"/>
          </a:solidFill>
          <a:ln w="25400">
            <a:solidFill>
              <a:srgbClr val="3ABD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75104"/>
            <a:ext cx="438912" cy="438912"/>
          </a:xfrm>
          <a:prstGeom prst="ellipse">
            <a:avLst/>
          </a:prstGeom>
          <a:solidFill>
            <a:srgbClr val="3ABDB0"/>
          </a:solidFill>
          <a:ln w="12700">
            <a:solidFill>
              <a:srgbClr val="3ABD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751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956816"/>
            <a:ext cx="7315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無色になった液で書いた文字には、ヨウ素種（I⁻・IO₃⁻など）が紙に残っている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8412480" cy="896112"/>
          </a:xfrm>
          <a:prstGeom prst="rect">
            <a:avLst/>
          </a:prstGeom>
          <a:solidFill>
            <a:srgbClr val="2A4D7A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62656"/>
            <a:ext cx="438912" cy="43891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6265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44368"/>
            <a:ext cx="45720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クエン酸（酸）をスプレーすると、再びI₂が生成されて茶褐色の文字が浮かび上がる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2926080"/>
            <a:ext cx="2944368" cy="749808"/>
          </a:xfrm>
          <a:prstGeom prst="rect">
            <a:avLst/>
          </a:prstGeom>
          <a:solidFill>
            <a:srgbClr val="1C3557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05856" y="2926080"/>
            <a:ext cx="2907792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IO₃⁻ + 5I⁻ + 6H⁺ → 3I₂ + 3H₂O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8412480" cy="658368"/>
          </a:xfrm>
          <a:prstGeom prst="rect">
            <a:avLst/>
          </a:prstGeom>
          <a:solidFill>
            <a:srgbClr val="2A4D7A"/>
          </a:solidFill>
          <a:ln w="25400">
            <a:solidFill>
              <a:srgbClr val="D94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50208"/>
            <a:ext cx="438912" cy="43891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5020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931920"/>
            <a:ext cx="73152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成功の鍵：石灰水は少しずつ・十分に乾燥・液は早めに使う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DE8"/>
                </a:solidFill>
                <a:latin typeface="メイリオ" panose="020B0604030504040204" pitchFamily="34" charset="-128"/>
                <a:ea typeface="メイリオ" panose="020B0604030504040204" pitchFamily="34" charset="-122"/>
                <a:cs typeface="メイリオ" panose="020B0604030504040204" pitchFamily="34" charset="-120"/>
              </a:rPr>
              <a:t>💡 この実験で学べる化学：酸塩基反応 ／ 酸化還元反応 ／ ヨウ素の性質 ／ 反応速度と安定性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1606</Words>
  <Application>WPS Presentation</Application>
  <PresentationFormat>On-screen Show (16:9)</PresentationFormat>
  <Paragraphs>199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ＭＳ Ｐゴシック</vt:lpstr>
      <vt:lpstr>Wingdings</vt:lpstr>
      <vt:lpstr>メイリオ</vt:lpstr>
      <vt:lpstr>メイリオ</vt:lpstr>
      <vt:lpstr>メイリオ</vt:lpstr>
      <vt:lpstr>Courier New</vt:lpstr>
      <vt:lpstr>Courier New</vt:lpstr>
      <vt:lpstr>Courier New</vt:lpstr>
      <vt:lpstr>Calibri</vt:lpstr>
      <vt:lpstr>游ゴシック</vt:lpstr>
      <vt:lpstr>Microsoft YaHei</vt:lpstr>
      <vt:lpstr>ＭＳ Ｐゴシック</vt:lpstr>
      <vt:lpstr>Arial Unicode MS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うがい薬と石灰水で作る化学実験</dc:title>
  <dc:creator>PptxGenJS</dc:creator>
  <dc:subject>PptxGenJS Presentation</dc:subject>
  <cp:lastModifiedBy>user</cp:lastModifiedBy>
  <cp:revision>5</cp:revision>
  <dcterms:created xsi:type="dcterms:W3CDTF">2026-04-06T09:10:00Z</dcterms:created>
  <dcterms:modified xsi:type="dcterms:W3CDTF">2026-04-23T16:05:54Z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1041-11.8.2.10339</vt:lpwstr>
  </property>
</Properties>
</file>