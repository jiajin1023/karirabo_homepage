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9" r:id="rId6"/>
    <p:sldId id="258" r:id="rId7"/>
    <p:sldId id="260" r:id="rId8"/>
    <p:sldId id="261" r:id="rId9"/>
    <p:sldId id="262" r:id="rId10"/>
    <p:sldId id="263" r:id="rId11"/>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84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表紙：鍋割山頂からの富士山パノラマを背景に。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コース指標と写真。距離が長いこと、体力が必要なことを強調。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コース詳細。5つのポイントを解説。右側に写真2枚。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タイムライン。うどん売り切れに注意する旨を強調。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鍋割山荘と鍋焼きうどんの情報。GW攻略ポイントも記載。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持ち物リスト。ヤマビル注意はこのルートの固有の注意点。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費用内訳とアクセス方法。バスの混雑注意を記載。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申込と注意事項。うどん・ヤマビル・距離が鍋割山固有の注意点。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5.jpe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rcRect/>
          <a:stretch>
            <a:fillRect/>
          </a:stretch>
        </p:blipFill>
        <p:spPr>
          <a:xfrm>
            <a:off x="0" y="0"/>
            <a:ext cx="9144000" cy="5143500"/>
          </a:xfrm>
          <a:prstGeom prst="rect">
            <a:avLst/>
          </a:prstGeom>
        </p:spPr>
      </p:pic>
      <p:sp>
        <p:nvSpPr>
          <p:cNvPr id="4" name="Shape 1"/>
          <p:cNvSpPr/>
          <p:nvPr/>
        </p:nvSpPr>
        <p:spPr>
          <a:xfrm>
            <a:off x="0" y="0"/>
            <a:ext cx="9144000" cy="73152"/>
          </a:xfrm>
          <a:prstGeom prst="rect">
            <a:avLst/>
          </a:prstGeom>
          <a:solidFill>
            <a:srgbClr val="D4860E"/>
          </a:solidFill>
          <a:ln w="12700">
            <a:solidFill>
              <a:srgbClr val="D4860E"/>
            </a:solidFill>
            <a:prstDash val="solid"/>
          </a:ln>
        </p:spPr>
      </p:sp>
      <p:sp>
        <p:nvSpPr>
          <p:cNvPr id="5" name="Text 2"/>
          <p:cNvSpPr/>
          <p:nvPr/>
        </p:nvSpPr>
        <p:spPr>
          <a:xfrm>
            <a:off x="548640" y="475615"/>
            <a:ext cx="5144135" cy="347345"/>
          </a:xfrm>
          <a:prstGeom prst="rect">
            <a:avLst/>
          </a:prstGeom>
          <a:noFill/>
        </p:spPr>
        <p:txBody>
          <a:bodyPr wrap="square" lIns="0" tIns="0" rIns="0" bIns="0" rtlCol="0" anchor="ctr"/>
          <a:lstStyle/>
          <a:p>
            <a:pPr marL="0" indent="0">
              <a:buNone/>
            </a:pPr>
            <a:r>
              <a:rPr lang="en-US" sz="1500" b="1" dirty="0">
                <a:solidFill>
                  <a:srgbClr val="FFC000"/>
                </a:solidFill>
                <a:effectLst/>
                <a:latin typeface="メイリオ" panose="020B0604030504040204" pitchFamily="34" charset="-128"/>
                <a:ea typeface="メイリオ" panose="020B0604030504040204" pitchFamily="34" charset="-122"/>
                <a:cs typeface="メイリオ" panose="020B0604030504040204" pitchFamily="34" charset="-120"/>
              </a:rPr>
              <a:t>2025年5月4日（日・祝）GW　渋沢駅08:00集合</a:t>
            </a:r>
            <a:endParaRPr lang="en-US" sz="1500" b="1" dirty="0">
              <a:solidFill>
                <a:srgbClr val="FFC000"/>
              </a:solidFill>
              <a:effectLst/>
              <a:latin typeface="メイリオ" panose="020B0604030504040204" pitchFamily="34" charset="-128"/>
              <a:ea typeface="メイリオ" panose="020B0604030504040204" pitchFamily="34" charset="-122"/>
              <a:cs typeface="メイリオ" panose="020B0604030504040204" pitchFamily="34" charset="-120"/>
            </a:endParaRPr>
          </a:p>
        </p:txBody>
      </p:sp>
      <p:sp>
        <p:nvSpPr>
          <p:cNvPr id="6" name="Text 3"/>
          <p:cNvSpPr/>
          <p:nvPr/>
        </p:nvSpPr>
        <p:spPr>
          <a:xfrm>
            <a:off x="548640" y="841248"/>
            <a:ext cx="7772400" cy="960120"/>
          </a:xfrm>
          <a:prstGeom prst="rect">
            <a:avLst/>
          </a:prstGeom>
          <a:noFill/>
        </p:spPr>
        <p:txBody>
          <a:bodyPr wrap="square" lIns="0" tIns="0" rIns="0" bIns="0" rtlCol="0" anchor="ctr"/>
          <a:lstStyle/>
          <a:p>
            <a:pPr marL="0" indent="0">
              <a:buNone/>
            </a:pPr>
            <a:r>
              <a:rPr lang="en-US" sz="5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メイリオ" panose="020B0604030504040204" pitchFamily="34" charset="-128"/>
                <a:ea typeface="メイリオ" panose="020B0604030504040204" pitchFamily="34" charset="-122"/>
                <a:cs typeface="メイリオ" panose="020B0604030504040204" pitchFamily="34" charset="-120"/>
              </a:rPr>
              <a:t>丹沢で遊ぼう！</a:t>
            </a:r>
            <a:endParaRPr lang="en-US" sz="52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メイリオ" panose="020B0604030504040204" pitchFamily="34" charset="-128"/>
              <a:ea typeface="メイリオ" panose="020B0604030504040204" pitchFamily="34" charset="-122"/>
              <a:cs typeface="メイリオ" panose="020B0604030504040204" pitchFamily="34" charset="-120"/>
            </a:endParaRPr>
          </a:p>
        </p:txBody>
      </p:sp>
      <p:sp>
        <p:nvSpPr>
          <p:cNvPr id="7" name="Text 4"/>
          <p:cNvSpPr/>
          <p:nvPr/>
        </p:nvSpPr>
        <p:spPr>
          <a:xfrm>
            <a:off x="548640" y="1792224"/>
            <a:ext cx="7772400" cy="640080"/>
          </a:xfrm>
          <a:prstGeom prst="rect">
            <a:avLst/>
          </a:prstGeom>
          <a:noFill/>
        </p:spPr>
        <p:txBody>
          <a:bodyPr wrap="square" lIns="0" tIns="0" rIns="0" bIns="0" rtlCol="0" anchor="ctr"/>
          <a:lstStyle/>
          <a:p>
            <a:pPr marL="0" indent="0">
              <a:buNone/>
            </a:pPr>
            <a:r>
              <a:rPr lang="en-US" sz="3400" b="1" dirty="0">
                <a:gradFill>
                  <a:gsLst>
                    <a:gs pos="0">
                      <a:srgbClr val="14CD68"/>
                    </a:gs>
                    <a:gs pos="99000">
                      <a:srgbClr val="FFFF00"/>
                    </a:gs>
                  </a:gsLst>
                  <a:path path="circle">
                    <a:fillToRect l="100000" t="100000"/>
                  </a:path>
                  <a:tileRect r="-100000" b="-100000"/>
                </a:gradFill>
                <a:latin typeface="メイリオ" panose="020B0604030504040204" pitchFamily="34" charset="-128"/>
                <a:ea typeface="メイリオ" panose="020B0604030504040204" pitchFamily="34" charset="-122"/>
                <a:cs typeface="メイリオ" panose="020B0604030504040204" pitchFamily="34" charset="-120"/>
              </a:rPr>
              <a:t>鍋割山 登山 × 鍋焼きうどん</a:t>
            </a:r>
            <a:endParaRPr lang="en-US" sz="3400" b="1" dirty="0">
              <a:gradFill>
                <a:gsLst>
                  <a:gs pos="0">
                    <a:srgbClr val="14CD68"/>
                  </a:gs>
                  <a:gs pos="99000">
                    <a:srgbClr val="FFFF00"/>
                  </a:gs>
                </a:gsLst>
                <a:path path="circle">
                  <a:fillToRect l="100000" t="100000"/>
                </a:path>
                <a:tileRect r="-100000" b="-100000"/>
              </a:gradFill>
              <a:latin typeface="メイリオ" panose="020B0604030504040204" pitchFamily="34" charset="-128"/>
              <a:ea typeface="メイリオ" panose="020B0604030504040204" pitchFamily="34" charset="-122"/>
              <a:cs typeface="メイリオ" panose="020B0604030504040204" pitchFamily="34" charset="-120"/>
            </a:endParaRPr>
          </a:p>
        </p:txBody>
      </p:sp>
      <p:sp>
        <p:nvSpPr>
          <p:cNvPr id="8" name="Text 5"/>
          <p:cNvSpPr/>
          <p:nvPr/>
        </p:nvSpPr>
        <p:spPr>
          <a:xfrm>
            <a:off x="548640" y="2468880"/>
            <a:ext cx="7772400" cy="329184"/>
          </a:xfrm>
          <a:prstGeom prst="rect">
            <a:avLst/>
          </a:prstGeom>
          <a:noFill/>
        </p:spPr>
        <p:txBody>
          <a:bodyPr wrap="square" lIns="0" tIns="0" rIns="0" bIns="0" rtlCol="0" anchor="ctr"/>
          <a:lstStyle/>
          <a:p>
            <a:pPr marL="0" indent="0">
              <a:buNone/>
            </a:pPr>
            <a:r>
              <a:rPr lang="en-US" sz="1400" i="1" dirty="0">
                <a:solidFill>
                  <a:srgbClr val="CCECFF"/>
                </a:solidFill>
                <a:latin typeface="メイリオ" panose="020B0604030504040204" pitchFamily="34" charset="-128"/>
                <a:ea typeface="メイリオ" panose="020B0604030504040204" pitchFamily="34" charset="-122"/>
                <a:cs typeface="メイリオ" panose="020B0604030504040204" pitchFamily="34" charset="-120"/>
              </a:rPr>
              <a:t>大倉→二俣→後沢乗越→鍋割山（1,272m）往復コース</a:t>
            </a:r>
            <a:endParaRPr lang="en-US" sz="1400" dirty="0"/>
          </a:p>
        </p:txBody>
      </p:sp>
      <p:sp>
        <p:nvSpPr>
          <p:cNvPr id="9" name="Shape 6"/>
          <p:cNvSpPr/>
          <p:nvPr/>
        </p:nvSpPr>
        <p:spPr>
          <a:xfrm>
            <a:off x="548640" y="2944368"/>
            <a:ext cx="8046720" cy="566928"/>
          </a:xfrm>
          <a:prstGeom prst="rect">
            <a:avLst/>
          </a:prstGeom>
          <a:solidFill>
            <a:srgbClr val="1A2F1A">
              <a:alpha val="80000"/>
            </a:srgbClr>
          </a:solidFill>
          <a:ln w="19050">
            <a:solidFill>
              <a:srgbClr val="D4860E"/>
            </a:solidFill>
            <a:prstDash val="solid"/>
          </a:ln>
        </p:spPr>
      </p:sp>
      <p:sp>
        <p:nvSpPr>
          <p:cNvPr id="10" name="Text 7"/>
          <p:cNvSpPr/>
          <p:nvPr/>
        </p:nvSpPr>
        <p:spPr>
          <a:xfrm>
            <a:off x="640080" y="2944368"/>
            <a:ext cx="7955280" cy="566928"/>
          </a:xfrm>
          <a:prstGeom prst="rect">
            <a:avLst/>
          </a:prstGeom>
          <a:noFill/>
        </p:spPr>
        <p:txBody>
          <a:bodyPr wrap="square" lIns="0" tIns="0" rIns="0" bIns="0" rtlCol="0" anchor="ctr"/>
          <a:lstStyle/>
          <a:p>
            <a:pPr marL="0" indent="0" algn="ctr">
              <a:buNone/>
            </a:pPr>
            <a:r>
              <a:rPr lang="en-US" sz="2000" b="1" dirty="0">
                <a:solidFill>
                  <a:srgbClr val="D4860E"/>
                </a:solidFill>
                <a:latin typeface="メイリオ" panose="020B0604030504040204" pitchFamily="34" charset="-128"/>
                <a:ea typeface="メイリオ" panose="020B0604030504040204" pitchFamily="34" charset="-122"/>
                <a:cs typeface="メイリオ" panose="020B0604030504040204" pitchFamily="34" charset="-120"/>
              </a:rPr>
              <a:t>⚠️  申込締め切り：5月1日（木）まで</a:t>
            </a:r>
            <a:endParaRPr lang="en-US" sz="2000" dirty="0"/>
          </a:p>
        </p:txBody>
      </p:sp>
      <p:sp>
        <p:nvSpPr>
          <p:cNvPr id="11" name="Text 8"/>
          <p:cNvSpPr/>
          <p:nvPr/>
        </p:nvSpPr>
        <p:spPr>
          <a:xfrm>
            <a:off x="228600" y="4901184"/>
            <a:ext cx="5486400" cy="201168"/>
          </a:xfrm>
          <a:prstGeom prst="rect">
            <a:avLst/>
          </a:prstGeom>
          <a:noFill/>
        </p:spPr>
        <p:txBody>
          <a:bodyPr wrap="square" lIns="0" tIns="0" rIns="0" bIns="0" rtlCol="0" anchor="ctr"/>
          <a:lstStyle/>
          <a:p>
            <a:pPr marL="0" indent="0">
              <a:buNone/>
            </a:pPr>
            <a:r>
              <a:rPr lang="en-US" sz="1000" dirty="0">
                <a:solidFill>
                  <a:srgbClr val="CCCCCC"/>
                </a:solidFill>
                <a:latin typeface="メイリオ" panose="020B0604030504040204" pitchFamily="34" charset="-128"/>
                <a:ea typeface="メイリオ" panose="020B0604030504040204" pitchFamily="34" charset="-122"/>
                <a:cs typeface="メイリオ" panose="020B0604030504040204" pitchFamily="34" charset="-120"/>
              </a:rPr>
              <a:t>📸 鍋割山頂より富士山を望む</a:t>
            </a:r>
            <a:endParaRPr lang="en-US" sz="1000" dirty="0"/>
          </a:p>
        </p:txBody>
      </p:sp>
      <p:pic>
        <p:nvPicPr>
          <p:cNvPr id="28" name="Image 1" descr="preencoded.png"/>
          <p:cNvPicPr>
            <a:picLocks noChangeAspect="1"/>
          </p:cNvPicPr>
          <p:nvPr/>
        </p:nvPicPr>
        <p:blipFill>
          <a:blip r:embed="rId2"/>
          <a:srcRect/>
          <a:stretch>
            <a:fillRect/>
          </a:stretch>
        </p:blipFill>
        <p:spPr>
          <a:xfrm>
            <a:off x="6182995" y="474980"/>
            <a:ext cx="2787650" cy="1692275"/>
          </a:xfrm>
          <a:prstGeom prst="rect">
            <a:avLst/>
          </a:prstGeom>
        </p:spPr>
      </p:pic>
      <p:pic>
        <p:nvPicPr>
          <p:cNvPr id="94" name="図形 93" descr="S__23068684"/>
          <p:cNvPicPr>
            <a:picLocks noChangeAspect="1"/>
          </p:cNvPicPr>
          <p:nvPr/>
        </p:nvPicPr>
        <p:blipFill>
          <a:blip r:embed="rId3"/>
          <a:stretch>
            <a:fillRect/>
          </a:stretch>
        </p:blipFill>
        <p:spPr>
          <a:xfrm>
            <a:off x="7211060" y="3585845"/>
            <a:ext cx="1384300" cy="13843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AF3"/>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6B3A"/>
          </a:solidFill>
          <a:ln w="12700">
            <a:solidFill>
              <a:srgbClr val="2C6B3A"/>
            </a:solidFill>
            <a:prstDash val="solid"/>
          </a:ln>
        </p:spPr>
      </p:sp>
      <p:sp>
        <p:nvSpPr>
          <p:cNvPr id="3" name="Shape 1"/>
          <p:cNvSpPr/>
          <p:nvPr/>
        </p:nvSpPr>
        <p:spPr>
          <a:xfrm>
            <a:off x="0" y="0"/>
            <a:ext cx="164592" cy="685800"/>
          </a:xfrm>
          <a:prstGeom prst="rect">
            <a:avLst/>
          </a:prstGeom>
          <a:solidFill>
            <a:srgbClr val="7DC87A"/>
          </a:solidFill>
          <a:ln w="12700">
            <a:solidFill>
              <a:srgbClr val="7DC87A"/>
            </a:solidFill>
            <a:prstDash val="solid"/>
          </a:ln>
        </p:spPr>
      </p:sp>
      <p:sp>
        <p:nvSpPr>
          <p:cNvPr id="4" name="Text 2"/>
          <p:cNvSpPr/>
          <p:nvPr/>
        </p:nvSpPr>
        <p:spPr>
          <a:xfrm>
            <a:off x="274320" y="91440"/>
            <a:ext cx="8686800" cy="530352"/>
          </a:xfrm>
          <a:prstGeom prst="rect">
            <a:avLst/>
          </a:prstGeom>
          <a:noFill/>
        </p:spPr>
        <p:txBody>
          <a:bodyPr wrap="square" lIns="0" tIns="0" rIns="0" bIns="0" rtlCol="0" anchor="ctr"/>
          <a:lstStyle/>
          <a:p>
            <a:pPr marL="0" indent="0">
              <a:buNone/>
            </a:pPr>
            <a:r>
              <a:rPr lang="en-US" sz="2400" b="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 鍋割山コース概要</a:t>
            </a:r>
            <a:endParaRPr lang="en-US" sz="2400" dirty="0"/>
          </a:p>
        </p:txBody>
      </p:sp>
      <p:sp>
        <p:nvSpPr>
          <p:cNvPr id="5" name="Shape 3"/>
          <p:cNvSpPr/>
          <p:nvPr/>
        </p:nvSpPr>
        <p:spPr>
          <a:xfrm>
            <a:off x="228600" y="786384"/>
            <a:ext cx="4160520" cy="566928"/>
          </a:xfrm>
          <a:prstGeom prst="rect">
            <a:avLst/>
          </a:prstGeom>
          <a:solidFill>
            <a:srgbClr val="FFFFFF"/>
          </a:solidFill>
          <a:ln w="12700">
            <a:solidFill>
              <a:srgbClr val="D1D5DB"/>
            </a:solidFill>
            <a:prstDash val="solid"/>
          </a:ln>
          <a:effectLst>
            <a:outerShdw blurRad="101600" dist="38100" dir="8100000" algn="bl" rotWithShape="0">
              <a:srgbClr val="000000">
                <a:alpha val="11000"/>
              </a:srgbClr>
            </a:outerShdw>
          </a:effectLst>
        </p:spPr>
      </p:sp>
      <p:sp>
        <p:nvSpPr>
          <p:cNvPr id="6" name="Text 4"/>
          <p:cNvSpPr/>
          <p:nvPr/>
        </p:nvSpPr>
        <p:spPr>
          <a:xfrm>
            <a:off x="365760" y="841248"/>
            <a:ext cx="1463040" cy="219456"/>
          </a:xfrm>
          <a:prstGeom prst="rect">
            <a:avLst/>
          </a:prstGeom>
          <a:noFill/>
        </p:spPr>
        <p:txBody>
          <a:bodyPr wrap="square" lIns="0" tIns="0" rIns="0" bIns="0" rtlCol="0" anchor="ctr"/>
          <a:lstStyle/>
          <a:p>
            <a:pPr marL="0" indent="0">
              <a:buNone/>
            </a:pPr>
            <a:r>
              <a:rPr lang="en-US" sz="115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山名</a:t>
            </a:r>
            <a:endParaRPr lang="en-US" sz="1150" dirty="0"/>
          </a:p>
        </p:txBody>
      </p:sp>
      <p:sp>
        <p:nvSpPr>
          <p:cNvPr id="7" name="Text 5"/>
          <p:cNvSpPr/>
          <p:nvPr/>
        </p:nvSpPr>
        <p:spPr>
          <a:xfrm>
            <a:off x="365760" y="1078992"/>
            <a:ext cx="3840480" cy="219456"/>
          </a:xfrm>
          <a:prstGeom prst="rect">
            <a:avLst/>
          </a:prstGeom>
          <a:noFill/>
        </p:spPr>
        <p:txBody>
          <a:bodyPr wrap="square" lIns="0" tIns="0" rIns="0" bIns="0" rtlCol="0" anchor="ctr"/>
          <a:lstStyle/>
          <a:p>
            <a:pPr marL="0" indent="0">
              <a:buNone/>
            </a:pPr>
            <a:r>
              <a:rPr lang="en-US" sz="1350" b="1" dirty="0">
                <a:solidFill>
                  <a:srgbClr val="1A3820"/>
                </a:solidFill>
                <a:latin typeface="メイリオ" panose="020B0604030504040204" pitchFamily="34" charset="-128"/>
                <a:ea typeface="メイリオ" panose="020B0604030504040204" pitchFamily="34" charset="-122"/>
                <a:cs typeface="メイリオ" panose="020B0604030504040204" pitchFamily="34" charset="-120"/>
              </a:rPr>
              <a:t>鍋割山（神奈川県秦野市）</a:t>
            </a:r>
            <a:endParaRPr lang="en-US" sz="1350" dirty="0"/>
          </a:p>
        </p:txBody>
      </p:sp>
      <p:sp>
        <p:nvSpPr>
          <p:cNvPr id="8" name="Shape 6"/>
          <p:cNvSpPr/>
          <p:nvPr/>
        </p:nvSpPr>
        <p:spPr>
          <a:xfrm>
            <a:off x="228600" y="1444752"/>
            <a:ext cx="4160520" cy="566928"/>
          </a:xfrm>
          <a:prstGeom prst="rect">
            <a:avLst/>
          </a:prstGeom>
          <a:solidFill>
            <a:srgbClr val="FFFFFF"/>
          </a:solidFill>
          <a:ln w="12700">
            <a:solidFill>
              <a:srgbClr val="D1D5DB"/>
            </a:solidFill>
            <a:prstDash val="solid"/>
          </a:ln>
          <a:effectLst>
            <a:outerShdw blurRad="101600" dist="38100" dir="8100000" algn="bl" rotWithShape="0">
              <a:srgbClr val="000000">
                <a:alpha val="11000"/>
              </a:srgbClr>
            </a:outerShdw>
          </a:effectLst>
        </p:spPr>
      </p:sp>
      <p:sp>
        <p:nvSpPr>
          <p:cNvPr id="9" name="Text 7"/>
          <p:cNvSpPr/>
          <p:nvPr/>
        </p:nvSpPr>
        <p:spPr>
          <a:xfrm>
            <a:off x="365760" y="1499616"/>
            <a:ext cx="1463040" cy="219456"/>
          </a:xfrm>
          <a:prstGeom prst="rect">
            <a:avLst/>
          </a:prstGeom>
          <a:noFill/>
        </p:spPr>
        <p:txBody>
          <a:bodyPr wrap="square" lIns="0" tIns="0" rIns="0" bIns="0" rtlCol="0" anchor="ctr"/>
          <a:lstStyle/>
          <a:p>
            <a:pPr marL="0" indent="0">
              <a:buNone/>
            </a:pPr>
            <a:r>
              <a:rPr lang="en-US" sz="115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標高</a:t>
            </a:r>
            <a:endParaRPr lang="en-US" sz="1150" dirty="0"/>
          </a:p>
        </p:txBody>
      </p:sp>
      <p:sp>
        <p:nvSpPr>
          <p:cNvPr id="10" name="Text 8"/>
          <p:cNvSpPr/>
          <p:nvPr/>
        </p:nvSpPr>
        <p:spPr>
          <a:xfrm>
            <a:off x="365760" y="1737360"/>
            <a:ext cx="3840480" cy="219456"/>
          </a:xfrm>
          <a:prstGeom prst="rect">
            <a:avLst/>
          </a:prstGeom>
          <a:noFill/>
        </p:spPr>
        <p:txBody>
          <a:bodyPr wrap="square" lIns="0" tIns="0" rIns="0" bIns="0" rtlCol="0" anchor="ctr"/>
          <a:lstStyle/>
          <a:p>
            <a:pPr marL="0" indent="0">
              <a:buNone/>
            </a:pPr>
            <a:r>
              <a:rPr lang="en-US" sz="1350" b="1" dirty="0">
                <a:solidFill>
                  <a:srgbClr val="1A3820"/>
                </a:solidFill>
                <a:latin typeface="メイリオ" panose="020B0604030504040204" pitchFamily="34" charset="-128"/>
                <a:ea typeface="メイリオ" panose="020B0604030504040204" pitchFamily="34" charset="-122"/>
                <a:cs typeface="メイリオ" panose="020B0604030504040204" pitchFamily="34" charset="-120"/>
              </a:rPr>
              <a:t>1,272m（丹沢山塊）</a:t>
            </a:r>
            <a:endParaRPr lang="en-US" sz="1350" dirty="0"/>
          </a:p>
        </p:txBody>
      </p:sp>
      <p:sp>
        <p:nvSpPr>
          <p:cNvPr id="11" name="Shape 9"/>
          <p:cNvSpPr/>
          <p:nvPr/>
        </p:nvSpPr>
        <p:spPr>
          <a:xfrm>
            <a:off x="228600" y="2103120"/>
            <a:ext cx="4160520" cy="566928"/>
          </a:xfrm>
          <a:prstGeom prst="rect">
            <a:avLst/>
          </a:prstGeom>
          <a:solidFill>
            <a:srgbClr val="FFFFFF"/>
          </a:solidFill>
          <a:ln w="12700">
            <a:solidFill>
              <a:srgbClr val="D1D5DB"/>
            </a:solidFill>
            <a:prstDash val="solid"/>
          </a:ln>
          <a:effectLst>
            <a:outerShdw blurRad="101600" dist="38100" dir="8100000" algn="bl" rotWithShape="0">
              <a:srgbClr val="000000">
                <a:alpha val="11000"/>
              </a:srgbClr>
            </a:outerShdw>
          </a:effectLst>
        </p:spPr>
      </p:sp>
      <p:sp>
        <p:nvSpPr>
          <p:cNvPr id="12" name="Text 10"/>
          <p:cNvSpPr/>
          <p:nvPr/>
        </p:nvSpPr>
        <p:spPr>
          <a:xfrm>
            <a:off x="365760" y="2157984"/>
            <a:ext cx="1463040" cy="219456"/>
          </a:xfrm>
          <a:prstGeom prst="rect">
            <a:avLst/>
          </a:prstGeom>
          <a:noFill/>
        </p:spPr>
        <p:txBody>
          <a:bodyPr wrap="square" lIns="0" tIns="0" rIns="0" bIns="0" rtlCol="0" anchor="ctr"/>
          <a:lstStyle/>
          <a:p>
            <a:pPr marL="0" indent="0">
              <a:buNone/>
            </a:pPr>
            <a:r>
              <a:rPr lang="en-US" sz="115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距離</a:t>
            </a:r>
            <a:endParaRPr lang="en-US" sz="1150" dirty="0"/>
          </a:p>
        </p:txBody>
      </p:sp>
      <p:sp>
        <p:nvSpPr>
          <p:cNvPr id="13" name="Text 11"/>
          <p:cNvSpPr/>
          <p:nvPr/>
        </p:nvSpPr>
        <p:spPr>
          <a:xfrm>
            <a:off x="365760" y="2395728"/>
            <a:ext cx="3840480" cy="219456"/>
          </a:xfrm>
          <a:prstGeom prst="rect">
            <a:avLst/>
          </a:prstGeom>
          <a:noFill/>
        </p:spPr>
        <p:txBody>
          <a:bodyPr wrap="square" lIns="0" tIns="0" rIns="0" bIns="0" rtlCol="0" anchor="ctr"/>
          <a:lstStyle/>
          <a:p>
            <a:pPr marL="0" indent="0">
              <a:buNone/>
            </a:pPr>
            <a:r>
              <a:rPr lang="en-US" sz="1350" b="1" dirty="0">
                <a:solidFill>
                  <a:srgbClr val="1A3820"/>
                </a:solidFill>
                <a:latin typeface="メイリオ" panose="020B0604030504040204" pitchFamily="34" charset="-128"/>
                <a:ea typeface="メイリオ" panose="020B0604030504040204" pitchFamily="34" charset="-122"/>
                <a:cs typeface="メイリオ" panose="020B0604030504040204" pitchFamily="34" charset="-120"/>
              </a:rPr>
              <a:t>約16km（往復）</a:t>
            </a:r>
            <a:endParaRPr lang="en-US" sz="1350" dirty="0"/>
          </a:p>
        </p:txBody>
      </p:sp>
      <p:sp>
        <p:nvSpPr>
          <p:cNvPr id="14" name="Shape 12"/>
          <p:cNvSpPr/>
          <p:nvPr/>
        </p:nvSpPr>
        <p:spPr>
          <a:xfrm>
            <a:off x="228600" y="2761488"/>
            <a:ext cx="4160520" cy="566928"/>
          </a:xfrm>
          <a:prstGeom prst="rect">
            <a:avLst/>
          </a:prstGeom>
          <a:solidFill>
            <a:srgbClr val="FFFFFF"/>
          </a:solidFill>
          <a:ln w="12700">
            <a:solidFill>
              <a:srgbClr val="D1D5DB"/>
            </a:solidFill>
            <a:prstDash val="solid"/>
          </a:ln>
          <a:effectLst>
            <a:outerShdw blurRad="101600" dist="38100" dir="8100000" algn="bl" rotWithShape="0">
              <a:srgbClr val="000000">
                <a:alpha val="11000"/>
              </a:srgbClr>
            </a:outerShdw>
          </a:effectLst>
        </p:spPr>
      </p:sp>
      <p:sp>
        <p:nvSpPr>
          <p:cNvPr id="15" name="Text 13"/>
          <p:cNvSpPr/>
          <p:nvPr/>
        </p:nvSpPr>
        <p:spPr>
          <a:xfrm>
            <a:off x="365760" y="2816352"/>
            <a:ext cx="1463040" cy="219456"/>
          </a:xfrm>
          <a:prstGeom prst="rect">
            <a:avLst/>
          </a:prstGeom>
          <a:noFill/>
        </p:spPr>
        <p:txBody>
          <a:bodyPr wrap="square" lIns="0" tIns="0" rIns="0" bIns="0" rtlCol="0" anchor="ctr"/>
          <a:lstStyle/>
          <a:p>
            <a:pPr marL="0" indent="0">
              <a:buNone/>
            </a:pPr>
            <a:r>
              <a:rPr lang="en-US" sz="115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標高差</a:t>
            </a:r>
            <a:endParaRPr lang="en-US" sz="1150" dirty="0"/>
          </a:p>
        </p:txBody>
      </p:sp>
      <p:sp>
        <p:nvSpPr>
          <p:cNvPr id="16" name="Text 14"/>
          <p:cNvSpPr/>
          <p:nvPr/>
        </p:nvSpPr>
        <p:spPr>
          <a:xfrm>
            <a:off x="365760" y="3054096"/>
            <a:ext cx="3840480" cy="219456"/>
          </a:xfrm>
          <a:prstGeom prst="rect">
            <a:avLst/>
          </a:prstGeom>
          <a:noFill/>
        </p:spPr>
        <p:txBody>
          <a:bodyPr wrap="square" lIns="0" tIns="0" rIns="0" bIns="0" rtlCol="0" anchor="ctr"/>
          <a:lstStyle/>
          <a:p>
            <a:pPr marL="0" indent="0">
              <a:buNone/>
            </a:pPr>
            <a:r>
              <a:rPr lang="en-US" sz="1350" b="1" dirty="0">
                <a:solidFill>
                  <a:srgbClr val="1A3820"/>
                </a:solidFill>
                <a:latin typeface="メイリオ" panose="020B0604030504040204" pitchFamily="34" charset="-128"/>
                <a:ea typeface="メイリオ" panose="020B0604030504040204" pitchFamily="34" charset="-122"/>
                <a:cs typeface="メイリオ" panose="020B0604030504040204" pitchFamily="34" charset="-120"/>
              </a:rPr>
              <a:t>約1,000m</a:t>
            </a:r>
            <a:endParaRPr lang="en-US" sz="1350" dirty="0"/>
          </a:p>
        </p:txBody>
      </p:sp>
      <p:sp>
        <p:nvSpPr>
          <p:cNvPr id="17" name="Shape 15"/>
          <p:cNvSpPr/>
          <p:nvPr/>
        </p:nvSpPr>
        <p:spPr>
          <a:xfrm>
            <a:off x="228600" y="3419856"/>
            <a:ext cx="4160520" cy="566928"/>
          </a:xfrm>
          <a:prstGeom prst="rect">
            <a:avLst/>
          </a:prstGeom>
          <a:solidFill>
            <a:srgbClr val="FFFFFF"/>
          </a:solidFill>
          <a:ln w="12700">
            <a:solidFill>
              <a:srgbClr val="D1D5DB"/>
            </a:solidFill>
            <a:prstDash val="solid"/>
          </a:ln>
          <a:effectLst>
            <a:outerShdw blurRad="101600" dist="38100" dir="8100000" algn="bl" rotWithShape="0">
              <a:srgbClr val="000000">
                <a:alpha val="11000"/>
              </a:srgbClr>
            </a:outerShdw>
          </a:effectLst>
        </p:spPr>
      </p:sp>
      <p:sp>
        <p:nvSpPr>
          <p:cNvPr id="18" name="Text 16"/>
          <p:cNvSpPr/>
          <p:nvPr/>
        </p:nvSpPr>
        <p:spPr>
          <a:xfrm>
            <a:off x="365760" y="3474720"/>
            <a:ext cx="1463040" cy="219456"/>
          </a:xfrm>
          <a:prstGeom prst="rect">
            <a:avLst/>
          </a:prstGeom>
          <a:noFill/>
        </p:spPr>
        <p:txBody>
          <a:bodyPr wrap="square" lIns="0" tIns="0" rIns="0" bIns="0" rtlCol="0" anchor="ctr"/>
          <a:lstStyle/>
          <a:p>
            <a:pPr marL="0" indent="0">
              <a:buNone/>
            </a:pPr>
            <a:r>
              <a:rPr lang="en-US" sz="115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コースタイム</a:t>
            </a:r>
            <a:endParaRPr lang="en-US" sz="1150" dirty="0"/>
          </a:p>
        </p:txBody>
      </p:sp>
      <p:sp>
        <p:nvSpPr>
          <p:cNvPr id="19" name="Text 17"/>
          <p:cNvSpPr/>
          <p:nvPr/>
        </p:nvSpPr>
        <p:spPr>
          <a:xfrm>
            <a:off x="365760" y="3712464"/>
            <a:ext cx="3840480" cy="219456"/>
          </a:xfrm>
          <a:prstGeom prst="rect">
            <a:avLst/>
          </a:prstGeom>
          <a:noFill/>
        </p:spPr>
        <p:txBody>
          <a:bodyPr wrap="square" lIns="0" tIns="0" rIns="0" bIns="0" rtlCol="0" anchor="ctr"/>
          <a:lstStyle/>
          <a:p>
            <a:pPr marL="0" indent="0">
              <a:buNone/>
            </a:pPr>
            <a:r>
              <a:rPr lang="en-US" sz="1350" b="1" dirty="0">
                <a:solidFill>
                  <a:srgbClr val="1A3820"/>
                </a:solidFill>
                <a:latin typeface="メイリオ" panose="020B0604030504040204" pitchFamily="34" charset="-128"/>
                <a:ea typeface="メイリオ" panose="020B0604030504040204" pitchFamily="34" charset="-122"/>
                <a:cs typeface="メイリオ" panose="020B0604030504040204" pitchFamily="34" charset="-120"/>
              </a:rPr>
              <a:t>登り約3h・下り約2.5h（計5.5〜6h）</a:t>
            </a:r>
            <a:endParaRPr lang="en-US" sz="1350" dirty="0"/>
          </a:p>
        </p:txBody>
      </p:sp>
      <p:sp>
        <p:nvSpPr>
          <p:cNvPr id="20" name="Shape 18"/>
          <p:cNvSpPr/>
          <p:nvPr/>
        </p:nvSpPr>
        <p:spPr>
          <a:xfrm>
            <a:off x="228600" y="4078224"/>
            <a:ext cx="4160520" cy="566928"/>
          </a:xfrm>
          <a:prstGeom prst="rect">
            <a:avLst/>
          </a:prstGeom>
          <a:solidFill>
            <a:srgbClr val="FFFFFF"/>
          </a:solidFill>
          <a:ln w="12700">
            <a:solidFill>
              <a:srgbClr val="D97706"/>
            </a:solidFill>
            <a:prstDash val="solid"/>
          </a:ln>
          <a:effectLst>
            <a:outerShdw blurRad="101600" dist="38100" dir="8100000" algn="bl" rotWithShape="0">
              <a:srgbClr val="000000">
                <a:alpha val="11000"/>
              </a:srgbClr>
            </a:outerShdw>
          </a:effectLst>
        </p:spPr>
      </p:sp>
      <p:sp>
        <p:nvSpPr>
          <p:cNvPr id="21" name="Text 19"/>
          <p:cNvSpPr/>
          <p:nvPr/>
        </p:nvSpPr>
        <p:spPr>
          <a:xfrm>
            <a:off x="365760" y="4133088"/>
            <a:ext cx="1463040" cy="219456"/>
          </a:xfrm>
          <a:prstGeom prst="rect">
            <a:avLst/>
          </a:prstGeom>
          <a:noFill/>
        </p:spPr>
        <p:txBody>
          <a:bodyPr wrap="square" lIns="0" tIns="0" rIns="0" bIns="0" rtlCol="0" anchor="ctr"/>
          <a:lstStyle/>
          <a:p>
            <a:pPr marL="0" indent="0">
              <a:buNone/>
            </a:pPr>
            <a:r>
              <a:rPr lang="en-US" sz="115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難易度</a:t>
            </a:r>
            <a:endParaRPr lang="en-US" sz="1150" dirty="0"/>
          </a:p>
        </p:txBody>
      </p:sp>
      <p:sp>
        <p:nvSpPr>
          <p:cNvPr id="22" name="Text 20"/>
          <p:cNvSpPr/>
          <p:nvPr/>
        </p:nvSpPr>
        <p:spPr>
          <a:xfrm>
            <a:off x="365760" y="4370832"/>
            <a:ext cx="3840480" cy="219456"/>
          </a:xfrm>
          <a:prstGeom prst="rect">
            <a:avLst/>
          </a:prstGeom>
          <a:noFill/>
        </p:spPr>
        <p:txBody>
          <a:bodyPr wrap="square" lIns="0" tIns="0" rIns="0" bIns="0" rtlCol="0" anchor="ctr"/>
          <a:lstStyle/>
          <a:p>
            <a:pPr marL="0" indent="0">
              <a:buNone/>
            </a:pPr>
            <a:r>
              <a:rPr lang="en-US" sz="1350" b="1" dirty="0">
                <a:solidFill>
                  <a:srgbClr val="1A3820"/>
                </a:solidFill>
                <a:latin typeface="メイリオ" panose="020B0604030504040204" pitchFamily="34" charset="-128"/>
                <a:ea typeface="メイリオ" panose="020B0604030504040204" pitchFamily="34" charset="-122"/>
                <a:cs typeface="メイリオ" panose="020B0604030504040204" pitchFamily="34" charset="-120"/>
              </a:rPr>
              <a:t>★★★☆ 中級（距離が長い・体力必要）</a:t>
            </a:r>
            <a:endParaRPr lang="en-US" sz="1350" dirty="0"/>
          </a:p>
        </p:txBody>
      </p:sp>
      <p:sp>
        <p:nvSpPr>
          <p:cNvPr id="23" name="Shape 21"/>
          <p:cNvSpPr/>
          <p:nvPr/>
        </p:nvSpPr>
        <p:spPr>
          <a:xfrm>
            <a:off x="4572000" y="768096"/>
            <a:ext cx="4343400" cy="1755648"/>
          </a:xfrm>
          <a:prstGeom prst="rect">
            <a:avLst/>
          </a:prstGeom>
          <a:solidFill>
            <a:srgbClr val="CCCCCC"/>
          </a:solidFill>
          <a:ln w="12700">
            <a:solidFill>
              <a:srgbClr val="D1D5DB"/>
            </a:solidFill>
            <a:prstDash val="solid"/>
          </a:ln>
          <a:effectLst>
            <a:outerShdw blurRad="101600" dist="38100" dir="8100000" algn="bl" rotWithShape="0">
              <a:srgbClr val="000000">
                <a:alpha val="11000"/>
              </a:srgbClr>
            </a:outerShdw>
          </a:effectLst>
        </p:spPr>
      </p:sp>
      <p:pic>
        <p:nvPicPr>
          <p:cNvPr id="24" name="Image 0" descr="preencoded.png"/>
          <p:cNvPicPr>
            <a:picLocks noChangeAspect="1"/>
          </p:cNvPicPr>
          <p:nvPr/>
        </p:nvPicPr>
        <p:blipFill>
          <a:blip r:embed="rId1"/>
          <a:srcRect/>
          <a:stretch>
            <a:fillRect/>
          </a:stretch>
        </p:blipFill>
        <p:spPr>
          <a:xfrm>
            <a:off x="4572000" y="768096"/>
            <a:ext cx="4343400" cy="1755648"/>
          </a:xfrm>
          <a:prstGeom prst="rect">
            <a:avLst/>
          </a:prstGeom>
        </p:spPr>
      </p:pic>
      <p:sp>
        <p:nvSpPr>
          <p:cNvPr id="25" name="Shape 22"/>
          <p:cNvSpPr/>
          <p:nvPr/>
        </p:nvSpPr>
        <p:spPr>
          <a:xfrm>
            <a:off x="4572000" y="2249424"/>
            <a:ext cx="4343400" cy="256032"/>
          </a:xfrm>
          <a:prstGeom prst="rect">
            <a:avLst/>
          </a:prstGeom>
          <a:solidFill>
            <a:srgbClr val="000000">
              <a:alpha val="65000"/>
            </a:srgbClr>
          </a:solidFill>
          <a:ln w="12700">
            <a:solidFill>
              <a:srgbClr val="000000">
                <a:alpha val="65000"/>
              </a:srgbClr>
            </a:solidFill>
            <a:prstDash val="solid"/>
          </a:ln>
        </p:spPr>
      </p:sp>
      <p:sp>
        <p:nvSpPr>
          <p:cNvPr id="26" name="Text 23"/>
          <p:cNvSpPr/>
          <p:nvPr/>
        </p:nvSpPr>
        <p:spPr>
          <a:xfrm>
            <a:off x="4617720" y="2267712"/>
            <a:ext cx="4242816" cy="201168"/>
          </a:xfrm>
          <a:prstGeom prst="rect">
            <a:avLst/>
          </a:prstGeom>
          <a:noFill/>
        </p:spPr>
        <p:txBody>
          <a:bodyPr wrap="square" lIns="0" tIns="0" rIns="0" bIns="0" rtlCol="0" anchor="ctr"/>
          <a:lstStyle/>
          <a:p>
            <a:pPr marL="0" indent="0" algn="ctr">
              <a:buNone/>
            </a:pPr>
            <a:r>
              <a:rPr lang="en-US" sz="1050" i="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山頂から富士山を一望</a:t>
            </a:r>
            <a:endParaRPr lang="en-US" sz="1050" dirty="0"/>
          </a:p>
        </p:txBody>
      </p:sp>
      <p:sp>
        <p:nvSpPr>
          <p:cNvPr id="27" name="Shape 24"/>
          <p:cNvSpPr/>
          <p:nvPr/>
        </p:nvSpPr>
        <p:spPr>
          <a:xfrm>
            <a:off x="4572000" y="2596896"/>
            <a:ext cx="4343400" cy="2304288"/>
          </a:xfrm>
          <a:prstGeom prst="rect">
            <a:avLst/>
          </a:prstGeom>
          <a:solidFill>
            <a:srgbClr val="CCCCCC"/>
          </a:solidFill>
          <a:ln w="12700">
            <a:solidFill>
              <a:srgbClr val="D1D5DB"/>
            </a:solidFill>
            <a:prstDash val="solid"/>
          </a:ln>
          <a:effectLst>
            <a:outerShdw blurRad="101600" dist="38100" dir="8100000" algn="bl" rotWithShape="0">
              <a:srgbClr val="000000">
                <a:alpha val="11000"/>
              </a:srgbClr>
            </a:outerShdw>
          </a:effectLst>
        </p:spPr>
      </p:sp>
      <p:pic>
        <p:nvPicPr>
          <p:cNvPr id="28" name="Image 1" descr="preencoded.png"/>
          <p:cNvPicPr>
            <a:picLocks noChangeAspect="1"/>
          </p:cNvPicPr>
          <p:nvPr/>
        </p:nvPicPr>
        <p:blipFill>
          <a:blip r:embed="rId2"/>
          <a:srcRect/>
          <a:stretch>
            <a:fillRect/>
          </a:stretch>
        </p:blipFill>
        <p:spPr>
          <a:xfrm>
            <a:off x="4572000" y="2596896"/>
            <a:ext cx="4343400" cy="2304288"/>
          </a:xfrm>
          <a:prstGeom prst="rect">
            <a:avLst/>
          </a:prstGeom>
        </p:spPr>
      </p:pic>
      <p:sp>
        <p:nvSpPr>
          <p:cNvPr id="29" name="Shape 25"/>
          <p:cNvSpPr/>
          <p:nvPr/>
        </p:nvSpPr>
        <p:spPr>
          <a:xfrm>
            <a:off x="4572000" y="4626864"/>
            <a:ext cx="4343400" cy="256032"/>
          </a:xfrm>
          <a:prstGeom prst="rect">
            <a:avLst/>
          </a:prstGeom>
          <a:solidFill>
            <a:srgbClr val="000000">
              <a:alpha val="65000"/>
            </a:srgbClr>
          </a:solidFill>
          <a:ln w="12700">
            <a:solidFill>
              <a:srgbClr val="000000">
                <a:alpha val="65000"/>
              </a:srgbClr>
            </a:solidFill>
            <a:prstDash val="solid"/>
          </a:ln>
        </p:spPr>
      </p:sp>
      <p:sp>
        <p:nvSpPr>
          <p:cNvPr id="30" name="Text 26"/>
          <p:cNvSpPr/>
          <p:nvPr/>
        </p:nvSpPr>
        <p:spPr>
          <a:xfrm>
            <a:off x="4617720" y="4645152"/>
            <a:ext cx="4242816" cy="201168"/>
          </a:xfrm>
          <a:prstGeom prst="rect">
            <a:avLst/>
          </a:prstGeom>
          <a:noFill/>
        </p:spPr>
        <p:txBody>
          <a:bodyPr wrap="square" lIns="0" tIns="0" rIns="0" bIns="0" rtlCol="0" anchor="ctr"/>
          <a:lstStyle/>
          <a:p>
            <a:pPr marL="0" indent="0" algn="ctr">
              <a:buNone/>
            </a:pPr>
            <a:r>
              <a:rPr lang="en-US" sz="1050" i="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 名物 鍋焼きうどん 2,000円</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AF3"/>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6B3A"/>
          </a:solidFill>
          <a:ln w="12700">
            <a:solidFill>
              <a:srgbClr val="2C6B3A"/>
            </a:solidFill>
            <a:prstDash val="solid"/>
          </a:ln>
        </p:spPr>
      </p:sp>
      <p:sp>
        <p:nvSpPr>
          <p:cNvPr id="3" name="Shape 1"/>
          <p:cNvSpPr/>
          <p:nvPr/>
        </p:nvSpPr>
        <p:spPr>
          <a:xfrm>
            <a:off x="0" y="0"/>
            <a:ext cx="164592" cy="685800"/>
          </a:xfrm>
          <a:prstGeom prst="rect">
            <a:avLst/>
          </a:prstGeom>
          <a:solidFill>
            <a:srgbClr val="7DC87A"/>
          </a:solidFill>
          <a:ln w="12700">
            <a:solidFill>
              <a:srgbClr val="7DC87A"/>
            </a:solidFill>
            <a:prstDash val="solid"/>
          </a:ln>
        </p:spPr>
      </p:sp>
      <p:sp>
        <p:nvSpPr>
          <p:cNvPr id="4" name="Text 2"/>
          <p:cNvSpPr/>
          <p:nvPr/>
        </p:nvSpPr>
        <p:spPr>
          <a:xfrm>
            <a:off x="274320" y="91440"/>
            <a:ext cx="8686800" cy="530352"/>
          </a:xfrm>
          <a:prstGeom prst="rect">
            <a:avLst/>
          </a:prstGeom>
          <a:noFill/>
        </p:spPr>
        <p:txBody>
          <a:bodyPr wrap="square" lIns="0" tIns="0" rIns="0" bIns="0" rtlCol="0" anchor="ctr"/>
          <a:lstStyle/>
          <a:p>
            <a:pPr marL="0" indent="0">
              <a:buNone/>
            </a:pPr>
            <a:r>
              <a:rPr lang="en-US" sz="2400" b="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🗺️鍋割山コース詳細</a:t>
            </a:r>
            <a:endParaRPr lang="ja-JP" altLang="en-US" sz="2400" b="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endParaRPr>
          </a:p>
        </p:txBody>
      </p:sp>
      <p:sp>
        <p:nvSpPr>
          <p:cNvPr id="5" name="Shape 3"/>
          <p:cNvSpPr/>
          <p:nvPr/>
        </p:nvSpPr>
        <p:spPr>
          <a:xfrm>
            <a:off x="274320" y="914400"/>
            <a:ext cx="274320" cy="274320"/>
          </a:xfrm>
          <a:prstGeom prst="ellipse">
            <a:avLst/>
          </a:prstGeom>
          <a:solidFill>
            <a:srgbClr val="2C6B3A"/>
          </a:solidFill>
          <a:ln w="12700">
            <a:solidFill>
              <a:srgbClr val="2C6B3A"/>
            </a:solidFill>
            <a:prstDash val="solid"/>
          </a:ln>
        </p:spPr>
      </p:sp>
      <p:sp>
        <p:nvSpPr>
          <p:cNvPr id="6" name="Shape 4"/>
          <p:cNvSpPr/>
          <p:nvPr/>
        </p:nvSpPr>
        <p:spPr>
          <a:xfrm>
            <a:off x="411480" y="1207008"/>
            <a:ext cx="0" cy="457200"/>
          </a:xfrm>
          <a:prstGeom prst="line">
            <a:avLst/>
          </a:prstGeom>
          <a:noFill/>
          <a:ln w="12700">
            <a:solidFill>
              <a:srgbClr val="D1D5DB"/>
            </a:solidFill>
            <a:prstDash val="solid"/>
          </a:ln>
        </p:spPr>
      </p:sp>
      <p:sp>
        <p:nvSpPr>
          <p:cNvPr id="7" name="Text 5"/>
          <p:cNvSpPr/>
          <p:nvPr/>
        </p:nvSpPr>
        <p:spPr>
          <a:xfrm>
            <a:off x="676656" y="850392"/>
            <a:ext cx="3657600" cy="256032"/>
          </a:xfrm>
          <a:prstGeom prst="rect">
            <a:avLst/>
          </a:prstGeom>
          <a:noFill/>
        </p:spPr>
        <p:txBody>
          <a:bodyPr wrap="square" lIns="0" tIns="0" rIns="0" bIns="0" rtlCol="0" anchor="ctr"/>
          <a:lstStyle/>
          <a:p>
            <a:pPr marL="0" indent="0">
              <a:buNone/>
            </a:pPr>
            <a:r>
              <a:rPr lang="en-US" sz="1300" b="1" dirty="0">
                <a:solidFill>
                  <a:srgbClr val="1A3820"/>
                </a:solidFill>
                <a:latin typeface="メイリオ" panose="020B0604030504040204" pitchFamily="34" charset="-128"/>
                <a:ea typeface="メイリオ" panose="020B0604030504040204" pitchFamily="34" charset="-122"/>
                <a:cs typeface="メイリオ" panose="020B0604030504040204" pitchFamily="34" charset="-120"/>
              </a:rPr>
              <a:t>大倉バス停</a:t>
            </a:r>
            <a:endParaRPr lang="en-US" sz="1300" dirty="0"/>
          </a:p>
        </p:txBody>
      </p:sp>
      <p:sp>
        <p:nvSpPr>
          <p:cNvPr id="8" name="Text 6"/>
          <p:cNvSpPr/>
          <p:nvPr/>
        </p:nvSpPr>
        <p:spPr>
          <a:xfrm>
            <a:off x="676656" y="1133856"/>
            <a:ext cx="3657600" cy="402336"/>
          </a:xfrm>
          <a:prstGeom prst="rect">
            <a:avLst/>
          </a:prstGeom>
          <a:noFill/>
        </p:spPr>
        <p:txBody>
          <a:bodyPr wrap="square" lIns="0" tIns="0" rIns="0" bIns="0" rtlCol="0" anchor="ctr"/>
          <a:lstStyle/>
          <a:p>
            <a:pPr marL="0" indent="0">
              <a:buNone/>
            </a:pPr>
            <a:r>
              <a:rPr lang="en-US" sz="115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標高290m・トイレあり・スタート地点</a:t>
            </a:r>
            <a:endParaRPr lang="en-US" sz="1150" dirty="0"/>
          </a:p>
        </p:txBody>
      </p:sp>
      <p:sp>
        <p:nvSpPr>
          <p:cNvPr id="9" name="Shape 7"/>
          <p:cNvSpPr/>
          <p:nvPr/>
        </p:nvSpPr>
        <p:spPr>
          <a:xfrm>
            <a:off x="274320" y="1719072"/>
            <a:ext cx="274320" cy="274320"/>
          </a:xfrm>
          <a:prstGeom prst="ellipse">
            <a:avLst/>
          </a:prstGeom>
          <a:solidFill>
            <a:srgbClr val="2C6B3A"/>
          </a:solidFill>
          <a:ln w="12700">
            <a:solidFill>
              <a:srgbClr val="2C6B3A"/>
            </a:solidFill>
            <a:prstDash val="solid"/>
          </a:ln>
        </p:spPr>
      </p:sp>
      <p:sp>
        <p:nvSpPr>
          <p:cNvPr id="10" name="Shape 8"/>
          <p:cNvSpPr/>
          <p:nvPr/>
        </p:nvSpPr>
        <p:spPr>
          <a:xfrm>
            <a:off x="411480" y="2011680"/>
            <a:ext cx="0" cy="457200"/>
          </a:xfrm>
          <a:prstGeom prst="line">
            <a:avLst/>
          </a:prstGeom>
          <a:noFill/>
          <a:ln w="12700">
            <a:solidFill>
              <a:srgbClr val="D1D5DB"/>
            </a:solidFill>
            <a:prstDash val="solid"/>
          </a:ln>
        </p:spPr>
      </p:sp>
      <p:sp>
        <p:nvSpPr>
          <p:cNvPr id="11" name="Text 9"/>
          <p:cNvSpPr/>
          <p:nvPr/>
        </p:nvSpPr>
        <p:spPr>
          <a:xfrm>
            <a:off x="676656" y="1655064"/>
            <a:ext cx="3657600" cy="256032"/>
          </a:xfrm>
          <a:prstGeom prst="rect">
            <a:avLst/>
          </a:prstGeom>
          <a:noFill/>
        </p:spPr>
        <p:txBody>
          <a:bodyPr wrap="square" lIns="0" tIns="0" rIns="0" bIns="0" rtlCol="0" anchor="ctr"/>
          <a:lstStyle/>
          <a:p>
            <a:pPr marL="0" indent="0">
              <a:buNone/>
            </a:pPr>
            <a:r>
              <a:rPr lang="en-US" sz="1300" b="1" dirty="0">
                <a:solidFill>
                  <a:srgbClr val="1A3820"/>
                </a:solidFill>
                <a:latin typeface="メイリオ" panose="020B0604030504040204" pitchFamily="34" charset="-128"/>
                <a:ea typeface="メイリオ" panose="020B0604030504040204" pitchFamily="34" charset="-122"/>
                <a:cs typeface="メイリオ" panose="020B0604030504040204" pitchFamily="34" charset="-120"/>
              </a:rPr>
              <a:t>西山林道</a:t>
            </a:r>
            <a:endParaRPr lang="en-US" sz="1300" dirty="0"/>
          </a:p>
        </p:txBody>
      </p:sp>
      <p:sp>
        <p:nvSpPr>
          <p:cNvPr id="12" name="Text 10"/>
          <p:cNvSpPr/>
          <p:nvPr/>
        </p:nvSpPr>
        <p:spPr>
          <a:xfrm>
            <a:off x="676656" y="1938528"/>
            <a:ext cx="3657600" cy="402336"/>
          </a:xfrm>
          <a:prstGeom prst="rect">
            <a:avLst/>
          </a:prstGeom>
          <a:noFill/>
        </p:spPr>
        <p:txBody>
          <a:bodyPr wrap="square" lIns="0" tIns="0" rIns="0" bIns="0" rtlCol="0" anchor="ctr"/>
          <a:lstStyle/>
          <a:p>
            <a:pPr marL="0" indent="0">
              <a:buNone/>
            </a:pPr>
            <a:r>
              <a:rPr lang="en-US" sz="115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約1時間の林道歩き・なだらかで歩きやすい</a:t>
            </a:r>
            <a:endParaRPr lang="en-US" sz="1150" dirty="0"/>
          </a:p>
        </p:txBody>
      </p:sp>
      <p:sp>
        <p:nvSpPr>
          <p:cNvPr id="13" name="Shape 11"/>
          <p:cNvSpPr/>
          <p:nvPr/>
        </p:nvSpPr>
        <p:spPr>
          <a:xfrm>
            <a:off x="274320" y="2523744"/>
            <a:ext cx="274320" cy="274320"/>
          </a:xfrm>
          <a:prstGeom prst="ellipse">
            <a:avLst/>
          </a:prstGeom>
          <a:solidFill>
            <a:srgbClr val="2C6B3A"/>
          </a:solidFill>
          <a:ln w="12700">
            <a:solidFill>
              <a:srgbClr val="2C6B3A"/>
            </a:solidFill>
            <a:prstDash val="solid"/>
          </a:ln>
        </p:spPr>
      </p:sp>
      <p:sp>
        <p:nvSpPr>
          <p:cNvPr id="14" name="Shape 12"/>
          <p:cNvSpPr/>
          <p:nvPr/>
        </p:nvSpPr>
        <p:spPr>
          <a:xfrm>
            <a:off x="411480" y="2816352"/>
            <a:ext cx="0" cy="457200"/>
          </a:xfrm>
          <a:prstGeom prst="line">
            <a:avLst/>
          </a:prstGeom>
          <a:noFill/>
          <a:ln w="12700">
            <a:solidFill>
              <a:srgbClr val="D1D5DB"/>
            </a:solidFill>
            <a:prstDash val="solid"/>
          </a:ln>
        </p:spPr>
      </p:sp>
      <p:sp>
        <p:nvSpPr>
          <p:cNvPr id="15" name="Text 13"/>
          <p:cNvSpPr/>
          <p:nvPr/>
        </p:nvSpPr>
        <p:spPr>
          <a:xfrm>
            <a:off x="676656" y="2459736"/>
            <a:ext cx="3657600" cy="256032"/>
          </a:xfrm>
          <a:prstGeom prst="rect">
            <a:avLst/>
          </a:prstGeom>
          <a:noFill/>
        </p:spPr>
        <p:txBody>
          <a:bodyPr wrap="square" lIns="0" tIns="0" rIns="0" bIns="0" rtlCol="0" anchor="ctr"/>
          <a:lstStyle/>
          <a:p>
            <a:pPr marL="0" indent="0">
              <a:buNone/>
            </a:pPr>
            <a:r>
              <a:rPr lang="en-US" sz="1300" b="1" dirty="0">
                <a:solidFill>
                  <a:srgbClr val="1A3820"/>
                </a:solidFill>
                <a:latin typeface="メイリオ" panose="020B0604030504040204" pitchFamily="34" charset="-128"/>
                <a:ea typeface="メイリオ" panose="020B0604030504040204" pitchFamily="34" charset="-122"/>
                <a:cs typeface="メイリオ" panose="020B0604030504040204" pitchFamily="34" charset="-120"/>
              </a:rPr>
              <a:t>二俣</a:t>
            </a:r>
            <a:endParaRPr lang="en-US" sz="1300" dirty="0"/>
          </a:p>
        </p:txBody>
      </p:sp>
      <p:sp>
        <p:nvSpPr>
          <p:cNvPr id="16" name="Text 14"/>
          <p:cNvSpPr/>
          <p:nvPr/>
        </p:nvSpPr>
        <p:spPr>
          <a:xfrm>
            <a:off x="676656" y="2743200"/>
            <a:ext cx="3657600" cy="402336"/>
          </a:xfrm>
          <a:prstGeom prst="rect">
            <a:avLst/>
          </a:prstGeom>
          <a:noFill/>
        </p:spPr>
        <p:txBody>
          <a:bodyPr wrap="square" lIns="0" tIns="0" rIns="0" bIns="0" rtlCol="0" anchor="ctr"/>
          <a:lstStyle/>
          <a:p>
            <a:pPr marL="0" indent="0">
              <a:buNone/>
            </a:pPr>
            <a:r>
              <a:rPr lang="en-US" sz="115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林道終点・沢を渡る・約1時間20分</a:t>
            </a:r>
            <a:endParaRPr lang="en-US" sz="1150" dirty="0"/>
          </a:p>
        </p:txBody>
      </p:sp>
      <p:sp>
        <p:nvSpPr>
          <p:cNvPr id="17" name="Shape 15"/>
          <p:cNvSpPr/>
          <p:nvPr/>
        </p:nvSpPr>
        <p:spPr>
          <a:xfrm>
            <a:off x="274320" y="3328416"/>
            <a:ext cx="274320" cy="274320"/>
          </a:xfrm>
          <a:prstGeom prst="ellipse">
            <a:avLst/>
          </a:prstGeom>
          <a:solidFill>
            <a:srgbClr val="2C6B3A"/>
          </a:solidFill>
          <a:ln w="12700">
            <a:solidFill>
              <a:srgbClr val="2C6B3A"/>
            </a:solidFill>
            <a:prstDash val="solid"/>
          </a:ln>
        </p:spPr>
      </p:sp>
      <p:sp>
        <p:nvSpPr>
          <p:cNvPr id="18" name="Shape 16"/>
          <p:cNvSpPr/>
          <p:nvPr/>
        </p:nvSpPr>
        <p:spPr>
          <a:xfrm>
            <a:off x="411480" y="3621024"/>
            <a:ext cx="0" cy="457200"/>
          </a:xfrm>
          <a:prstGeom prst="line">
            <a:avLst/>
          </a:prstGeom>
          <a:noFill/>
          <a:ln w="12700">
            <a:solidFill>
              <a:srgbClr val="D1D5DB"/>
            </a:solidFill>
            <a:prstDash val="solid"/>
          </a:ln>
        </p:spPr>
      </p:sp>
      <p:sp>
        <p:nvSpPr>
          <p:cNvPr id="19" name="Text 17"/>
          <p:cNvSpPr/>
          <p:nvPr/>
        </p:nvSpPr>
        <p:spPr>
          <a:xfrm>
            <a:off x="676656" y="3264408"/>
            <a:ext cx="3657600" cy="256032"/>
          </a:xfrm>
          <a:prstGeom prst="rect">
            <a:avLst/>
          </a:prstGeom>
          <a:noFill/>
        </p:spPr>
        <p:txBody>
          <a:bodyPr wrap="square" lIns="0" tIns="0" rIns="0" bIns="0" rtlCol="0" anchor="ctr"/>
          <a:lstStyle/>
          <a:p>
            <a:pPr marL="0" indent="0">
              <a:buNone/>
            </a:pPr>
            <a:r>
              <a:rPr lang="en-US" sz="1300" b="1" dirty="0">
                <a:solidFill>
                  <a:srgbClr val="1A3820"/>
                </a:solidFill>
                <a:latin typeface="メイリオ" panose="020B0604030504040204" pitchFamily="34" charset="-128"/>
                <a:ea typeface="メイリオ" panose="020B0604030504040204" pitchFamily="34" charset="-122"/>
                <a:cs typeface="メイリオ" panose="020B0604030504040204" pitchFamily="34" charset="-120"/>
              </a:rPr>
              <a:t>後沢乗越</a:t>
            </a:r>
            <a:endParaRPr lang="en-US" sz="1300" dirty="0"/>
          </a:p>
        </p:txBody>
      </p:sp>
      <p:sp>
        <p:nvSpPr>
          <p:cNvPr id="20" name="Text 18"/>
          <p:cNvSpPr/>
          <p:nvPr/>
        </p:nvSpPr>
        <p:spPr>
          <a:xfrm>
            <a:off x="676656" y="3547872"/>
            <a:ext cx="3657600" cy="402336"/>
          </a:xfrm>
          <a:prstGeom prst="rect">
            <a:avLst/>
          </a:prstGeom>
          <a:noFill/>
        </p:spPr>
        <p:txBody>
          <a:bodyPr wrap="square" lIns="0" tIns="0" rIns="0" bIns="0" rtlCol="0" anchor="ctr"/>
          <a:lstStyle/>
          <a:p>
            <a:pPr marL="0" indent="0">
              <a:buNone/>
            </a:pPr>
            <a:r>
              <a:rPr lang="en-US" sz="115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急登の始まり・二俣から約45分</a:t>
            </a:r>
            <a:endParaRPr lang="en-US" sz="1150" dirty="0"/>
          </a:p>
        </p:txBody>
      </p:sp>
      <p:sp>
        <p:nvSpPr>
          <p:cNvPr id="21" name="Shape 19"/>
          <p:cNvSpPr/>
          <p:nvPr/>
        </p:nvSpPr>
        <p:spPr>
          <a:xfrm>
            <a:off x="274320" y="4133088"/>
            <a:ext cx="274320" cy="274320"/>
          </a:xfrm>
          <a:prstGeom prst="ellipse">
            <a:avLst/>
          </a:prstGeom>
          <a:solidFill>
            <a:srgbClr val="2C6B3A"/>
          </a:solidFill>
          <a:ln w="12700">
            <a:solidFill>
              <a:srgbClr val="2C6B3A"/>
            </a:solidFill>
            <a:prstDash val="solid"/>
          </a:ln>
        </p:spPr>
      </p:sp>
      <p:sp>
        <p:nvSpPr>
          <p:cNvPr id="22" name="Text 20"/>
          <p:cNvSpPr/>
          <p:nvPr/>
        </p:nvSpPr>
        <p:spPr>
          <a:xfrm>
            <a:off x="676656" y="4069080"/>
            <a:ext cx="3657600" cy="256032"/>
          </a:xfrm>
          <a:prstGeom prst="rect">
            <a:avLst/>
          </a:prstGeom>
          <a:noFill/>
        </p:spPr>
        <p:txBody>
          <a:bodyPr wrap="square" lIns="0" tIns="0" rIns="0" bIns="0" rtlCol="0" anchor="ctr"/>
          <a:lstStyle/>
          <a:p>
            <a:pPr marL="0" indent="0">
              <a:buNone/>
            </a:pPr>
            <a:r>
              <a:rPr lang="en-US" sz="1300" b="1" dirty="0">
                <a:solidFill>
                  <a:srgbClr val="1A3820"/>
                </a:solidFill>
                <a:latin typeface="メイリオ" panose="020B0604030504040204" pitchFamily="34" charset="-128"/>
                <a:ea typeface="メイリオ" panose="020B0604030504040204" pitchFamily="34" charset="-122"/>
                <a:cs typeface="メイリオ" panose="020B0604030504040204" pitchFamily="34" charset="-120"/>
              </a:rPr>
              <a:t>鍋割山 山頂</a:t>
            </a:r>
            <a:endParaRPr lang="en-US" sz="1300" dirty="0"/>
          </a:p>
        </p:txBody>
      </p:sp>
      <p:sp>
        <p:nvSpPr>
          <p:cNvPr id="23" name="Text 21"/>
          <p:cNvSpPr/>
          <p:nvPr/>
        </p:nvSpPr>
        <p:spPr>
          <a:xfrm>
            <a:off x="676656" y="4352544"/>
            <a:ext cx="3657600" cy="402336"/>
          </a:xfrm>
          <a:prstGeom prst="rect">
            <a:avLst/>
          </a:prstGeom>
          <a:noFill/>
        </p:spPr>
        <p:txBody>
          <a:bodyPr wrap="square" lIns="0" tIns="0" rIns="0" bIns="0" rtlCol="0" anchor="ctr"/>
          <a:lstStyle/>
          <a:p>
            <a:pPr marL="0" indent="0">
              <a:buNone/>
            </a:pPr>
            <a:r>
              <a:rPr lang="en-US" sz="115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1,272m・富士山の絶景・山荘でうどん</a:t>
            </a:r>
            <a:endParaRPr lang="en-US" sz="1150" dirty="0"/>
          </a:p>
        </p:txBody>
      </p:sp>
      <p:sp>
        <p:nvSpPr>
          <p:cNvPr id="24" name="Shape 22"/>
          <p:cNvSpPr/>
          <p:nvPr/>
        </p:nvSpPr>
        <p:spPr>
          <a:xfrm>
            <a:off x="4681728" y="768096"/>
            <a:ext cx="4233672" cy="2157984"/>
          </a:xfrm>
          <a:prstGeom prst="rect">
            <a:avLst/>
          </a:prstGeom>
          <a:solidFill>
            <a:srgbClr val="CCCCCC"/>
          </a:solidFill>
          <a:ln w="12700">
            <a:solidFill>
              <a:srgbClr val="D1D5DB"/>
            </a:solidFill>
            <a:prstDash val="solid"/>
          </a:ln>
          <a:effectLst>
            <a:outerShdw blurRad="101600" dist="38100" dir="8100000" algn="bl" rotWithShape="0">
              <a:srgbClr val="000000">
                <a:alpha val="11000"/>
              </a:srgbClr>
            </a:outerShdw>
          </a:effectLst>
        </p:spPr>
      </p:sp>
      <p:pic>
        <p:nvPicPr>
          <p:cNvPr id="32" name="図形 31" descr="幸手権現堂 (3)"/>
          <p:cNvPicPr>
            <a:picLocks noChangeAspect="1"/>
          </p:cNvPicPr>
          <p:nvPr/>
        </p:nvPicPr>
        <p:blipFill>
          <a:blip r:embed="rId1"/>
          <a:stretch>
            <a:fillRect/>
          </a:stretch>
        </p:blipFill>
        <p:spPr>
          <a:xfrm>
            <a:off x="4681855" y="768350"/>
            <a:ext cx="4232910" cy="2157095"/>
          </a:xfrm>
          <a:prstGeom prst="rect">
            <a:avLst/>
          </a:prstGeom>
        </p:spPr>
      </p:pic>
      <p:sp>
        <p:nvSpPr>
          <p:cNvPr id="26" name="Shape 23"/>
          <p:cNvSpPr/>
          <p:nvPr/>
        </p:nvSpPr>
        <p:spPr>
          <a:xfrm>
            <a:off x="4681728" y="2651760"/>
            <a:ext cx="4233672" cy="256032"/>
          </a:xfrm>
          <a:prstGeom prst="rect">
            <a:avLst/>
          </a:prstGeom>
          <a:solidFill>
            <a:srgbClr val="000000">
              <a:alpha val="65000"/>
            </a:srgbClr>
          </a:solidFill>
          <a:ln w="12700">
            <a:solidFill>
              <a:srgbClr val="000000">
                <a:alpha val="65000"/>
              </a:srgbClr>
            </a:solidFill>
            <a:prstDash val="solid"/>
          </a:ln>
        </p:spPr>
      </p:sp>
      <p:sp>
        <p:nvSpPr>
          <p:cNvPr id="27" name="Text 24"/>
          <p:cNvSpPr/>
          <p:nvPr/>
        </p:nvSpPr>
        <p:spPr>
          <a:xfrm>
            <a:off x="4736592" y="2670048"/>
            <a:ext cx="4114800" cy="201168"/>
          </a:xfrm>
          <a:prstGeom prst="rect">
            <a:avLst/>
          </a:prstGeom>
          <a:noFill/>
        </p:spPr>
        <p:txBody>
          <a:bodyPr wrap="square" lIns="0" tIns="0" rIns="0" bIns="0" rtlCol="0" anchor="ctr"/>
          <a:lstStyle/>
          <a:p>
            <a:pPr marL="0" indent="0" algn="ctr">
              <a:buNone/>
            </a:pPr>
            <a:r>
              <a:rPr lang="ja-JP" altLang="en-US" sz="1050" i="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富士山と丹沢の山々</a:t>
            </a:r>
            <a:endParaRPr lang="en-US" sz="1050" dirty="0"/>
          </a:p>
        </p:txBody>
      </p:sp>
      <p:sp>
        <p:nvSpPr>
          <p:cNvPr id="28" name="Shape 25"/>
          <p:cNvSpPr/>
          <p:nvPr/>
        </p:nvSpPr>
        <p:spPr>
          <a:xfrm>
            <a:off x="4681728" y="2999232"/>
            <a:ext cx="4233672" cy="1901952"/>
          </a:xfrm>
          <a:prstGeom prst="rect">
            <a:avLst/>
          </a:prstGeom>
          <a:solidFill>
            <a:srgbClr val="CCCCCC"/>
          </a:solidFill>
          <a:ln w="12700">
            <a:solidFill>
              <a:srgbClr val="D1D5DB"/>
            </a:solidFill>
            <a:prstDash val="solid"/>
          </a:ln>
          <a:effectLst>
            <a:outerShdw blurRad="101600" dist="38100" dir="8100000" algn="bl" rotWithShape="0">
              <a:srgbClr val="000000">
                <a:alpha val="11000"/>
              </a:srgbClr>
            </a:outerShdw>
          </a:effectLst>
        </p:spPr>
      </p:sp>
      <p:pic>
        <p:nvPicPr>
          <p:cNvPr id="29" name="Image 1" descr="preencoded.png"/>
          <p:cNvPicPr>
            <a:picLocks noChangeAspect="1"/>
          </p:cNvPicPr>
          <p:nvPr/>
        </p:nvPicPr>
        <p:blipFill>
          <a:blip r:embed="rId2"/>
          <a:srcRect/>
          <a:stretch>
            <a:fillRect/>
          </a:stretch>
        </p:blipFill>
        <p:spPr>
          <a:xfrm>
            <a:off x="4681728" y="2999232"/>
            <a:ext cx="4233672" cy="1901952"/>
          </a:xfrm>
          <a:prstGeom prst="rect">
            <a:avLst/>
          </a:prstGeom>
        </p:spPr>
      </p:pic>
      <p:sp>
        <p:nvSpPr>
          <p:cNvPr id="30" name="Shape 26"/>
          <p:cNvSpPr/>
          <p:nvPr/>
        </p:nvSpPr>
        <p:spPr>
          <a:xfrm>
            <a:off x="4681728" y="4626864"/>
            <a:ext cx="4233672" cy="256032"/>
          </a:xfrm>
          <a:prstGeom prst="rect">
            <a:avLst/>
          </a:prstGeom>
          <a:solidFill>
            <a:srgbClr val="000000">
              <a:alpha val="65000"/>
            </a:srgbClr>
          </a:solidFill>
          <a:ln w="12700">
            <a:solidFill>
              <a:srgbClr val="000000">
                <a:alpha val="65000"/>
              </a:srgbClr>
            </a:solidFill>
            <a:prstDash val="solid"/>
          </a:ln>
        </p:spPr>
      </p:sp>
      <p:sp>
        <p:nvSpPr>
          <p:cNvPr id="31" name="Text 27"/>
          <p:cNvSpPr/>
          <p:nvPr/>
        </p:nvSpPr>
        <p:spPr>
          <a:xfrm>
            <a:off x="4736592" y="4645152"/>
            <a:ext cx="4114800" cy="201168"/>
          </a:xfrm>
          <a:prstGeom prst="rect">
            <a:avLst/>
          </a:prstGeom>
          <a:noFill/>
        </p:spPr>
        <p:txBody>
          <a:bodyPr wrap="square" lIns="0" tIns="0" rIns="0" bIns="0" rtlCol="0" anchor="ctr"/>
          <a:lstStyle/>
          <a:p>
            <a:pPr marL="0" indent="0" algn="ctr">
              <a:buNone/>
            </a:pPr>
            <a:r>
              <a:rPr lang="en-US" sz="1050" i="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新緑のブナ林が美しい登山道</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AF3"/>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6B3A"/>
          </a:solidFill>
          <a:ln w="12700">
            <a:solidFill>
              <a:srgbClr val="2C6B3A"/>
            </a:solidFill>
            <a:prstDash val="solid"/>
          </a:ln>
        </p:spPr>
      </p:sp>
      <p:sp>
        <p:nvSpPr>
          <p:cNvPr id="3" name="Shape 1"/>
          <p:cNvSpPr/>
          <p:nvPr/>
        </p:nvSpPr>
        <p:spPr>
          <a:xfrm>
            <a:off x="0" y="0"/>
            <a:ext cx="164592" cy="685800"/>
          </a:xfrm>
          <a:prstGeom prst="rect">
            <a:avLst/>
          </a:prstGeom>
          <a:solidFill>
            <a:srgbClr val="7DC87A"/>
          </a:solidFill>
          <a:ln w="12700">
            <a:solidFill>
              <a:srgbClr val="7DC87A"/>
            </a:solidFill>
            <a:prstDash val="solid"/>
          </a:ln>
        </p:spPr>
      </p:sp>
      <p:sp>
        <p:nvSpPr>
          <p:cNvPr id="4" name="Text 2"/>
          <p:cNvSpPr/>
          <p:nvPr/>
        </p:nvSpPr>
        <p:spPr>
          <a:xfrm>
            <a:off x="274320" y="91440"/>
            <a:ext cx="8686800" cy="530352"/>
          </a:xfrm>
          <a:prstGeom prst="rect">
            <a:avLst/>
          </a:prstGeom>
          <a:noFill/>
        </p:spPr>
        <p:txBody>
          <a:bodyPr wrap="square" lIns="0" tIns="0" rIns="0" bIns="0" rtlCol="0" anchor="ctr"/>
          <a:lstStyle/>
          <a:p>
            <a:pPr marL="0" indent="0">
              <a:buNone/>
            </a:pPr>
            <a:r>
              <a:rPr lang="en-US" sz="2400" b="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 1日タイムライン</a:t>
            </a:r>
            <a:endParaRPr lang="en-US" sz="2400" dirty="0"/>
          </a:p>
        </p:txBody>
      </p:sp>
      <p:sp>
        <p:nvSpPr>
          <p:cNvPr id="5" name="Shape 3"/>
          <p:cNvSpPr/>
          <p:nvPr/>
        </p:nvSpPr>
        <p:spPr>
          <a:xfrm>
            <a:off x="310896" y="877824"/>
            <a:ext cx="237744" cy="237744"/>
          </a:xfrm>
          <a:prstGeom prst="ellipse">
            <a:avLst/>
          </a:prstGeom>
          <a:solidFill>
            <a:srgbClr val="2A6BAE"/>
          </a:solidFill>
          <a:ln w="12700">
            <a:solidFill>
              <a:srgbClr val="2A6BAE"/>
            </a:solidFill>
            <a:prstDash val="solid"/>
          </a:ln>
        </p:spPr>
      </p:sp>
      <p:sp>
        <p:nvSpPr>
          <p:cNvPr id="6" name="Shape 4"/>
          <p:cNvSpPr/>
          <p:nvPr/>
        </p:nvSpPr>
        <p:spPr>
          <a:xfrm>
            <a:off x="429768" y="1133856"/>
            <a:ext cx="0" cy="566928"/>
          </a:xfrm>
          <a:prstGeom prst="line">
            <a:avLst/>
          </a:prstGeom>
          <a:noFill/>
          <a:ln w="12700">
            <a:solidFill>
              <a:srgbClr val="D1D5DB"/>
            </a:solidFill>
            <a:prstDash val="solid"/>
          </a:ln>
        </p:spPr>
      </p:sp>
      <p:sp>
        <p:nvSpPr>
          <p:cNvPr id="7" name="Text 5"/>
          <p:cNvSpPr/>
          <p:nvPr/>
        </p:nvSpPr>
        <p:spPr>
          <a:xfrm>
            <a:off x="658368" y="832104"/>
            <a:ext cx="658368" cy="256032"/>
          </a:xfrm>
          <a:prstGeom prst="rect">
            <a:avLst/>
          </a:prstGeom>
          <a:noFill/>
        </p:spPr>
        <p:txBody>
          <a:bodyPr wrap="square" lIns="0" tIns="0" rIns="0" bIns="0" rtlCol="0" anchor="ctr"/>
          <a:lstStyle/>
          <a:p>
            <a:pPr marL="0" indent="0">
              <a:buNone/>
            </a:pPr>
            <a:r>
              <a:rPr lang="en-US" sz="1150" b="1" dirty="0">
                <a:solidFill>
                  <a:srgbClr val="2A6BAE"/>
                </a:solidFill>
                <a:latin typeface="メイリオ" panose="020B0604030504040204" pitchFamily="34" charset="-128"/>
                <a:ea typeface="メイリオ" panose="020B0604030504040204" pitchFamily="34" charset="-122"/>
                <a:cs typeface="メイリオ" panose="020B0604030504040204" pitchFamily="34" charset="-120"/>
              </a:rPr>
              <a:t>08:00</a:t>
            </a:r>
            <a:endParaRPr lang="en-US" sz="1150" dirty="0"/>
          </a:p>
        </p:txBody>
      </p:sp>
      <p:sp>
        <p:nvSpPr>
          <p:cNvPr id="8" name="Text 6"/>
          <p:cNvSpPr/>
          <p:nvPr/>
        </p:nvSpPr>
        <p:spPr>
          <a:xfrm>
            <a:off x="1371600" y="832104"/>
            <a:ext cx="3337560" cy="256032"/>
          </a:xfrm>
          <a:prstGeom prst="rect">
            <a:avLst/>
          </a:prstGeom>
          <a:noFill/>
        </p:spPr>
        <p:txBody>
          <a:bodyPr wrap="square" lIns="0" tIns="0" rIns="0" bIns="0" rtlCol="0" anchor="ctr"/>
          <a:lstStyle/>
          <a:p>
            <a:pPr marL="0" indent="0">
              <a:buNone/>
            </a:pPr>
            <a:r>
              <a:rPr lang="en-US" sz="115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渋沢駅 集合（北口バス停へ）</a:t>
            </a:r>
            <a:endParaRPr lang="en-US" sz="1150" dirty="0"/>
          </a:p>
        </p:txBody>
      </p:sp>
      <p:sp>
        <p:nvSpPr>
          <p:cNvPr id="9" name="Shape 7"/>
          <p:cNvSpPr/>
          <p:nvPr/>
        </p:nvSpPr>
        <p:spPr>
          <a:xfrm>
            <a:off x="310896" y="1719072"/>
            <a:ext cx="237744" cy="237744"/>
          </a:xfrm>
          <a:prstGeom prst="ellipse">
            <a:avLst/>
          </a:prstGeom>
          <a:solidFill>
            <a:srgbClr val="2A6BAE"/>
          </a:solidFill>
          <a:ln w="12700">
            <a:solidFill>
              <a:srgbClr val="2A6BAE"/>
            </a:solidFill>
            <a:prstDash val="solid"/>
          </a:ln>
        </p:spPr>
      </p:sp>
      <p:sp>
        <p:nvSpPr>
          <p:cNvPr id="10" name="Shape 8"/>
          <p:cNvSpPr/>
          <p:nvPr/>
        </p:nvSpPr>
        <p:spPr>
          <a:xfrm>
            <a:off x="429768" y="1975104"/>
            <a:ext cx="0" cy="566928"/>
          </a:xfrm>
          <a:prstGeom prst="line">
            <a:avLst/>
          </a:prstGeom>
          <a:noFill/>
          <a:ln w="12700">
            <a:solidFill>
              <a:srgbClr val="D1D5DB"/>
            </a:solidFill>
            <a:prstDash val="solid"/>
          </a:ln>
        </p:spPr>
      </p:sp>
      <p:sp>
        <p:nvSpPr>
          <p:cNvPr id="11" name="Text 9"/>
          <p:cNvSpPr/>
          <p:nvPr/>
        </p:nvSpPr>
        <p:spPr>
          <a:xfrm>
            <a:off x="658368" y="1673352"/>
            <a:ext cx="658368" cy="256032"/>
          </a:xfrm>
          <a:prstGeom prst="rect">
            <a:avLst/>
          </a:prstGeom>
          <a:noFill/>
        </p:spPr>
        <p:txBody>
          <a:bodyPr wrap="square" lIns="0" tIns="0" rIns="0" bIns="0" rtlCol="0" anchor="ctr"/>
          <a:lstStyle/>
          <a:p>
            <a:pPr marL="0" indent="0">
              <a:buNone/>
            </a:pPr>
            <a:r>
              <a:rPr lang="en-US" sz="1150" b="1" dirty="0">
                <a:solidFill>
                  <a:srgbClr val="2A6BAE"/>
                </a:solidFill>
                <a:latin typeface="メイリオ" panose="020B0604030504040204" pitchFamily="34" charset="-128"/>
                <a:ea typeface="メイリオ" panose="020B0604030504040204" pitchFamily="34" charset="-122"/>
                <a:cs typeface="メイリオ" panose="020B0604030504040204" pitchFamily="34" charset="-120"/>
              </a:rPr>
              <a:t>08:15</a:t>
            </a:r>
            <a:endParaRPr lang="en-US" sz="1150" dirty="0"/>
          </a:p>
        </p:txBody>
      </p:sp>
      <p:sp>
        <p:nvSpPr>
          <p:cNvPr id="12" name="Text 10"/>
          <p:cNvSpPr/>
          <p:nvPr/>
        </p:nvSpPr>
        <p:spPr>
          <a:xfrm>
            <a:off x="1371600" y="1673352"/>
            <a:ext cx="3337560" cy="256032"/>
          </a:xfrm>
          <a:prstGeom prst="rect">
            <a:avLst/>
          </a:prstGeom>
          <a:noFill/>
        </p:spPr>
        <p:txBody>
          <a:bodyPr wrap="square" lIns="0" tIns="0" rIns="0" bIns="0" rtlCol="0" anchor="ctr"/>
          <a:lstStyle/>
          <a:p>
            <a:pPr marL="0" indent="0">
              <a:buNone/>
            </a:pPr>
            <a:r>
              <a:rPr lang="en-US" sz="115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大倉行バス乗車（約15分）→ 大倉BS着</a:t>
            </a:r>
            <a:endParaRPr lang="en-US" sz="1150" dirty="0"/>
          </a:p>
        </p:txBody>
      </p:sp>
      <p:sp>
        <p:nvSpPr>
          <p:cNvPr id="13" name="Shape 11"/>
          <p:cNvSpPr/>
          <p:nvPr/>
        </p:nvSpPr>
        <p:spPr>
          <a:xfrm>
            <a:off x="310896" y="2560320"/>
            <a:ext cx="237744" cy="237744"/>
          </a:xfrm>
          <a:prstGeom prst="ellipse">
            <a:avLst/>
          </a:prstGeom>
          <a:solidFill>
            <a:srgbClr val="2C6B3A"/>
          </a:solidFill>
          <a:ln w="12700">
            <a:solidFill>
              <a:srgbClr val="2C6B3A"/>
            </a:solidFill>
            <a:prstDash val="solid"/>
          </a:ln>
        </p:spPr>
      </p:sp>
      <p:sp>
        <p:nvSpPr>
          <p:cNvPr id="14" name="Shape 12"/>
          <p:cNvSpPr/>
          <p:nvPr/>
        </p:nvSpPr>
        <p:spPr>
          <a:xfrm>
            <a:off x="429768" y="2816352"/>
            <a:ext cx="0" cy="566928"/>
          </a:xfrm>
          <a:prstGeom prst="line">
            <a:avLst/>
          </a:prstGeom>
          <a:noFill/>
          <a:ln w="12700">
            <a:solidFill>
              <a:srgbClr val="D1D5DB"/>
            </a:solidFill>
            <a:prstDash val="solid"/>
          </a:ln>
        </p:spPr>
      </p:sp>
      <p:sp>
        <p:nvSpPr>
          <p:cNvPr id="15" name="Text 13"/>
          <p:cNvSpPr/>
          <p:nvPr/>
        </p:nvSpPr>
        <p:spPr>
          <a:xfrm>
            <a:off x="658368" y="2514600"/>
            <a:ext cx="658368" cy="256032"/>
          </a:xfrm>
          <a:prstGeom prst="rect">
            <a:avLst/>
          </a:prstGeom>
          <a:noFill/>
        </p:spPr>
        <p:txBody>
          <a:bodyPr wrap="square" lIns="0" tIns="0" rIns="0" bIns="0" rtlCol="0" anchor="ctr"/>
          <a:lstStyle/>
          <a:p>
            <a:pPr marL="0" indent="0">
              <a:buNone/>
            </a:pPr>
            <a:r>
              <a:rPr lang="en-US" sz="1150" b="1" dirty="0">
                <a:solidFill>
                  <a:srgbClr val="2C6B3A"/>
                </a:solidFill>
                <a:latin typeface="メイリオ" panose="020B0604030504040204" pitchFamily="34" charset="-128"/>
                <a:ea typeface="メイリオ" panose="020B0604030504040204" pitchFamily="34" charset="-122"/>
                <a:cs typeface="メイリオ" panose="020B0604030504040204" pitchFamily="34" charset="-120"/>
              </a:rPr>
              <a:t>08:35</a:t>
            </a:r>
            <a:endParaRPr lang="en-US" sz="1150" dirty="0"/>
          </a:p>
        </p:txBody>
      </p:sp>
      <p:sp>
        <p:nvSpPr>
          <p:cNvPr id="16" name="Text 14"/>
          <p:cNvSpPr/>
          <p:nvPr/>
        </p:nvSpPr>
        <p:spPr>
          <a:xfrm>
            <a:off x="1371600" y="2514600"/>
            <a:ext cx="3337560" cy="256032"/>
          </a:xfrm>
          <a:prstGeom prst="rect">
            <a:avLst/>
          </a:prstGeom>
          <a:noFill/>
        </p:spPr>
        <p:txBody>
          <a:bodyPr wrap="square" lIns="0" tIns="0" rIns="0" bIns="0" rtlCol="0" anchor="ctr"/>
          <a:lstStyle/>
          <a:p>
            <a:pPr marL="0" indent="0">
              <a:buNone/>
            </a:pPr>
            <a:r>
              <a:rPr lang="en-US" sz="115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大倉登山口 登山スタート 🥾</a:t>
            </a:r>
            <a:endParaRPr lang="en-US" sz="1150" dirty="0"/>
          </a:p>
        </p:txBody>
      </p:sp>
      <p:sp>
        <p:nvSpPr>
          <p:cNvPr id="17" name="Shape 15"/>
          <p:cNvSpPr/>
          <p:nvPr/>
        </p:nvSpPr>
        <p:spPr>
          <a:xfrm>
            <a:off x="310896" y="3401568"/>
            <a:ext cx="237744" cy="237744"/>
          </a:xfrm>
          <a:prstGeom prst="ellipse">
            <a:avLst/>
          </a:prstGeom>
          <a:solidFill>
            <a:srgbClr val="2C6B3A"/>
          </a:solidFill>
          <a:ln w="12700">
            <a:solidFill>
              <a:srgbClr val="2C6B3A"/>
            </a:solidFill>
            <a:prstDash val="solid"/>
          </a:ln>
        </p:spPr>
      </p:sp>
      <p:sp>
        <p:nvSpPr>
          <p:cNvPr id="18" name="Shape 16"/>
          <p:cNvSpPr/>
          <p:nvPr/>
        </p:nvSpPr>
        <p:spPr>
          <a:xfrm>
            <a:off x="429768" y="3657600"/>
            <a:ext cx="0" cy="566928"/>
          </a:xfrm>
          <a:prstGeom prst="line">
            <a:avLst/>
          </a:prstGeom>
          <a:noFill/>
          <a:ln w="12700">
            <a:solidFill>
              <a:srgbClr val="D1D5DB"/>
            </a:solidFill>
            <a:prstDash val="solid"/>
          </a:ln>
        </p:spPr>
      </p:sp>
      <p:sp>
        <p:nvSpPr>
          <p:cNvPr id="19" name="Text 17"/>
          <p:cNvSpPr/>
          <p:nvPr/>
        </p:nvSpPr>
        <p:spPr>
          <a:xfrm>
            <a:off x="658368" y="3355848"/>
            <a:ext cx="658368" cy="256032"/>
          </a:xfrm>
          <a:prstGeom prst="rect">
            <a:avLst/>
          </a:prstGeom>
          <a:noFill/>
        </p:spPr>
        <p:txBody>
          <a:bodyPr wrap="square" lIns="0" tIns="0" rIns="0" bIns="0" rtlCol="0" anchor="ctr"/>
          <a:lstStyle/>
          <a:p>
            <a:pPr marL="0" indent="0">
              <a:buNone/>
            </a:pPr>
            <a:r>
              <a:rPr lang="en-US" sz="1150" b="1" dirty="0">
                <a:solidFill>
                  <a:srgbClr val="2C6B3A"/>
                </a:solidFill>
                <a:latin typeface="メイリオ" panose="020B0604030504040204" pitchFamily="34" charset="-128"/>
                <a:ea typeface="メイリオ" panose="020B0604030504040204" pitchFamily="34" charset="-122"/>
                <a:cs typeface="メイリオ" panose="020B0604030504040204" pitchFamily="34" charset="-120"/>
              </a:rPr>
              <a:t>09:30</a:t>
            </a:r>
            <a:endParaRPr lang="en-US" sz="1150" dirty="0"/>
          </a:p>
        </p:txBody>
      </p:sp>
      <p:sp>
        <p:nvSpPr>
          <p:cNvPr id="20" name="Text 18"/>
          <p:cNvSpPr/>
          <p:nvPr/>
        </p:nvSpPr>
        <p:spPr>
          <a:xfrm>
            <a:off x="1371600" y="3355848"/>
            <a:ext cx="3337560" cy="256032"/>
          </a:xfrm>
          <a:prstGeom prst="rect">
            <a:avLst/>
          </a:prstGeom>
          <a:noFill/>
        </p:spPr>
        <p:txBody>
          <a:bodyPr wrap="square" lIns="0" tIns="0" rIns="0" bIns="0" rtlCol="0" anchor="ctr"/>
          <a:lstStyle/>
          <a:p>
            <a:pPr marL="0" indent="0">
              <a:buNone/>
            </a:pPr>
            <a:r>
              <a:rPr lang="en-US" sz="115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二俣（分岐）通過 ―― 沢沿いの気持ちいい道</a:t>
            </a:r>
            <a:endParaRPr lang="en-US" sz="1150" dirty="0"/>
          </a:p>
        </p:txBody>
      </p:sp>
      <p:sp>
        <p:nvSpPr>
          <p:cNvPr id="21" name="Shape 19"/>
          <p:cNvSpPr/>
          <p:nvPr/>
        </p:nvSpPr>
        <p:spPr>
          <a:xfrm>
            <a:off x="310896" y="4242816"/>
            <a:ext cx="237744" cy="237744"/>
          </a:xfrm>
          <a:prstGeom prst="ellipse">
            <a:avLst/>
          </a:prstGeom>
          <a:solidFill>
            <a:srgbClr val="7A4520"/>
          </a:solidFill>
          <a:ln w="12700">
            <a:solidFill>
              <a:srgbClr val="7A4520"/>
            </a:solidFill>
            <a:prstDash val="solid"/>
          </a:ln>
        </p:spPr>
      </p:sp>
      <p:sp>
        <p:nvSpPr>
          <p:cNvPr id="22" name="Text 20"/>
          <p:cNvSpPr/>
          <p:nvPr/>
        </p:nvSpPr>
        <p:spPr>
          <a:xfrm>
            <a:off x="658368" y="4197096"/>
            <a:ext cx="658368" cy="256032"/>
          </a:xfrm>
          <a:prstGeom prst="rect">
            <a:avLst/>
          </a:prstGeom>
          <a:noFill/>
        </p:spPr>
        <p:txBody>
          <a:bodyPr wrap="square" lIns="0" tIns="0" rIns="0" bIns="0" rtlCol="0" anchor="ctr"/>
          <a:lstStyle/>
          <a:p>
            <a:pPr marL="0" indent="0">
              <a:buNone/>
            </a:pPr>
            <a:r>
              <a:rPr lang="en-US" sz="1150" b="1" dirty="0">
                <a:solidFill>
                  <a:srgbClr val="7A4520"/>
                </a:solidFill>
                <a:latin typeface="メイリオ" panose="020B0604030504040204" pitchFamily="34" charset="-128"/>
                <a:ea typeface="メイリオ" panose="020B0604030504040204" pitchFamily="34" charset="-122"/>
                <a:cs typeface="メイリオ" panose="020B0604030504040204" pitchFamily="34" charset="-120"/>
              </a:rPr>
              <a:t>10:15</a:t>
            </a:r>
            <a:endParaRPr lang="en-US" sz="1150" dirty="0"/>
          </a:p>
        </p:txBody>
      </p:sp>
      <p:sp>
        <p:nvSpPr>
          <p:cNvPr id="23" name="Text 21"/>
          <p:cNvSpPr/>
          <p:nvPr/>
        </p:nvSpPr>
        <p:spPr>
          <a:xfrm>
            <a:off x="1371600" y="4197096"/>
            <a:ext cx="3337560" cy="256032"/>
          </a:xfrm>
          <a:prstGeom prst="rect">
            <a:avLst/>
          </a:prstGeom>
          <a:noFill/>
        </p:spPr>
        <p:txBody>
          <a:bodyPr wrap="square" lIns="0" tIns="0" rIns="0" bIns="0" rtlCol="0" anchor="ctr"/>
          <a:lstStyle/>
          <a:p>
            <a:pPr marL="0" indent="0">
              <a:buNone/>
            </a:pPr>
            <a:r>
              <a:rPr lang="en-US" sz="115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後沢乗越 ―― ここから急登スタート！</a:t>
            </a:r>
            <a:endParaRPr lang="en-US" sz="1150" dirty="0"/>
          </a:p>
        </p:txBody>
      </p:sp>
      <p:sp>
        <p:nvSpPr>
          <p:cNvPr id="24" name="Shape 22"/>
          <p:cNvSpPr/>
          <p:nvPr/>
        </p:nvSpPr>
        <p:spPr>
          <a:xfrm>
            <a:off x="4773168" y="877824"/>
            <a:ext cx="237744" cy="237744"/>
          </a:xfrm>
          <a:prstGeom prst="ellipse">
            <a:avLst/>
          </a:prstGeom>
          <a:solidFill>
            <a:srgbClr val="2C6B3A"/>
          </a:solidFill>
          <a:ln w="12700">
            <a:solidFill>
              <a:srgbClr val="2C6B3A"/>
            </a:solidFill>
            <a:prstDash val="solid"/>
          </a:ln>
        </p:spPr>
      </p:sp>
      <p:sp>
        <p:nvSpPr>
          <p:cNvPr id="25" name="Shape 23"/>
          <p:cNvSpPr/>
          <p:nvPr/>
        </p:nvSpPr>
        <p:spPr>
          <a:xfrm>
            <a:off x="4892040" y="1133856"/>
            <a:ext cx="0" cy="566928"/>
          </a:xfrm>
          <a:prstGeom prst="line">
            <a:avLst/>
          </a:prstGeom>
          <a:noFill/>
          <a:ln w="12700">
            <a:solidFill>
              <a:srgbClr val="D1D5DB"/>
            </a:solidFill>
            <a:prstDash val="solid"/>
          </a:ln>
        </p:spPr>
      </p:sp>
      <p:sp>
        <p:nvSpPr>
          <p:cNvPr id="26" name="Text 24"/>
          <p:cNvSpPr/>
          <p:nvPr/>
        </p:nvSpPr>
        <p:spPr>
          <a:xfrm>
            <a:off x="5120640" y="832104"/>
            <a:ext cx="658368" cy="256032"/>
          </a:xfrm>
          <a:prstGeom prst="rect">
            <a:avLst/>
          </a:prstGeom>
          <a:noFill/>
        </p:spPr>
        <p:txBody>
          <a:bodyPr wrap="square" lIns="0" tIns="0" rIns="0" bIns="0" rtlCol="0" anchor="ctr"/>
          <a:lstStyle/>
          <a:p>
            <a:pPr marL="0" indent="0">
              <a:buNone/>
            </a:pPr>
            <a:r>
              <a:rPr lang="en-US" sz="1150" b="1" dirty="0">
                <a:solidFill>
                  <a:srgbClr val="2C6B3A"/>
                </a:solidFill>
                <a:latin typeface="メイリオ" panose="020B0604030504040204" pitchFamily="34" charset="-128"/>
                <a:ea typeface="メイリオ" panose="020B0604030504040204" pitchFamily="34" charset="-122"/>
                <a:cs typeface="メイリオ" panose="020B0604030504040204" pitchFamily="34" charset="-120"/>
              </a:rPr>
              <a:t>11:30</a:t>
            </a:r>
            <a:endParaRPr lang="en-US" sz="1150" dirty="0"/>
          </a:p>
        </p:txBody>
      </p:sp>
      <p:sp>
        <p:nvSpPr>
          <p:cNvPr id="27" name="Text 25"/>
          <p:cNvSpPr/>
          <p:nvPr/>
        </p:nvSpPr>
        <p:spPr>
          <a:xfrm>
            <a:off x="5833872" y="832104"/>
            <a:ext cx="3337560" cy="256032"/>
          </a:xfrm>
          <a:prstGeom prst="rect">
            <a:avLst/>
          </a:prstGeom>
          <a:noFill/>
        </p:spPr>
        <p:txBody>
          <a:bodyPr wrap="square" lIns="0" tIns="0" rIns="0" bIns="0" rtlCol="0" anchor="ctr"/>
          <a:lstStyle/>
          <a:p>
            <a:pPr marL="0" indent="0">
              <a:buNone/>
            </a:pPr>
            <a:r>
              <a:rPr lang="en-US" sz="115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鍋割山 山頂（1,272m）到着 🎉</a:t>
            </a:r>
            <a:endParaRPr lang="en-US" sz="1150" dirty="0"/>
          </a:p>
        </p:txBody>
      </p:sp>
      <p:sp>
        <p:nvSpPr>
          <p:cNvPr id="28" name="Shape 26"/>
          <p:cNvSpPr/>
          <p:nvPr/>
        </p:nvSpPr>
        <p:spPr>
          <a:xfrm>
            <a:off x="4773168" y="1719072"/>
            <a:ext cx="237744" cy="237744"/>
          </a:xfrm>
          <a:prstGeom prst="ellipse">
            <a:avLst/>
          </a:prstGeom>
          <a:solidFill>
            <a:srgbClr val="D4860E"/>
          </a:solidFill>
          <a:ln w="12700">
            <a:solidFill>
              <a:srgbClr val="D4860E"/>
            </a:solidFill>
            <a:prstDash val="solid"/>
          </a:ln>
        </p:spPr>
      </p:sp>
      <p:sp>
        <p:nvSpPr>
          <p:cNvPr id="29" name="Shape 27"/>
          <p:cNvSpPr/>
          <p:nvPr/>
        </p:nvSpPr>
        <p:spPr>
          <a:xfrm>
            <a:off x="4892040" y="1975104"/>
            <a:ext cx="0" cy="566928"/>
          </a:xfrm>
          <a:prstGeom prst="line">
            <a:avLst/>
          </a:prstGeom>
          <a:noFill/>
          <a:ln w="12700">
            <a:solidFill>
              <a:srgbClr val="D1D5DB"/>
            </a:solidFill>
            <a:prstDash val="solid"/>
          </a:ln>
        </p:spPr>
      </p:sp>
      <p:sp>
        <p:nvSpPr>
          <p:cNvPr id="30" name="Text 28"/>
          <p:cNvSpPr/>
          <p:nvPr/>
        </p:nvSpPr>
        <p:spPr>
          <a:xfrm>
            <a:off x="5120640" y="1673352"/>
            <a:ext cx="658368" cy="256032"/>
          </a:xfrm>
          <a:prstGeom prst="rect">
            <a:avLst/>
          </a:prstGeom>
          <a:noFill/>
        </p:spPr>
        <p:txBody>
          <a:bodyPr wrap="square" lIns="0" tIns="0" rIns="0" bIns="0" rtlCol="0" anchor="ctr"/>
          <a:lstStyle/>
          <a:p>
            <a:pPr marL="0" indent="0">
              <a:buNone/>
            </a:pPr>
            <a:r>
              <a:rPr lang="en-US" sz="1150" b="1" dirty="0">
                <a:solidFill>
                  <a:srgbClr val="D4860E"/>
                </a:solidFill>
                <a:latin typeface="メイリオ" panose="020B0604030504040204" pitchFamily="34" charset="-128"/>
                <a:ea typeface="メイリオ" panose="020B0604030504040204" pitchFamily="34" charset="-122"/>
                <a:cs typeface="メイリオ" panose="020B0604030504040204" pitchFamily="34" charset="-120"/>
              </a:rPr>
              <a:t>11:30</a:t>
            </a:r>
            <a:endParaRPr lang="en-US" sz="1150" dirty="0"/>
          </a:p>
        </p:txBody>
      </p:sp>
      <p:sp>
        <p:nvSpPr>
          <p:cNvPr id="31" name="Text 29"/>
          <p:cNvSpPr/>
          <p:nvPr/>
        </p:nvSpPr>
        <p:spPr>
          <a:xfrm>
            <a:off x="5833872" y="1673352"/>
            <a:ext cx="3337560" cy="256032"/>
          </a:xfrm>
          <a:prstGeom prst="rect">
            <a:avLst/>
          </a:prstGeom>
          <a:noFill/>
        </p:spPr>
        <p:txBody>
          <a:bodyPr wrap="square" lIns="0" tIns="0" rIns="0" bIns="0" rtlCol="0" anchor="ctr"/>
          <a:lstStyle/>
          <a:p>
            <a:pPr marL="0" indent="0">
              <a:buNone/>
            </a:pPr>
            <a:r>
              <a:rPr lang="en-US" sz="115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 鍋焼きうどん（並んで食べよう！） 〜12:00</a:t>
            </a:r>
            <a:endParaRPr lang="en-US" sz="1150" dirty="0"/>
          </a:p>
        </p:txBody>
      </p:sp>
      <p:sp>
        <p:nvSpPr>
          <p:cNvPr id="32" name="Shape 30"/>
          <p:cNvSpPr/>
          <p:nvPr/>
        </p:nvSpPr>
        <p:spPr>
          <a:xfrm>
            <a:off x="4773168" y="2560320"/>
            <a:ext cx="237744" cy="237744"/>
          </a:xfrm>
          <a:prstGeom prst="ellipse">
            <a:avLst/>
          </a:prstGeom>
          <a:solidFill>
            <a:srgbClr val="7A4520"/>
          </a:solidFill>
          <a:ln w="12700">
            <a:solidFill>
              <a:srgbClr val="7A4520"/>
            </a:solidFill>
            <a:prstDash val="solid"/>
          </a:ln>
        </p:spPr>
      </p:sp>
      <p:sp>
        <p:nvSpPr>
          <p:cNvPr id="33" name="Shape 31"/>
          <p:cNvSpPr/>
          <p:nvPr/>
        </p:nvSpPr>
        <p:spPr>
          <a:xfrm>
            <a:off x="4892040" y="2816352"/>
            <a:ext cx="0" cy="566928"/>
          </a:xfrm>
          <a:prstGeom prst="line">
            <a:avLst/>
          </a:prstGeom>
          <a:noFill/>
          <a:ln w="12700">
            <a:solidFill>
              <a:srgbClr val="D1D5DB"/>
            </a:solidFill>
            <a:prstDash val="solid"/>
          </a:ln>
        </p:spPr>
      </p:sp>
      <p:sp>
        <p:nvSpPr>
          <p:cNvPr id="34" name="Text 32"/>
          <p:cNvSpPr/>
          <p:nvPr/>
        </p:nvSpPr>
        <p:spPr>
          <a:xfrm>
            <a:off x="5120640" y="2514600"/>
            <a:ext cx="658368" cy="256032"/>
          </a:xfrm>
          <a:prstGeom prst="rect">
            <a:avLst/>
          </a:prstGeom>
          <a:noFill/>
        </p:spPr>
        <p:txBody>
          <a:bodyPr wrap="square" lIns="0" tIns="0" rIns="0" bIns="0" rtlCol="0" anchor="ctr"/>
          <a:lstStyle/>
          <a:p>
            <a:pPr marL="0" indent="0">
              <a:buNone/>
            </a:pPr>
            <a:r>
              <a:rPr lang="en-US" sz="1150" b="1" dirty="0">
                <a:solidFill>
                  <a:srgbClr val="7A4520"/>
                </a:solidFill>
                <a:latin typeface="メイリオ" panose="020B0604030504040204" pitchFamily="34" charset="-128"/>
                <a:ea typeface="メイリオ" panose="020B0604030504040204" pitchFamily="34" charset="-122"/>
                <a:cs typeface="メイリオ" panose="020B0604030504040204" pitchFamily="34" charset="-120"/>
              </a:rPr>
              <a:t>12:00</a:t>
            </a:r>
            <a:endParaRPr lang="en-US" sz="1150" dirty="0"/>
          </a:p>
        </p:txBody>
      </p:sp>
      <p:sp>
        <p:nvSpPr>
          <p:cNvPr id="35" name="Text 33"/>
          <p:cNvSpPr/>
          <p:nvPr/>
        </p:nvSpPr>
        <p:spPr>
          <a:xfrm>
            <a:off x="5833872" y="2514600"/>
            <a:ext cx="3337560" cy="256032"/>
          </a:xfrm>
          <a:prstGeom prst="rect">
            <a:avLst/>
          </a:prstGeom>
          <a:noFill/>
        </p:spPr>
        <p:txBody>
          <a:bodyPr wrap="square" lIns="0" tIns="0" rIns="0" bIns="0" rtlCol="0" anchor="ctr"/>
          <a:lstStyle/>
          <a:p>
            <a:pPr marL="0" indent="0">
              <a:buNone/>
            </a:pPr>
            <a:r>
              <a:rPr lang="en-US" sz="115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下山開始（往路を戻る・約2.5時間）</a:t>
            </a:r>
            <a:endParaRPr lang="en-US" sz="1150" dirty="0"/>
          </a:p>
        </p:txBody>
      </p:sp>
      <p:sp>
        <p:nvSpPr>
          <p:cNvPr id="36" name="Shape 34"/>
          <p:cNvSpPr/>
          <p:nvPr/>
        </p:nvSpPr>
        <p:spPr>
          <a:xfrm>
            <a:off x="4773168" y="3401568"/>
            <a:ext cx="237744" cy="237744"/>
          </a:xfrm>
          <a:prstGeom prst="ellipse">
            <a:avLst/>
          </a:prstGeom>
          <a:solidFill>
            <a:srgbClr val="2A6BAE"/>
          </a:solidFill>
          <a:ln w="12700">
            <a:solidFill>
              <a:srgbClr val="2A6BAE"/>
            </a:solidFill>
            <a:prstDash val="solid"/>
          </a:ln>
        </p:spPr>
      </p:sp>
      <p:sp>
        <p:nvSpPr>
          <p:cNvPr id="37" name="Shape 35"/>
          <p:cNvSpPr/>
          <p:nvPr/>
        </p:nvSpPr>
        <p:spPr>
          <a:xfrm>
            <a:off x="4892040" y="3657600"/>
            <a:ext cx="0" cy="566928"/>
          </a:xfrm>
          <a:prstGeom prst="line">
            <a:avLst/>
          </a:prstGeom>
          <a:noFill/>
          <a:ln w="12700">
            <a:solidFill>
              <a:srgbClr val="D1D5DB"/>
            </a:solidFill>
            <a:prstDash val="solid"/>
          </a:ln>
        </p:spPr>
      </p:sp>
      <p:sp>
        <p:nvSpPr>
          <p:cNvPr id="38" name="Text 36"/>
          <p:cNvSpPr/>
          <p:nvPr/>
        </p:nvSpPr>
        <p:spPr>
          <a:xfrm>
            <a:off x="5120640" y="3355848"/>
            <a:ext cx="658368" cy="256032"/>
          </a:xfrm>
          <a:prstGeom prst="rect">
            <a:avLst/>
          </a:prstGeom>
          <a:noFill/>
        </p:spPr>
        <p:txBody>
          <a:bodyPr wrap="square" lIns="0" tIns="0" rIns="0" bIns="0" rtlCol="0" anchor="ctr"/>
          <a:lstStyle/>
          <a:p>
            <a:pPr marL="0" indent="0">
              <a:buNone/>
            </a:pPr>
            <a:r>
              <a:rPr lang="en-US" sz="1150" b="1" dirty="0">
                <a:solidFill>
                  <a:srgbClr val="2A6BAE"/>
                </a:solidFill>
                <a:latin typeface="メイリオ" panose="020B0604030504040204" pitchFamily="34" charset="-128"/>
                <a:ea typeface="メイリオ" panose="020B0604030504040204" pitchFamily="34" charset="-122"/>
                <a:cs typeface="メイリオ" panose="020B0604030504040204" pitchFamily="34" charset="-120"/>
              </a:rPr>
              <a:t>14:30</a:t>
            </a:r>
            <a:endParaRPr lang="en-US" sz="1150" dirty="0"/>
          </a:p>
        </p:txBody>
      </p:sp>
      <p:sp>
        <p:nvSpPr>
          <p:cNvPr id="39" name="Text 37"/>
          <p:cNvSpPr/>
          <p:nvPr/>
        </p:nvSpPr>
        <p:spPr>
          <a:xfrm>
            <a:off x="5833872" y="3355848"/>
            <a:ext cx="3337560" cy="256032"/>
          </a:xfrm>
          <a:prstGeom prst="rect">
            <a:avLst/>
          </a:prstGeom>
          <a:noFill/>
        </p:spPr>
        <p:txBody>
          <a:bodyPr wrap="square" lIns="0" tIns="0" rIns="0" bIns="0" rtlCol="0" anchor="ctr"/>
          <a:lstStyle/>
          <a:p>
            <a:pPr marL="0" indent="0">
              <a:buNone/>
            </a:pPr>
            <a:r>
              <a:rPr lang="en-US" sz="115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大倉BS 下山完了 → バスで渋沢駅へ</a:t>
            </a:r>
            <a:endParaRPr lang="en-US" sz="1150" dirty="0"/>
          </a:p>
        </p:txBody>
      </p:sp>
      <p:sp>
        <p:nvSpPr>
          <p:cNvPr id="40" name="Shape 38"/>
          <p:cNvSpPr/>
          <p:nvPr/>
        </p:nvSpPr>
        <p:spPr>
          <a:xfrm>
            <a:off x="4773168" y="4242816"/>
            <a:ext cx="237744" cy="237744"/>
          </a:xfrm>
          <a:prstGeom prst="ellipse">
            <a:avLst/>
          </a:prstGeom>
          <a:solidFill>
            <a:srgbClr val="2A6BAE"/>
          </a:solidFill>
          <a:ln w="12700">
            <a:solidFill>
              <a:srgbClr val="2A6BAE"/>
            </a:solidFill>
            <a:prstDash val="solid"/>
          </a:ln>
        </p:spPr>
      </p:sp>
      <p:sp>
        <p:nvSpPr>
          <p:cNvPr id="41" name="Text 39"/>
          <p:cNvSpPr/>
          <p:nvPr/>
        </p:nvSpPr>
        <p:spPr>
          <a:xfrm>
            <a:off x="5120640" y="4197096"/>
            <a:ext cx="658368" cy="256032"/>
          </a:xfrm>
          <a:prstGeom prst="rect">
            <a:avLst/>
          </a:prstGeom>
          <a:noFill/>
        </p:spPr>
        <p:txBody>
          <a:bodyPr wrap="square" lIns="0" tIns="0" rIns="0" bIns="0" rtlCol="0" anchor="ctr"/>
          <a:lstStyle/>
          <a:p>
            <a:pPr marL="0" indent="0">
              <a:buNone/>
            </a:pPr>
            <a:r>
              <a:rPr lang="en-US" sz="1150" b="1" dirty="0">
                <a:solidFill>
                  <a:srgbClr val="2A6BAE"/>
                </a:solidFill>
                <a:latin typeface="メイリオ" panose="020B0604030504040204" pitchFamily="34" charset="-128"/>
                <a:ea typeface="メイリオ" panose="020B0604030504040204" pitchFamily="34" charset="-122"/>
                <a:cs typeface="メイリオ" panose="020B0604030504040204" pitchFamily="34" charset="-120"/>
              </a:rPr>
              <a:t>15:00</a:t>
            </a:r>
            <a:endParaRPr lang="en-US" sz="1150" dirty="0"/>
          </a:p>
        </p:txBody>
      </p:sp>
      <p:sp>
        <p:nvSpPr>
          <p:cNvPr id="42" name="Text 40"/>
          <p:cNvSpPr/>
          <p:nvPr/>
        </p:nvSpPr>
        <p:spPr>
          <a:xfrm>
            <a:off x="5833872" y="4197096"/>
            <a:ext cx="3337560" cy="256032"/>
          </a:xfrm>
          <a:prstGeom prst="rect">
            <a:avLst/>
          </a:prstGeom>
          <a:noFill/>
        </p:spPr>
        <p:txBody>
          <a:bodyPr wrap="square" lIns="0" tIns="0" rIns="0" bIns="0" rtlCol="0" anchor="ctr"/>
          <a:lstStyle/>
          <a:p>
            <a:pPr marL="0" indent="0">
              <a:buNone/>
            </a:pPr>
            <a:r>
              <a:rPr lang="en-US" sz="115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渋沢駅 解散（温泉で立ち寄りも◎）</a:t>
            </a:r>
            <a:endParaRPr lang="en-US" sz="1150" dirty="0"/>
          </a:p>
        </p:txBody>
      </p:sp>
      <p:sp>
        <p:nvSpPr>
          <p:cNvPr id="43" name="Shape 41"/>
          <p:cNvSpPr/>
          <p:nvPr/>
        </p:nvSpPr>
        <p:spPr>
          <a:xfrm>
            <a:off x="164338" y="4598289"/>
            <a:ext cx="8741664" cy="237744"/>
          </a:xfrm>
          <a:prstGeom prst="rect">
            <a:avLst/>
          </a:prstGeom>
          <a:solidFill>
            <a:srgbClr val="FEF9C3"/>
          </a:solidFill>
          <a:ln w="12700">
            <a:solidFill>
              <a:srgbClr val="D4860E"/>
            </a:solidFill>
            <a:prstDash val="solid"/>
          </a:ln>
        </p:spPr>
      </p:sp>
      <p:sp>
        <p:nvSpPr>
          <p:cNvPr id="44" name="Text 42"/>
          <p:cNvSpPr/>
          <p:nvPr/>
        </p:nvSpPr>
        <p:spPr>
          <a:xfrm>
            <a:off x="311023" y="4616577"/>
            <a:ext cx="8558784" cy="201168"/>
          </a:xfrm>
          <a:prstGeom prst="rect">
            <a:avLst/>
          </a:prstGeom>
          <a:noFill/>
        </p:spPr>
        <p:txBody>
          <a:bodyPr wrap="square" lIns="0" tIns="0" rIns="0" bIns="0" rtlCol="0" anchor="ctr"/>
          <a:lstStyle/>
          <a:p>
            <a:pPr marL="0" indent="0">
              <a:buNone/>
            </a:pPr>
            <a:r>
              <a:rPr lang="en-US" sz="1150" b="1" dirty="0">
                <a:solidFill>
                  <a:srgbClr val="78350F"/>
                </a:solidFill>
                <a:latin typeface="メイリオ" panose="020B0604030504040204" pitchFamily="34" charset="-128"/>
                <a:ea typeface="メイリオ" panose="020B0604030504040204" pitchFamily="34" charset="-122"/>
                <a:cs typeface="メイリオ" panose="020B0604030504040204" pitchFamily="34" charset="-120"/>
              </a:rPr>
              <a:t>🍜 GWは鍋焼きうどんが早い時間に売り切れます！ 10〜11時に山頂到着できるよう早出が絶対条件！</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AF3"/>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6B3A"/>
          </a:solidFill>
          <a:ln w="12700">
            <a:solidFill>
              <a:srgbClr val="2C6B3A"/>
            </a:solidFill>
            <a:prstDash val="solid"/>
          </a:ln>
        </p:spPr>
      </p:sp>
      <p:sp>
        <p:nvSpPr>
          <p:cNvPr id="3" name="Shape 1"/>
          <p:cNvSpPr/>
          <p:nvPr/>
        </p:nvSpPr>
        <p:spPr>
          <a:xfrm>
            <a:off x="0" y="0"/>
            <a:ext cx="164592" cy="685800"/>
          </a:xfrm>
          <a:prstGeom prst="rect">
            <a:avLst/>
          </a:prstGeom>
          <a:solidFill>
            <a:srgbClr val="7DC87A"/>
          </a:solidFill>
          <a:ln w="12700">
            <a:solidFill>
              <a:srgbClr val="7DC87A"/>
            </a:solidFill>
            <a:prstDash val="solid"/>
          </a:ln>
        </p:spPr>
      </p:sp>
      <p:sp>
        <p:nvSpPr>
          <p:cNvPr id="4" name="Text 2"/>
          <p:cNvSpPr/>
          <p:nvPr/>
        </p:nvSpPr>
        <p:spPr>
          <a:xfrm>
            <a:off x="274320" y="91440"/>
            <a:ext cx="8686800" cy="530352"/>
          </a:xfrm>
          <a:prstGeom prst="rect">
            <a:avLst/>
          </a:prstGeom>
          <a:noFill/>
        </p:spPr>
        <p:txBody>
          <a:bodyPr wrap="square" lIns="0" tIns="0" rIns="0" bIns="0" rtlCol="0" anchor="ctr"/>
          <a:lstStyle/>
          <a:p>
            <a:pPr marL="0" indent="0">
              <a:buNone/>
            </a:pPr>
            <a:r>
              <a:rPr lang="en-US" sz="2400" b="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 鍋割山荘 ＆ 名物鍋焼きうどん</a:t>
            </a:r>
            <a:endParaRPr lang="en-US" sz="2400" dirty="0"/>
          </a:p>
        </p:txBody>
      </p:sp>
      <p:sp>
        <p:nvSpPr>
          <p:cNvPr id="5" name="Shape 3"/>
          <p:cNvSpPr/>
          <p:nvPr/>
        </p:nvSpPr>
        <p:spPr>
          <a:xfrm>
            <a:off x="228600" y="768096"/>
            <a:ext cx="4572000" cy="4187952"/>
          </a:xfrm>
          <a:prstGeom prst="rect">
            <a:avLst/>
          </a:prstGeom>
          <a:solidFill>
            <a:srgbClr val="CCCCCC"/>
          </a:solidFill>
          <a:ln w="12700">
            <a:solidFill>
              <a:srgbClr val="D1D5DB"/>
            </a:solidFill>
            <a:prstDash val="solid"/>
          </a:ln>
          <a:effectLst>
            <a:outerShdw blurRad="101600" dist="38100" dir="8100000" algn="bl" rotWithShape="0">
              <a:srgbClr val="000000">
                <a:alpha val="11000"/>
              </a:srgbClr>
            </a:outerShdw>
          </a:effectLst>
        </p:spPr>
      </p:sp>
      <p:pic>
        <p:nvPicPr>
          <p:cNvPr id="6" name="Image 0" descr="preencoded.png"/>
          <p:cNvPicPr>
            <a:picLocks noChangeAspect="1"/>
          </p:cNvPicPr>
          <p:nvPr/>
        </p:nvPicPr>
        <p:blipFill>
          <a:blip r:embed="rId1"/>
          <a:srcRect/>
          <a:stretch>
            <a:fillRect/>
          </a:stretch>
        </p:blipFill>
        <p:spPr>
          <a:xfrm>
            <a:off x="228600" y="768096"/>
            <a:ext cx="4572000" cy="4187952"/>
          </a:xfrm>
          <a:prstGeom prst="rect">
            <a:avLst/>
          </a:prstGeom>
        </p:spPr>
      </p:pic>
      <p:sp>
        <p:nvSpPr>
          <p:cNvPr id="7" name="Shape 4"/>
          <p:cNvSpPr/>
          <p:nvPr/>
        </p:nvSpPr>
        <p:spPr>
          <a:xfrm>
            <a:off x="228600" y="4663440"/>
            <a:ext cx="4572000" cy="274320"/>
          </a:xfrm>
          <a:prstGeom prst="rect">
            <a:avLst/>
          </a:prstGeom>
          <a:solidFill>
            <a:srgbClr val="000000">
              <a:alpha val="68000"/>
            </a:srgbClr>
          </a:solidFill>
          <a:ln w="12700">
            <a:solidFill>
              <a:srgbClr val="000000">
                <a:alpha val="68000"/>
              </a:srgbClr>
            </a:solidFill>
            <a:prstDash val="solid"/>
          </a:ln>
        </p:spPr>
      </p:sp>
      <p:sp>
        <p:nvSpPr>
          <p:cNvPr id="8" name="Text 5"/>
          <p:cNvSpPr/>
          <p:nvPr/>
        </p:nvSpPr>
        <p:spPr>
          <a:xfrm>
            <a:off x="274320" y="4681728"/>
            <a:ext cx="4480560" cy="219456"/>
          </a:xfrm>
          <a:prstGeom prst="rect">
            <a:avLst/>
          </a:prstGeom>
          <a:noFill/>
        </p:spPr>
        <p:txBody>
          <a:bodyPr wrap="square" lIns="0" tIns="0" rIns="0" bIns="0" rtlCol="0" anchor="ctr"/>
          <a:lstStyle/>
          <a:p>
            <a:pPr marL="0" indent="0" algn="ctr">
              <a:buNone/>
            </a:pPr>
            <a:r>
              <a:rPr lang="en-US" sz="1100" i="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鍋割山荘の名物「鍋焼きうどん」2,000円</a:t>
            </a:r>
            <a:endParaRPr lang="en-US" sz="1100" dirty="0"/>
          </a:p>
        </p:txBody>
      </p:sp>
      <p:sp>
        <p:nvSpPr>
          <p:cNvPr id="9" name="Shape 6"/>
          <p:cNvSpPr/>
          <p:nvPr/>
        </p:nvSpPr>
        <p:spPr>
          <a:xfrm>
            <a:off x="4983480" y="768096"/>
            <a:ext cx="3931920" cy="2724912"/>
          </a:xfrm>
          <a:prstGeom prst="rect">
            <a:avLst/>
          </a:prstGeom>
          <a:solidFill>
            <a:srgbClr val="FFFFFF"/>
          </a:solidFill>
          <a:ln w="25400">
            <a:solidFill>
              <a:srgbClr val="D4860E"/>
            </a:solidFill>
            <a:prstDash val="solid"/>
          </a:ln>
          <a:effectLst>
            <a:outerShdw blurRad="101600" dist="38100" dir="8100000" algn="bl" rotWithShape="0">
              <a:srgbClr val="000000">
                <a:alpha val="11000"/>
              </a:srgbClr>
            </a:outerShdw>
          </a:effectLst>
        </p:spPr>
      </p:sp>
      <p:sp>
        <p:nvSpPr>
          <p:cNvPr id="10" name="Shape 7"/>
          <p:cNvSpPr/>
          <p:nvPr/>
        </p:nvSpPr>
        <p:spPr>
          <a:xfrm>
            <a:off x="4983480" y="768096"/>
            <a:ext cx="3931920" cy="329184"/>
          </a:xfrm>
          <a:prstGeom prst="rect">
            <a:avLst/>
          </a:prstGeom>
          <a:solidFill>
            <a:srgbClr val="D4860E"/>
          </a:solidFill>
          <a:ln w="12700">
            <a:solidFill>
              <a:srgbClr val="D4860E"/>
            </a:solidFill>
            <a:prstDash val="solid"/>
          </a:ln>
        </p:spPr>
      </p:sp>
      <p:sp>
        <p:nvSpPr>
          <p:cNvPr id="11" name="Text 8"/>
          <p:cNvSpPr/>
          <p:nvPr/>
        </p:nvSpPr>
        <p:spPr>
          <a:xfrm>
            <a:off x="5074920" y="786384"/>
            <a:ext cx="3749040" cy="256032"/>
          </a:xfrm>
          <a:prstGeom prst="rect">
            <a:avLst/>
          </a:prstGeom>
          <a:noFill/>
        </p:spPr>
        <p:txBody>
          <a:bodyPr wrap="square" lIns="0" tIns="0" rIns="0" bIns="0" rtlCol="0" anchor="ctr"/>
          <a:lstStyle/>
          <a:p>
            <a:pPr marL="0" indent="0">
              <a:buNone/>
            </a:pPr>
            <a:r>
              <a:rPr lang="en-US" sz="1300" b="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  鍋割山荘 営業情報</a:t>
            </a:r>
            <a:endParaRPr lang="en-US" sz="1300" dirty="0"/>
          </a:p>
        </p:txBody>
      </p:sp>
      <p:sp>
        <p:nvSpPr>
          <p:cNvPr id="12" name="Text 9"/>
          <p:cNvSpPr/>
          <p:nvPr/>
        </p:nvSpPr>
        <p:spPr>
          <a:xfrm>
            <a:off x="5102352" y="1170432"/>
            <a:ext cx="1097280" cy="347472"/>
          </a:xfrm>
          <a:prstGeom prst="rect">
            <a:avLst/>
          </a:prstGeom>
          <a:noFill/>
        </p:spPr>
        <p:txBody>
          <a:bodyPr wrap="square" lIns="0" tIns="0" rIns="0" bIns="0" rtlCol="0" anchor="ctr"/>
          <a:lstStyle/>
          <a:p>
            <a:pPr marL="0" indent="0">
              <a:buNone/>
            </a:pPr>
            <a:r>
              <a:rPr lang="en-US" sz="1200" b="1" dirty="0">
                <a:solidFill>
                  <a:srgbClr val="D4860E"/>
                </a:solidFill>
                <a:latin typeface="メイリオ" panose="020B0604030504040204" pitchFamily="34" charset="-128"/>
                <a:ea typeface="メイリオ" panose="020B0604030504040204" pitchFamily="34" charset="-122"/>
                <a:cs typeface="メイリオ" panose="020B0604030504040204" pitchFamily="34" charset="-120"/>
              </a:rPr>
              <a:t>定休日：</a:t>
            </a:r>
            <a:endParaRPr lang="en-US" sz="1200" dirty="0"/>
          </a:p>
        </p:txBody>
      </p:sp>
      <p:sp>
        <p:nvSpPr>
          <p:cNvPr id="13" name="Text 10"/>
          <p:cNvSpPr/>
          <p:nvPr/>
        </p:nvSpPr>
        <p:spPr>
          <a:xfrm>
            <a:off x="6236208" y="1170432"/>
            <a:ext cx="2578608" cy="347472"/>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月曜・金曜（悪天候は短縮）</a:t>
            </a:r>
            <a:endParaRPr lang="en-US" sz="1200" dirty="0"/>
          </a:p>
        </p:txBody>
      </p:sp>
      <p:sp>
        <p:nvSpPr>
          <p:cNvPr id="14" name="Text 11"/>
          <p:cNvSpPr/>
          <p:nvPr/>
        </p:nvSpPr>
        <p:spPr>
          <a:xfrm>
            <a:off x="5102352" y="1591056"/>
            <a:ext cx="1097280" cy="347472"/>
          </a:xfrm>
          <a:prstGeom prst="rect">
            <a:avLst/>
          </a:prstGeom>
          <a:noFill/>
        </p:spPr>
        <p:txBody>
          <a:bodyPr wrap="square" lIns="0" tIns="0" rIns="0" bIns="0" rtlCol="0" anchor="ctr"/>
          <a:lstStyle/>
          <a:p>
            <a:pPr marL="0" indent="0">
              <a:buNone/>
            </a:pPr>
            <a:r>
              <a:rPr lang="en-US" sz="1200" b="1" dirty="0">
                <a:solidFill>
                  <a:srgbClr val="D4860E"/>
                </a:solidFill>
                <a:latin typeface="メイリオ" panose="020B0604030504040204" pitchFamily="34" charset="-128"/>
                <a:ea typeface="メイリオ" panose="020B0604030504040204" pitchFamily="34" charset="-122"/>
                <a:cs typeface="メイリオ" panose="020B0604030504040204" pitchFamily="34" charset="-120"/>
              </a:rPr>
              <a:t>営業時間：</a:t>
            </a:r>
            <a:endParaRPr lang="en-US" sz="1200" dirty="0"/>
          </a:p>
        </p:txBody>
      </p:sp>
      <p:sp>
        <p:nvSpPr>
          <p:cNvPr id="15" name="Text 12"/>
          <p:cNvSpPr/>
          <p:nvPr/>
        </p:nvSpPr>
        <p:spPr>
          <a:xfrm>
            <a:off x="6236208" y="1591056"/>
            <a:ext cx="2578608" cy="347472"/>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土日祝：10:00〜13:00</a:t>
            </a:r>
            <a:endParaRPr lang="en-US" sz="1200" dirty="0"/>
          </a:p>
        </p:txBody>
      </p:sp>
      <p:sp>
        <p:nvSpPr>
          <p:cNvPr id="16" name="Text 13"/>
          <p:cNvSpPr/>
          <p:nvPr/>
        </p:nvSpPr>
        <p:spPr>
          <a:xfrm>
            <a:off x="5102352" y="2011680"/>
            <a:ext cx="1097280" cy="347472"/>
          </a:xfrm>
          <a:prstGeom prst="rect">
            <a:avLst/>
          </a:prstGeom>
          <a:noFill/>
        </p:spPr>
        <p:txBody>
          <a:bodyPr wrap="square" lIns="0" tIns="0" rIns="0" bIns="0" rtlCol="0" anchor="ctr"/>
          <a:lstStyle/>
          <a:p>
            <a:pPr marL="0" indent="0">
              <a:buNone/>
            </a:pPr>
            <a:r>
              <a:rPr lang="en-US" sz="1200" b="1" dirty="0">
                <a:solidFill>
                  <a:srgbClr val="D4860E"/>
                </a:solidFill>
                <a:latin typeface="メイリオ" panose="020B0604030504040204" pitchFamily="34" charset="-128"/>
                <a:ea typeface="メイリオ" panose="020B0604030504040204" pitchFamily="34" charset="-122"/>
                <a:cs typeface="メイリオ" panose="020B0604030504040204" pitchFamily="34" charset="-120"/>
              </a:rPr>
              <a:t>鍋焼きうどん：</a:t>
            </a:r>
            <a:endParaRPr lang="en-US" sz="1200" dirty="0"/>
          </a:p>
        </p:txBody>
      </p:sp>
      <p:sp>
        <p:nvSpPr>
          <p:cNvPr id="17" name="Text 14"/>
          <p:cNvSpPr/>
          <p:nvPr/>
        </p:nvSpPr>
        <p:spPr>
          <a:xfrm>
            <a:off x="6236208" y="2011680"/>
            <a:ext cx="2578608" cy="347472"/>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2,000円（予約不可）</a:t>
            </a:r>
            <a:endParaRPr lang="en-US" sz="1200" dirty="0"/>
          </a:p>
        </p:txBody>
      </p:sp>
      <p:sp>
        <p:nvSpPr>
          <p:cNvPr id="18" name="Text 15"/>
          <p:cNvSpPr/>
          <p:nvPr/>
        </p:nvSpPr>
        <p:spPr>
          <a:xfrm>
            <a:off x="5102352" y="2432304"/>
            <a:ext cx="1097280" cy="347472"/>
          </a:xfrm>
          <a:prstGeom prst="rect">
            <a:avLst/>
          </a:prstGeom>
          <a:noFill/>
        </p:spPr>
        <p:txBody>
          <a:bodyPr wrap="square" lIns="0" tIns="0" rIns="0" bIns="0" rtlCol="0" anchor="ctr"/>
          <a:lstStyle/>
          <a:p>
            <a:pPr marL="0" indent="0">
              <a:buNone/>
            </a:pPr>
            <a:r>
              <a:rPr lang="en-US" sz="1200" b="1" dirty="0">
                <a:solidFill>
                  <a:srgbClr val="D4860E"/>
                </a:solidFill>
                <a:latin typeface="メイリオ" panose="020B0604030504040204" pitchFamily="34" charset="-128"/>
                <a:ea typeface="メイリオ" panose="020B0604030504040204" pitchFamily="34" charset="-122"/>
                <a:cs typeface="メイリオ" panose="020B0604030504040204" pitchFamily="34" charset="-120"/>
              </a:rPr>
              <a:t>売り切れ：</a:t>
            </a:r>
            <a:endParaRPr lang="en-US" sz="1200" dirty="0"/>
          </a:p>
        </p:txBody>
      </p:sp>
      <p:sp>
        <p:nvSpPr>
          <p:cNvPr id="19" name="Text 16"/>
          <p:cNvSpPr/>
          <p:nvPr/>
        </p:nvSpPr>
        <p:spPr>
          <a:xfrm>
            <a:off x="6236208" y="2432304"/>
            <a:ext cx="2578608" cy="347472"/>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GWは早い時間に終了！</a:t>
            </a:r>
            <a:endParaRPr lang="en-US" sz="1200" dirty="0"/>
          </a:p>
        </p:txBody>
      </p:sp>
      <p:sp>
        <p:nvSpPr>
          <p:cNvPr id="20" name="Text 17"/>
          <p:cNvSpPr/>
          <p:nvPr/>
        </p:nvSpPr>
        <p:spPr>
          <a:xfrm>
            <a:off x="5102352" y="2852928"/>
            <a:ext cx="1097280" cy="347472"/>
          </a:xfrm>
          <a:prstGeom prst="rect">
            <a:avLst/>
          </a:prstGeom>
          <a:noFill/>
        </p:spPr>
        <p:txBody>
          <a:bodyPr wrap="square" lIns="0" tIns="0" rIns="0" bIns="0" rtlCol="0" anchor="ctr"/>
          <a:lstStyle/>
          <a:p>
            <a:pPr marL="0" indent="0">
              <a:buNone/>
            </a:pPr>
            <a:r>
              <a:rPr lang="en-US" sz="1200" b="1" dirty="0">
                <a:solidFill>
                  <a:srgbClr val="D4860E"/>
                </a:solidFill>
                <a:latin typeface="メイリオ" panose="020B0604030504040204" pitchFamily="34" charset="-128"/>
                <a:ea typeface="メイリオ" panose="020B0604030504040204" pitchFamily="34" charset="-122"/>
                <a:cs typeface="メイリオ" panose="020B0604030504040204" pitchFamily="34" charset="-120"/>
              </a:rPr>
              <a:t>注意：</a:t>
            </a:r>
            <a:endParaRPr lang="en-US" sz="1200" dirty="0"/>
          </a:p>
        </p:txBody>
      </p:sp>
      <p:sp>
        <p:nvSpPr>
          <p:cNvPr id="21" name="Text 18"/>
          <p:cNvSpPr/>
          <p:nvPr/>
        </p:nvSpPr>
        <p:spPr>
          <a:xfrm>
            <a:off x="6236208" y="2852928"/>
            <a:ext cx="2578608" cy="347472"/>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並び・山頂の寒さ対策を</a:t>
            </a:r>
            <a:endParaRPr lang="en-US" sz="1200" dirty="0"/>
          </a:p>
        </p:txBody>
      </p:sp>
      <p:sp>
        <p:nvSpPr>
          <p:cNvPr id="22" name="Shape 19"/>
          <p:cNvSpPr/>
          <p:nvPr/>
        </p:nvSpPr>
        <p:spPr>
          <a:xfrm>
            <a:off x="4983480" y="3621024"/>
            <a:ext cx="3931920" cy="1371600"/>
          </a:xfrm>
          <a:prstGeom prst="rect">
            <a:avLst/>
          </a:prstGeom>
          <a:solidFill>
            <a:srgbClr val="FEF9C3"/>
          </a:solidFill>
          <a:ln w="19050">
            <a:solidFill>
              <a:srgbClr val="D4860E"/>
            </a:solidFill>
            <a:prstDash val="solid"/>
          </a:ln>
        </p:spPr>
      </p:sp>
      <p:sp>
        <p:nvSpPr>
          <p:cNvPr id="23" name="Text 20"/>
          <p:cNvSpPr/>
          <p:nvPr/>
        </p:nvSpPr>
        <p:spPr>
          <a:xfrm>
            <a:off x="5102352" y="3675888"/>
            <a:ext cx="3730752" cy="256032"/>
          </a:xfrm>
          <a:prstGeom prst="rect">
            <a:avLst/>
          </a:prstGeom>
          <a:noFill/>
        </p:spPr>
        <p:txBody>
          <a:bodyPr wrap="square" lIns="0" tIns="0" rIns="0" bIns="0" rtlCol="0" anchor="ctr"/>
          <a:lstStyle/>
          <a:p>
            <a:pPr marL="0" indent="0">
              <a:buNone/>
            </a:pPr>
            <a:r>
              <a:rPr lang="en-US" sz="1300" b="1" dirty="0">
                <a:solidFill>
                  <a:srgbClr val="92400E"/>
                </a:solidFill>
                <a:latin typeface="メイリオ" panose="020B0604030504040204" pitchFamily="34" charset="-128"/>
                <a:ea typeface="メイリオ" panose="020B0604030504040204" pitchFamily="34" charset="-122"/>
                <a:cs typeface="メイリオ" panose="020B0604030504040204" pitchFamily="34" charset="-120"/>
              </a:rPr>
              <a:t>GW攻略ポイント</a:t>
            </a:r>
            <a:endParaRPr lang="en-US" sz="1300" dirty="0"/>
          </a:p>
        </p:txBody>
      </p:sp>
      <p:sp>
        <p:nvSpPr>
          <p:cNvPr id="24" name="Text 21"/>
          <p:cNvSpPr/>
          <p:nvPr/>
        </p:nvSpPr>
        <p:spPr>
          <a:xfrm>
            <a:off x="5102352" y="3968496"/>
            <a:ext cx="3712464" cy="347472"/>
          </a:xfrm>
          <a:prstGeom prst="rect">
            <a:avLst/>
          </a:prstGeom>
          <a:noFill/>
        </p:spPr>
        <p:txBody>
          <a:bodyPr wrap="square" lIns="0" tIns="0" rIns="0" bIns="0" rtlCol="0" anchor="ctr"/>
          <a:lstStyle/>
          <a:p>
            <a:pPr marL="342900" indent="-342900">
              <a:buSzPct val="100000"/>
              <a:buChar char="•"/>
            </a:pPr>
            <a:r>
              <a:rPr lang="en-US" sz="1150" dirty="0">
                <a:solidFill>
                  <a:srgbClr val="78350F"/>
                </a:solidFill>
                <a:latin typeface="メイリオ" panose="020B0604030504040204" pitchFamily="34" charset="-128"/>
                <a:ea typeface="メイリオ" panose="020B0604030504040204" pitchFamily="34" charset="-122"/>
                <a:cs typeface="メイリオ" panose="020B0604030504040204" pitchFamily="34" charset="-120"/>
              </a:rPr>
              <a:t>08:00 渋沢駅集合・早出が鉄則！</a:t>
            </a:r>
            <a:endParaRPr lang="en-US" sz="1150" dirty="0"/>
          </a:p>
        </p:txBody>
      </p:sp>
      <p:sp>
        <p:nvSpPr>
          <p:cNvPr id="25" name="Text 22"/>
          <p:cNvSpPr/>
          <p:nvPr/>
        </p:nvSpPr>
        <p:spPr>
          <a:xfrm>
            <a:off x="5102352" y="4334256"/>
            <a:ext cx="3712464" cy="347472"/>
          </a:xfrm>
          <a:prstGeom prst="rect">
            <a:avLst/>
          </a:prstGeom>
          <a:noFill/>
        </p:spPr>
        <p:txBody>
          <a:bodyPr wrap="square" lIns="0" tIns="0" rIns="0" bIns="0" rtlCol="0" anchor="ctr"/>
          <a:lstStyle/>
          <a:p>
            <a:pPr marL="342900" indent="-342900">
              <a:buSzPct val="100000"/>
              <a:buChar char="•"/>
            </a:pPr>
            <a:r>
              <a:rPr lang="en-US" sz="1150" dirty="0">
                <a:solidFill>
                  <a:srgbClr val="78350F"/>
                </a:solidFill>
                <a:latin typeface="メイリオ" panose="020B0604030504040204" pitchFamily="34" charset="-128"/>
                <a:ea typeface="メイリオ" panose="020B0604030504040204" pitchFamily="34" charset="-122"/>
                <a:cs typeface="メイリオ" panose="020B0604030504040204" pitchFamily="34" charset="-120"/>
              </a:rPr>
              <a:t>バスは激混み覚悟（ICカード推奨）</a:t>
            </a:r>
            <a:endParaRPr lang="en-US" sz="1150" dirty="0"/>
          </a:p>
        </p:txBody>
      </p:sp>
      <p:sp>
        <p:nvSpPr>
          <p:cNvPr id="26" name="Text 23"/>
          <p:cNvSpPr/>
          <p:nvPr/>
        </p:nvSpPr>
        <p:spPr>
          <a:xfrm>
            <a:off x="5102352" y="4700016"/>
            <a:ext cx="3712464" cy="347472"/>
          </a:xfrm>
          <a:prstGeom prst="rect">
            <a:avLst/>
          </a:prstGeom>
          <a:noFill/>
        </p:spPr>
        <p:txBody>
          <a:bodyPr wrap="square" lIns="0" tIns="0" rIns="0" bIns="0" rtlCol="0" anchor="ctr"/>
          <a:lstStyle/>
          <a:p>
            <a:pPr marL="342900" indent="-342900">
              <a:buSzPct val="100000"/>
              <a:buChar char="•"/>
            </a:pPr>
            <a:r>
              <a:rPr lang="en-US" sz="1150" dirty="0">
                <a:solidFill>
                  <a:srgbClr val="78350F"/>
                </a:solidFill>
                <a:latin typeface="メイリオ" panose="020B0604030504040204" pitchFamily="34" charset="-128"/>
                <a:ea typeface="メイリオ" panose="020B0604030504040204" pitchFamily="34" charset="-122"/>
                <a:cs typeface="メイリオ" panose="020B0604030504040204" pitchFamily="34" charset="-120"/>
              </a:rPr>
              <a:t>山頂11〜12時着を目標に進む</a:t>
            </a:r>
            <a:endParaRPr lang="en-US" sz="1150" dirty="0"/>
          </a:p>
        </p:txBody>
      </p:sp>
      <p:sp>
        <p:nvSpPr>
          <p:cNvPr id="27" name="Text 24"/>
          <p:cNvSpPr/>
          <p:nvPr/>
        </p:nvSpPr>
        <p:spPr>
          <a:xfrm>
            <a:off x="5102352" y="5065776"/>
            <a:ext cx="3712464" cy="347472"/>
          </a:xfrm>
          <a:prstGeom prst="rect">
            <a:avLst/>
          </a:prstGeom>
          <a:noFill/>
        </p:spPr>
        <p:txBody>
          <a:bodyPr wrap="square" lIns="0" tIns="0" rIns="0" bIns="0" rtlCol="0" anchor="ctr"/>
          <a:lstStyle/>
          <a:p>
            <a:pPr marL="342900" indent="-342900">
              <a:buSzPct val="100000"/>
              <a:buChar char="•"/>
            </a:pPr>
            <a:r>
              <a:rPr lang="en-US" sz="1150" dirty="0">
                <a:solidFill>
                  <a:srgbClr val="78350F"/>
                </a:solidFill>
                <a:latin typeface="メイリオ" panose="020B0604030504040204" pitchFamily="34" charset="-128"/>
                <a:ea typeface="メイリオ" panose="020B0604030504040204" pitchFamily="34" charset="-122"/>
                <a:cs typeface="メイリオ" panose="020B0604030504040204" pitchFamily="34" charset="-120"/>
              </a:rPr>
              <a:t>水は大倉林道終点でペットボトル</a:t>
            </a:r>
            <a:endParaRPr lang="en-US" sz="1150" dirty="0"/>
          </a:p>
          <a:p>
            <a:pPr marL="342900" indent="-342900">
              <a:buSzPct val="100000"/>
              <a:buChar char="•"/>
            </a:pPr>
            <a:r>
              <a:rPr lang="en-US" sz="1150" dirty="0">
                <a:solidFill>
                  <a:srgbClr val="78350F"/>
                </a:solidFill>
                <a:latin typeface="メイリオ" panose="020B0604030504040204" pitchFamily="34" charset="-128"/>
                <a:ea typeface="メイリオ" panose="020B0604030504040204" pitchFamily="34" charset="-122"/>
                <a:cs typeface="メイリオ" panose="020B0604030504040204" pitchFamily="34" charset="-120"/>
              </a:rPr>
              <a:t>  ボランティアを持ち上げよう🙏</a:t>
            </a:r>
            <a:endParaRPr lang="en-US" sz="1150" dirty="0"/>
          </a:p>
        </p:txBody>
      </p:sp>
      <p:sp>
        <p:nvSpPr>
          <p:cNvPr id="28" name="Shape 25"/>
          <p:cNvSpPr/>
          <p:nvPr/>
        </p:nvSpPr>
        <p:spPr>
          <a:xfrm>
            <a:off x="228600" y="5029200"/>
            <a:ext cx="8686800" cy="219456"/>
          </a:xfrm>
          <a:prstGeom prst="rect">
            <a:avLst/>
          </a:prstGeom>
          <a:solidFill>
            <a:srgbClr val="EEF7EE"/>
          </a:solidFill>
          <a:ln w="12700">
            <a:solidFill>
              <a:srgbClr val="3E9E56"/>
            </a:solidFill>
            <a:prstDash val="solid"/>
          </a:ln>
        </p:spPr>
      </p:sp>
      <p:sp>
        <p:nvSpPr>
          <p:cNvPr id="29" name="Text 26"/>
          <p:cNvSpPr/>
          <p:nvPr/>
        </p:nvSpPr>
        <p:spPr>
          <a:xfrm>
            <a:off x="320040" y="5047488"/>
            <a:ext cx="8503920" cy="182880"/>
          </a:xfrm>
          <a:prstGeom prst="rect">
            <a:avLst/>
          </a:prstGeom>
          <a:noFill/>
        </p:spPr>
        <p:txBody>
          <a:bodyPr wrap="square" lIns="0" tIns="0" rIns="0" bIns="0" rtlCol="0" anchor="ctr"/>
          <a:lstStyle/>
          <a:p>
            <a:pPr marL="0" indent="0">
              <a:buNone/>
            </a:pPr>
            <a:r>
              <a:rPr lang="en-US" sz="1100" dirty="0">
                <a:solidFill>
                  <a:srgbClr val="2C6B3A"/>
                </a:solidFill>
                <a:latin typeface="メイリオ" panose="020B0604030504040204" pitchFamily="34" charset="-128"/>
                <a:ea typeface="メイリオ" panose="020B0604030504040204" pitchFamily="34" charset="-122"/>
                <a:cs typeface="メイリオ" panose="020B0604030504040204" pitchFamily="34" charset="-120"/>
              </a:rPr>
              <a:t>💡 水のボランティアについて：林道終点に置いてあるペットボトルを山荘まで持ち上げる取り組みがあります。余裕があればぜひ！</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AF3"/>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6B3A"/>
          </a:solidFill>
          <a:ln w="12700">
            <a:solidFill>
              <a:srgbClr val="2C6B3A"/>
            </a:solidFill>
            <a:prstDash val="solid"/>
          </a:ln>
        </p:spPr>
      </p:sp>
      <p:sp>
        <p:nvSpPr>
          <p:cNvPr id="3" name="Shape 1"/>
          <p:cNvSpPr/>
          <p:nvPr/>
        </p:nvSpPr>
        <p:spPr>
          <a:xfrm>
            <a:off x="0" y="0"/>
            <a:ext cx="164592" cy="685800"/>
          </a:xfrm>
          <a:prstGeom prst="rect">
            <a:avLst/>
          </a:prstGeom>
          <a:solidFill>
            <a:srgbClr val="7DC87A"/>
          </a:solidFill>
          <a:ln w="12700">
            <a:solidFill>
              <a:srgbClr val="7DC87A"/>
            </a:solidFill>
            <a:prstDash val="solid"/>
          </a:ln>
        </p:spPr>
      </p:sp>
      <p:sp>
        <p:nvSpPr>
          <p:cNvPr id="4" name="Text 2"/>
          <p:cNvSpPr/>
          <p:nvPr/>
        </p:nvSpPr>
        <p:spPr>
          <a:xfrm>
            <a:off x="274320" y="91440"/>
            <a:ext cx="8686800" cy="530352"/>
          </a:xfrm>
          <a:prstGeom prst="rect">
            <a:avLst/>
          </a:prstGeom>
          <a:noFill/>
        </p:spPr>
        <p:txBody>
          <a:bodyPr wrap="square" lIns="0" tIns="0" rIns="0" bIns="0" rtlCol="0" anchor="ctr"/>
          <a:lstStyle/>
          <a:p>
            <a:pPr marL="0" indent="0">
              <a:buNone/>
            </a:pPr>
            <a:r>
              <a:rPr lang="en-US" sz="2400" b="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 持ち物チェックリスト</a:t>
            </a:r>
            <a:endParaRPr lang="en-US" sz="2400" dirty="0"/>
          </a:p>
        </p:txBody>
      </p:sp>
      <p:sp>
        <p:nvSpPr>
          <p:cNvPr id="5" name="Shape 3"/>
          <p:cNvSpPr/>
          <p:nvPr/>
        </p:nvSpPr>
        <p:spPr>
          <a:xfrm>
            <a:off x="228600" y="804672"/>
            <a:ext cx="4224528" cy="1920240"/>
          </a:xfrm>
          <a:prstGeom prst="rect">
            <a:avLst/>
          </a:prstGeom>
          <a:solidFill>
            <a:srgbClr val="FFFFFF"/>
          </a:solidFill>
          <a:ln w="19050">
            <a:solidFill>
              <a:srgbClr val="2C6B3A"/>
            </a:solidFill>
            <a:prstDash val="solid"/>
          </a:ln>
          <a:effectLst>
            <a:outerShdw blurRad="101600" dist="38100" dir="8100000" algn="bl" rotWithShape="0">
              <a:srgbClr val="000000">
                <a:alpha val="11000"/>
              </a:srgbClr>
            </a:outerShdw>
          </a:effectLst>
        </p:spPr>
      </p:sp>
      <p:sp>
        <p:nvSpPr>
          <p:cNvPr id="6" name="Shape 4"/>
          <p:cNvSpPr/>
          <p:nvPr/>
        </p:nvSpPr>
        <p:spPr>
          <a:xfrm>
            <a:off x="228600" y="804672"/>
            <a:ext cx="4224528" cy="329184"/>
          </a:xfrm>
          <a:prstGeom prst="rect">
            <a:avLst/>
          </a:prstGeom>
          <a:solidFill>
            <a:srgbClr val="2C6B3A"/>
          </a:solidFill>
          <a:ln w="12700">
            <a:solidFill>
              <a:srgbClr val="2C6B3A"/>
            </a:solidFill>
            <a:prstDash val="solid"/>
          </a:ln>
        </p:spPr>
      </p:sp>
      <p:sp>
        <p:nvSpPr>
          <p:cNvPr id="7" name="Text 5"/>
          <p:cNvSpPr/>
          <p:nvPr/>
        </p:nvSpPr>
        <p:spPr>
          <a:xfrm>
            <a:off x="320040" y="841248"/>
            <a:ext cx="4041648" cy="256032"/>
          </a:xfrm>
          <a:prstGeom prst="rect">
            <a:avLst/>
          </a:prstGeom>
          <a:noFill/>
        </p:spPr>
        <p:txBody>
          <a:bodyPr wrap="square" lIns="0" tIns="0" rIns="0" bIns="0" rtlCol="0" anchor="ctr"/>
          <a:lstStyle/>
          <a:p>
            <a:pPr marL="0" indent="0">
              <a:buNone/>
            </a:pPr>
            <a:r>
              <a:rPr lang="en-US" sz="1300" b="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 足元（最重要）</a:t>
            </a:r>
            <a:endParaRPr lang="en-US" sz="1300" dirty="0"/>
          </a:p>
        </p:txBody>
      </p:sp>
      <p:sp>
        <p:nvSpPr>
          <p:cNvPr id="8" name="Text 6"/>
          <p:cNvSpPr/>
          <p:nvPr/>
        </p:nvSpPr>
        <p:spPr>
          <a:xfrm>
            <a:off x="338328" y="1188720"/>
            <a:ext cx="4005072" cy="329184"/>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 登山靴・トレッキングシューズ（16km歩く！）</a:t>
            </a:r>
            <a:endParaRPr lang="en-US" sz="1200" dirty="0"/>
          </a:p>
        </p:txBody>
      </p:sp>
      <p:sp>
        <p:nvSpPr>
          <p:cNvPr id="9" name="Text 7"/>
          <p:cNvSpPr/>
          <p:nvPr/>
        </p:nvSpPr>
        <p:spPr>
          <a:xfrm>
            <a:off x="338328" y="1554480"/>
            <a:ext cx="4005072" cy="329184"/>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 厚手の登山靴下（マメ予防）</a:t>
            </a:r>
            <a:endParaRPr lang="en-US" sz="1200" dirty="0"/>
          </a:p>
        </p:txBody>
      </p:sp>
      <p:sp>
        <p:nvSpPr>
          <p:cNvPr id="10" name="Shape 8"/>
          <p:cNvSpPr/>
          <p:nvPr/>
        </p:nvSpPr>
        <p:spPr>
          <a:xfrm>
            <a:off x="4681728" y="804672"/>
            <a:ext cx="4224528" cy="1920240"/>
          </a:xfrm>
          <a:prstGeom prst="rect">
            <a:avLst/>
          </a:prstGeom>
          <a:solidFill>
            <a:srgbClr val="FFFFFF"/>
          </a:solidFill>
          <a:ln w="19050">
            <a:solidFill>
              <a:srgbClr val="2A6BAE"/>
            </a:solidFill>
            <a:prstDash val="solid"/>
          </a:ln>
          <a:effectLst>
            <a:outerShdw blurRad="101600" dist="38100" dir="8100000" algn="bl" rotWithShape="0">
              <a:srgbClr val="000000">
                <a:alpha val="11000"/>
              </a:srgbClr>
            </a:outerShdw>
          </a:effectLst>
        </p:spPr>
      </p:sp>
      <p:sp>
        <p:nvSpPr>
          <p:cNvPr id="11" name="Shape 9"/>
          <p:cNvSpPr/>
          <p:nvPr/>
        </p:nvSpPr>
        <p:spPr>
          <a:xfrm>
            <a:off x="4681728" y="804672"/>
            <a:ext cx="4224528" cy="329184"/>
          </a:xfrm>
          <a:prstGeom prst="rect">
            <a:avLst/>
          </a:prstGeom>
          <a:solidFill>
            <a:srgbClr val="2A6BAE"/>
          </a:solidFill>
          <a:ln w="12700">
            <a:solidFill>
              <a:srgbClr val="2A6BAE"/>
            </a:solidFill>
            <a:prstDash val="solid"/>
          </a:ln>
        </p:spPr>
      </p:sp>
      <p:sp>
        <p:nvSpPr>
          <p:cNvPr id="12" name="Text 10"/>
          <p:cNvSpPr/>
          <p:nvPr/>
        </p:nvSpPr>
        <p:spPr>
          <a:xfrm>
            <a:off x="4773168" y="841248"/>
            <a:ext cx="4041648" cy="256032"/>
          </a:xfrm>
          <a:prstGeom prst="rect">
            <a:avLst/>
          </a:prstGeom>
          <a:noFill/>
        </p:spPr>
        <p:txBody>
          <a:bodyPr wrap="square" lIns="0" tIns="0" rIns="0" bIns="0" rtlCol="0" anchor="ctr"/>
          <a:lstStyle/>
          <a:p>
            <a:pPr marL="0" indent="0">
              <a:buNone/>
            </a:pPr>
            <a:r>
              <a:rPr lang="en-US" sz="1300" b="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 ザック・衣類</a:t>
            </a:r>
            <a:endParaRPr lang="en-US" sz="1300" dirty="0"/>
          </a:p>
        </p:txBody>
      </p:sp>
      <p:sp>
        <p:nvSpPr>
          <p:cNvPr id="13" name="Text 11"/>
          <p:cNvSpPr/>
          <p:nvPr/>
        </p:nvSpPr>
        <p:spPr>
          <a:xfrm>
            <a:off x="4791456" y="1188720"/>
            <a:ext cx="4005072" cy="329184"/>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 ザック 25〜30L（林道が長い）</a:t>
            </a:r>
            <a:endParaRPr lang="en-US" sz="1200" dirty="0"/>
          </a:p>
        </p:txBody>
      </p:sp>
      <p:sp>
        <p:nvSpPr>
          <p:cNvPr id="14" name="Text 12"/>
          <p:cNvSpPr/>
          <p:nvPr/>
        </p:nvSpPr>
        <p:spPr>
          <a:xfrm>
            <a:off x="4791456" y="1554480"/>
            <a:ext cx="4005072" cy="329184"/>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 レインウェア上下</a:t>
            </a:r>
            <a:endParaRPr lang="en-US" sz="1200" dirty="0"/>
          </a:p>
        </p:txBody>
      </p:sp>
      <p:sp>
        <p:nvSpPr>
          <p:cNvPr id="15" name="Text 13"/>
          <p:cNvSpPr/>
          <p:nvPr/>
        </p:nvSpPr>
        <p:spPr>
          <a:xfrm>
            <a:off x="4791456" y="1920240"/>
            <a:ext cx="4005072" cy="329184"/>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フリース・防寒着（山頂でうどんを食べる）</a:t>
            </a:r>
            <a:endParaRPr lang="en-US" sz="1200" dirty="0"/>
          </a:p>
        </p:txBody>
      </p:sp>
      <p:sp>
        <p:nvSpPr>
          <p:cNvPr id="16" name="Text 14"/>
          <p:cNvSpPr/>
          <p:nvPr/>
        </p:nvSpPr>
        <p:spPr>
          <a:xfrm>
            <a:off x="4791456" y="2286000"/>
            <a:ext cx="4005072" cy="329184"/>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速乾Tシャツ・帽子・サングラス</a:t>
            </a:r>
            <a:endParaRPr lang="en-US" sz="1200" dirty="0"/>
          </a:p>
        </p:txBody>
      </p:sp>
      <p:sp>
        <p:nvSpPr>
          <p:cNvPr id="17" name="Shape 15"/>
          <p:cNvSpPr/>
          <p:nvPr/>
        </p:nvSpPr>
        <p:spPr>
          <a:xfrm>
            <a:off x="228600" y="2944368"/>
            <a:ext cx="4224528" cy="1920240"/>
          </a:xfrm>
          <a:prstGeom prst="rect">
            <a:avLst/>
          </a:prstGeom>
          <a:solidFill>
            <a:srgbClr val="FFFFFF"/>
          </a:solidFill>
          <a:ln w="19050">
            <a:solidFill>
              <a:srgbClr val="D4860E"/>
            </a:solidFill>
            <a:prstDash val="solid"/>
          </a:ln>
          <a:effectLst>
            <a:outerShdw blurRad="101600" dist="38100" dir="8100000" algn="bl" rotWithShape="0">
              <a:srgbClr val="000000">
                <a:alpha val="11000"/>
              </a:srgbClr>
            </a:outerShdw>
          </a:effectLst>
        </p:spPr>
      </p:sp>
      <p:sp>
        <p:nvSpPr>
          <p:cNvPr id="18" name="Shape 16"/>
          <p:cNvSpPr/>
          <p:nvPr/>
        </p:nvSpPr>
        <p:spPr>
          <a:xfrm>
            <a:off x="228600" y="2944368"/>
            <a:ext cx="4224528" cy="329184"/>
          </a:xfrm>
          <a:prstGeom prst="rect">
            <a:avLst/>
          </a:prstGeom>
          <a:solidFill>
            <a:srgbClr val="D4860E"/>
          </a:solidFill>
          <a:ln w="12700">
            <a:solidFill>
              <a:srgbClr val="D4860E"/>
            </a:solidFill>
            <a:prstDash val="solid"/>
          </a:ln>
        </p:spPr>
      </p:sp>
      <p:sp>
        <p:nvSpPr>
          <p:cNvPr id="19" name="Text 17"/>
          <p:cNvSpPr/>
          <p:nvPr/>
        </p:nvSpPr>
        <p:spPr>
          <a:xfrm>
            <a:off x="320040" y="2980944"/>
            <a:ext cx="4041648" cy="256032"/>
          </a:xfrm>
          <a:prstGeom prst="rect">
            <a:avLst/>
          </a:prstGeom>
          <a:noFill/>
        </p:spPr>
        <p:txBody>
          <a:bodyPr wrap="square" lIns="0" tIns="0" rIns="0" bIns="0" rtlCol="0" anchor="ctr"/>
          <a:lstStyle/>
          <a:p>
            <a:pPr marL="0" indent="0">
              <a:buNone/>
            </a:pPr>
            <a:r>
              <a:rPr lang="en-US" sz="1300" b="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 飲食</a:t>
            </a:r>
            <a:endParaRPr lang="en-US" sz="1300" dirty="0"/>
          </a:p>
        </p:txBody>
      </p:sp>
      <p:sp>
        <p:nvSpPr>
          <p:cNvPr id="20" name="Text 18"/>
          <p:cNvSpPr/>
          <p:nvPr/>
        </p:nvSpPr>
        <p:spPr>
          <a:xfrm>
            <a:off x="338328" y="3328416"/>
            <a:ext cx="4005072" cy="329184"/>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 水 2L以上（コースが長い）</a:t>
            </a:r>
            <a:endParaRPr lang="en-US" sz="1200" dirty="0"/>
          </a:p>
        </p:txBody>
      </p:sp>
      <p:sp>
        <p:nvSpPr>
          <p:cNvPr id="21" name="Text 19"/>
          <p:cNvSpPr/>
          <p:nvPr/>
        </p:nvSpPr>
        <p:spPr>
          <a:xfrm>
            <a:off x="338328" y="3694176"/>
            <a:ext cx="4005072" cy="329184"/>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 昼食は山頂鍋焼きうどん（2,000円）</a:t>
            </a:r>
            <a:endParaRPr lang="en-US" sz="1200" dirty="0"/>
          </a:p>
        </p:txBody>
      </p:sp>
      <p:sp>
        <p:nvSpPr>
          <p:cNvPr id="22" name="Text 20"/>
          <p:cNvSpPr/>
          <p:nvPr/>
        </p:nvSpPr>
        <p:spPr>
          <a:xfrm>
            <a:off x="338328" y="4059936"/>
            <a:ext cx="4005072" cy="329184"/>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行動食（チョコ・ゼリー・ナッツ）</a:t>
            </a:r>
            <a:endParaRPr lang="en-US" sz="1200" dirty="0"/>
          </a:p>
        </p:txBody>
      </p:sp>
      <p:sp>
        <p:nvSpPr>
          <p:cNvPr id="23" name="Text 21"/>
          <p:cNvSpPr/>
          <p:nvPr/>
        </p:nvSpPr>
        <p:spPr>
          <a:xfrm>
            <a:off x="338328" y="4425696"/>
            <a:ext cx="4005072" cy="329184"/>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早朝の朝食をしっかり食べてこよう！</a:t>
            </a:r>
            <a:endParaRPr lang="en-US" sz="1200" dirty="0"/>
          </a:p>
        </p:txBody>
      </p:sp>
      <p:sp>
        <p:nvSpPr>
          <p:cNvPr id="24" name="Shape 22"/>
          <p:cNvSpPr/>
          <p:nvPr/>
        </p:nvSpPr>
        <p:spPr>
          <a:xfrm>
            <a:off x="4681728" y="2944368"/>
            <a:ext cx="4224528" cy="1920240"/>
          </a:xfrm>
          <a:prstGeom prst="rect">
            <a:avLst/>
          </a:prstGeom>
          <a:solidFill>
            <a:srgbClr val="FFFFFF"/>
          </a:solidFill>
          <a:ln w="19050">
            <a:solidFill>
              <a:srgbClr val="7A4520"/>
            </a:solidFill>
            <a:prstDash val="solid"/>
          </a:ln>
          <a:effectLst>
            <a:outerShdw blurRad="101600" dist="38100" dir="8100000" algn="bl" rotWithShape="0">
              <a:srgbClr val="000000">
                <a:alpha val="11000"/>
              </a:srgbClr>
            </a:outerShdw>
          </a:effectLst>
        </p:spPr>
      </p:sp>
      <p:sp>
        <p:nvSpPr>
          <p:cNvPr id="25" name="Shape 23"/>
          <p:cNvSpPr/>
          <p:nvPr/>
        </p:nvSpPr>
        <p:spPr>
          <a:xfrm>
            <a:off x="4681728" y="2944368"/>
            <a:ext cx="4224528" cy="329184"/>
          </a:xfrm>
          <a:prstGeom prst="rect">
            <a:avLst/>
          </a:prstGeom>
          <a:solidFill>
            <a:srgbClr val="7A4520"/>
          </a:solidFill>
          <a:ln w="12700">
            <a:solidFill>
              <a:srgbClr val="7A4520"/>
            </a:solidFill>
            <a:prstDash val="solid"/>
          </a:ln>
        </p:spPr>
      </p:sp>
      <p:sp>
        <p:nvSpPr>
          <p:cNvPr id="26" name="Text 24"/>
          <p:cNvSpPr/>
          <p:nvPr/>
        </p:nvSpPr>
        <p:spPr>
          <a:xfrm>
            <a:off x="4773168" y="2980944"/>
            <a:ext cx="4041648" cy="256032"/>
          </a:xfrm>
          <a:prstGeom prst="rect">
            <a:avLst/>
          </a:prstGeom>
          <a:noFill/>
        </p:spPr>
        <p:txBody>
          <a:bodyPr wrap="square" lIns="0" tIns="0" rIns="0" bIns="0" rtlCol="0" anchor="ctr"/>
          <a:lstStyle/>
          <a:p>
            <a:pPr marL="0" indent="0">
              <a:buNone/>
            </a:pPr>
            <a:r>
              <a:rPr lang="en-US" sz="1300" b="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 安全・その他</a:t>
            </a:r>
            <a:endParaRPr lang="en-US" sz="1300" dirty="0"/>
          </a:p>
        </p:txBody>
      </p:sp>
      <p:sp>
        <p:nvSpPr>
          <p:cNvPr id="27" name="Text 25"/>
          <p:cNvSpPr/>
          <p:nvPr/>
        </p:nvSpPr>
        <p:spPr>
          <a:xfrm>
            <a:off x="4791456" y="3328416"/>
            <a:ext cx="4005072" cy="329184"/>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 絆創膏・テーピング</a:t>
            </a:r>
            <a:endParaRPr lang="en-US" sz="1200" dirty="0"/>
          </a:p>
        </p:txBody>
      </p:sp>
      <p:sp>
        <p:nvSpPr>
          <p:cNvPr id="28" name="Text 26"/>
          <p:cNvSpPr/>
          <p:nvPr/>
        </p:nvSpPr>
        <p:spPr>
          <a:xfrm>
            <a:off x="4791456" y="3694176"/>
            <a:ext cx="4005072" cy="329184"/>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 スマホ＋モバイルバッテリー・現金</a:t>
            </a:r>
            <a:endParaRPr lang="en-US" sz="1200" dirty="0"/>
          </a:p>
        </p:txBody>
      </p:sp>
      <p:sp>
        <p:nvSpPr>
          <p:cNvPr id="29" name="Text 27"/>
          <p:cNvSpPr/>
          <p:nvPr/>
        </p:nvSpPr>
        <p:spPr>
          <a:xfrm>
            <a:off x="4791456" y="4059936"/>
            <a:ext cx="4005072" cy="329184"/>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 虫よけスプレー（ヤマビル注意！）</a:t>
            </a:r>
            <a:endParaRPr lang="en-US" sz="1200" dirty="0"/>
          </a:p>
        </p:txBody>
      </p:sp>
      <p:sp>
        <p:nvSpPr>
          <p:cNvPr id="30" name="Text 28"/>
          <p:cNvSpPr/>
          <p:nvPr/>
        </p:nvSpPr>
        <p:spPr>
          <a:xfrm>
            <a:off x="4791456" y="4425696"/>
            <a:ext cx="4005072" cy="329184"/>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トレッキングポール（林道が長い）</a:t>
            </a:r>
            <a:endParaRPr lang="en-US" sz="1200" dirty="0"/>
          </a:p>
        </p:txBody>
      </p:sp>
      <p:sp>
        <p:nvSpPr>
          <p:cNvPr id="31" name="Shape 29"/>
          <p:cNvSpPr/>
          <p:nvPr/>
        </p:nvSpPr>
        <p:spPr>
          <a:xfrm>
            <a:off x="228600" y="4974336"/>
            <a:ext cx="8686800" cy="274320"/>
          </a:xfrm>
          <a:prstGeom prst="rect">
            <a:avLst/>
          </a:prstGeom>
          <a:solidFill>
            <a:srgbClr val="FEF2F2"/>
          </a:solidFill>
          <a:ln w="12700">
            <a:solidFill>
              <a:srgbClr val="E05252"/>
            </a:solidFill>
            <a:prstDash val="solid"/>
          </a:ln>
        </p:spPr>
      </p:sp>
      <p:sp>
        <p:nvSpPr>
          <p:cNvPr id="32" name="Text 30"/>
          <p:cNvSpPr/>
          <p:nvPr/>
        </p:nvSpPr>
        <p:spPr>
          <a:xfrm>
            <a:off x="320040" y="4992624"/>
            <a:ext cx="8503920" cy="237744"/>
          </a:xfrm>
          <a:prstGeom prst="rect">
            <a:avLst/>
          </a:prstGeom>
          <a:noFill/>
        </p:spPr>
        <p:txBody>
          <a:bodyPr wrap="square" lIns="0" tIns="0" rIns="0" bIns="0" rtlCol="0" anchor="ctr"/>
          <a:lstStyle/>
          <a:p>
            <a:pPr marL="0" indent="0">
              <a:buNone/>
            </a:pPr>
            <a:r>
              <a:rPr lang="en-US" sz="1200" dirty="0">
                <a:solidFill>
                  <a:srgbClr val="991B1B"/>
                </a:solidFill>
                <a:latin typeface="メイリオ" panose="020B0604030504040204" pitchFamily="34" charset="-128"/>
                <a:ea typeface="メイリオ" panose="020B0604030504040204" pitchFamily="34" charset="-122"/>
                <a:cs typeface="メイリオ" panose="020B0604030504040204" pitchFamily="34" charset="-120"/>
              </a:rPr>
              <a:t>⚠️ ヤマビルに注意！ 5〜10月は必ず虫よけスプレーを。塩も効果的。靴下の上からスプレーすること。</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AF3"/>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6B3A"/>
          </a:solidFill>
          <a:ln w="12700">
            <a:solidFill>
              <a:srgbClr val="2C6B3A"/>
            </a:solidFill>
            <a:prstDash val="solid"/>
          </a:ln>
        </p:spPr>
      </p:sp>
      <p:sp>
        <p:nvSpPr>
          <p:cNvPr id="3" name="Shape 1"/>
          <p:cNvSpPr/>
          <p:nvPr/>
        </p:nvSpPr>
        <p:spPr>
          <a:xfrm>
            <a:off x="0" y="0"/>
            <a:ext cx="164592" cy="685800"/>
          </a:xfrm>
          <a:prstGeom prst="rect">
            <a:avLst/>
          </a:prstGeom>
          <a:solidFill>
            <a:srgbClr val="7DC87A"/>
          </a:solidFill>
          <a:ln w="12700">
            <a:solidFill>
              <a:srgbClr val="7DC87A"/>
            </a:solidFill>
            <a:prstDash val="solid"/>
          </a:ln>
        </p:spPr>
      </p:sp>
      <p:sp>
        <p:nvSpPr>
          <p:cNvPr id="4" name="Text 2"/>
          <p:cNvSpPr/>
          <p:nvPr/>
        </p:nvSpPr>
        <p:spPr>
          <a:xfrm>
            <a:off x="274320" y="91440"/>
            <a:ext cx="8686800" cy="530352"/>
          </a:xfrm>
          <a:prstGeom prst="rect">
            <a:avLst/>
          </a:prstGeom>
          <a:noFill/>
        </p:spPr>
        <p:txBody>
          <a:bodyPr wrap="square" lIns="0" tIns="0" rIns="0" bIns="0" rtlCol="0" anchor="ctr"/>
          <a:lstStyle/>
          <a:p>
            <a:pPr marL="0" indent="0">
              <a:buNone/>
            </a:pPr>
            <a:r>
              <a:rPr lang="en-US" sz="2400" b="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 費用目安 ＋ 🚃 アクセス</a:t>
            </a:r>
            <a:endParaRPr lang="en-US" sz="2400" dirty="0"/>
          </a:p>
        </p:txBody>
      </p:sp>
      <p:sp>
        <p:nvSpPr>
          <p:cNvPr id="5" name="Shape 3"/>
          <p:cNvSpPr/>
          <p:nvPr/>
        </p:nvSpPr>
        <p:spPr>
          <a:xfrm>
            <a:off x="228600" y="804672"/>
            <a:ext cx="4160520" cy="3364992"/>
          </a:xfrm>
          <a:prstGeom prst="rect">
            <a:avLst/>
          </a:prstGeom>
          <a:solidFill>
            <a:srgbClr val="FFFFFF"/>
          </a:solidFill>
          <a:ln w="19050">
            <a:solidFill>
              <a:srgbClr val="2C6B3A"/>
            </a:solidFill>
            <a:prstDash val="solid"/>
          </a:ln>
          <a:effectLst>
            <a:outerShdw blurRad="101600" dist="38100" dir="8100000" algn="bl" rotWithShape="0">
              <a:srgbClr val="000000">
                <a:alpha val="11000"/>
              </a:srgbClr>
            </a:outerShdw>
          </a:effectLst>
        </p:spPr>
      </p:sp>
      <p:sp>
        <p:nvSpPr>
          <p:cNvPr id="6" name="Shape 4"/>
          <p:cNvSpPr/>
          <p:nvPr/>
        </p:nvSpPr>
        <p:spPr>
          <a:xfrm>
            <a:off x="228600" y="804672"/>
            <a:ext cx="4160520" cy="329184"/>
          </a:xfrm>
          <a:prstGeom prst="rect">
            <a:avLst/>
          </a:prstGeom>
          <a:solidFill>
            <a:srgbClr val="2C6B3A"/>
          </a:solidFill>
          <a:ln w="12700">
            <a:solidFill>
              <a:srgbClr val="2C6B3A"/>
            </a:solidFill>
            <a:prstDash val="solid"/>
          </a:ln>
        </p:spPr>
      </p:sp>
      <p:sp>
        <p:nvSpPr>
          <p:cNvPr id="7" name="Text 5"/>
          <p:cNvSpPr/>
          <p:nvPr/>
        </p:nvSpPr>
        <p:spPr>
          <a:xfrm>
            <a:off x="320040" y="822960"/>
            <a:ext cx="3977640" cy="256032"/>
          </a:xfrm>
          <a:prstGeom prst="rect">
            <a:avLst/>
          </a:prstGeom>
          <a:noFill/>
        </p:spPr>
        <p:txBody>
          <a:bodyPr wrap="square" lIns="0" tIns="0" rIns="0" bIns="0" rtlCol="0" anchor="ctr"/>
          <a:lstStyle/>
          <a:p>
            <a:pPr marL="0" indent="0">
              <a:buNone/>
            </a:pPr>
            <a:r>
              <a:rPr lang="en-US" sz="1300" b="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  費用目安（1人あたり）</a:t>
            </a:r>
            <a:endParaRPr lang="en-US" sz="1300" dirty="0"/>
          </a:p>
        </p:txBody>
      </p:sp>
      <p:sp>
        <p:nvSpPr>
          <p:cNvPr id="8" name="Text 6"/>
          <p:cNvSpPr/>
          <p:nvPr/>
        </p:nvSpPr>
        <p:spPr>
          <a:xfrm>
            <a:off x="347472" y="1207008"/>
            <a:ext cx="2011680" cy="402336"/>
          </a:xfrm>
          <a:prstGeom prst="rect">
            <a:avLst/>
          </a:prstGeom>
          <a:noFill/>
        </p:spPr>
        <p:txBody>
          <a:bodyPr wrap="square" lIns="0" tIns="0" rIns="0" bIns="0" rtlCol="0" anchor="ctr"/>
          <a:lstStyle/>
          <a:p>
            <a:pPr marL="0" indent="0">
              <a:buNone/>
            </a:pPr>
            <a:r>
              <a:rPr lang="en-US" sz="120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電車（往復）</a:t>
            </a:r>
            <a:endParaRPr lang="en-US" sz="1200" dirty="0"/>
          </a:p>
        </p:txBody>
      </p:sp>
      <p:sp>
        <p:nvSpPr>
          <p:cNvPr id="9" name="Text 7"/>
          <p:cNvSpPr/>
          <p:nvPr/>
        </p:nvSpPr>
        <p:spPr>
          <a:xfrm>
            <a:off x="2395728" y="1207008"/>
            <a:ext cx="1828800" cy="402336"/>
          </a:xfrm>
          <a:prstGeom prst="rect">
            <a:avLst/>
          </a:prstGeom>
          <a:noFill/>
        </p:spPr>
        <p:txBody>
          <a:bodyPr wrap="square" lIns="0" tIns="0" rIns="0" bIns="0" rtlCol="0" anchor="ctr"/>
          <a:lstStyle/>
          <a:p>
            <a:pPr marL="0" indent="0" algn="r">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約1,800〜2,400円</a:t>
            </a:r>
            <a:endParaRPr lang="en-US" sz="1200" dirty="0"/>
          </a:p>
        </p:txBody>
      </p:sp>
      <p:sp>
        <p:nvSpPr>
          <p:cNvPr id="10" name="Shape 8"/>
          <p:cNvSpPr/>
          <p:nvPr/>
        </p:nvSpPr>
        <p:spPr>
          <a:xfrm>
            <a:off x="347472" y="1609344"/>
            <a:ext cx="3822192" cy="0"/>
          </a:xfrm>
          <a:prstGeom prst="line">
            <a:avLst/>
          </a:prstGeom>
          <a:noFill/>
          <a:ln w="6350">
            <a:solidFill>
              <a:srgbClr val="E5E7EB"/>
            </a:solidFill>
            <a:prstDash val="solid"/>
          </a:ln>
        </p:spPr>
      </p:sp>
      <p:sp>
        <p:nvSpPr>
          <p:cNvPr id="11" name="Text 9"/>
          <p:cNvSpPr/>
          <p:nvPr/>
        </p:nvSpPr>
        <p:spPr>
          <a:xfrm>
            <a:off x="347472" y="1682496"/>
            <a:ext cx="2011680" cy="402336"/>
          </a:xfrm>
          <a:prstGeom prst="rect">
            <a:avLst/>
          </a:prstGeom>
          <a:noFill/>
        </p:spPr>
        <p:txBody>
          <a:bodyPr wrap="square" lIns="0" tIns="0" rIns="0" bIns="0" rtlCol="0" anchor="ctr"/>
          <a:lstStyle/>
          <a:p>
            <a:pPr marL="0" indent="0">
              <a:buNone/>
            </a:pPr>
            <a:r>
              <a:rPr lang="en-US" sz="120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バス（渋沢駅↔大倉 往復）</a:t>
            </a:r>
            <a:endParaRPr lang="en-US" sz="1200" dirty="0"/>
          </a:p>
        </p:txBody>
      </p:sp>
      <p:sp>
        <p:nvSpPr>
          <p:cNvPr id="12" name="Text 10"/>
          <p:cNvSpPr/>
          <p:nvPr/>
        </p:nvSpPr>
        <p:spPr>
          <a:xfrm>
            <a:off x="2395728" y="1682496"/>
            <a:ext cx="1828800" cy="402336"/>
          </a:xfrm>
          <a:prstGeom prst="rect">
            <a:avLst/>
          </a:prstGeom>
          <a:noFill/>
        </p:spPr>
        <p:txBody>
          <a:bodyPr wrap="square" lIns="0" tIns="0" rIns="0" bIns="0" rtlCol="0" anchor="ctr"/>
          <a:lstStyle/>
          <a:p>
            <a:pPr marL="0" indent="0" algn="r">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約420円</a:t>
            </a:r>
            <a:endParaRPr lang="en-US" sz="1200" dirty="0"/>
          </a:p>
        </p:txBody>
      </p:sp>
      <p:sp>
        <p:nvSpPr>
          <p:cNvPr id="13" name="Shape 11"/>
          <p:cNvSpPr/>
          <p:nvPr/>
        </p:nvSpPr>
        <p:spPr>
          <a:xfrm>
            <a:off x="347472" y="2084832"/>
            <a:ext cx="3822192" cy="0"/>
          </a:xfrm>
          <a:prstGeom prst="line">
            <a:avLst/>
          </a:prstGeom>
          <a:noFill/>
          <a:ln w="6350">
            <a:solidFill>
              <a:srgbClr val="E5E7EB"/>
            </a:solidFill>
            <a:prstDash val="solid"/>
          </a:ln>
        </p:spPr>
      </p:sp>
      <p:sp>
        <p:nvSpPr>
          <p:cNvPr id="14" name="Text 12"/>
          <p:cNvSpPr/>
          <p:nvPr/>
        </p:nvSpPr>
        <p:spPr>
          <a:xfrm>
            <a:off x="347472" y="2157984"/>
            <a:ext cx="2011680" cy="402336"/>
          </a:xfrm>
          <a:prstGeom prst="rect">
            <a:avLst/>
          </a:prstGeom>
          <a:noFill/>
        </p:spPr>
        <p:txBody>
          <a:bodyPr wrap="square" lIns="0" tIns="0" rIns="0" bIns="0" rtlCol="0" anchor="ctr"/>
          <a:lstStyle/>
          <a:p>
            <a:pPr marL="0" indent="0">
              <a:buNone/>
            </a:pPr>
            <a:r>
              <a:rPr lang="en-US" sz="120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鍋焼きうどん</a:t>
            </a:r>
            <a:endParaRPr lang="en-US" sz="1200" dirty="0"/>
          </a:p>
        </p:txBody>
      </p:sp>
      <p:sp>
        <p:nvSpPr>
          <p:cNvPr id="15" name="Text 13"/>
          <p:cNvSpPr/>
          <p:nvPr/>
        </p:nvSpPr>
        <p:spPr>
          <a:xfrm>
            <a:off x="2395728" y="2157984"/>
            <a:ext cx="1828800" cy="402336"/>
          </a:xfrm>
          <a:prstGeom prst="rect">
            <a:avLst/>
          </a:prstGeom>
          <a:noFill/>
        </p:spPr>
        <p:txBody>
          <a:bodyPr wrap="square" lIns="0" tIns="0" rIns="0" bIns="0" rtlCol="0" anchor="ctr"/>
          <a:lstStyle/>
          <a:p>
            <a:pPr marL="0" indent="0" algn="r">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2,000円</a:t>
            </a:r>
            <a:endParaRPr lang="en-US" sz="1200" dirty="0"/>
          </a:p>
        </p:txBody>
      </p:sp>
      <p:sp>
        <p:nvSpPr>
          <p:cNvPr id="16" name="Shape 14"/>
          <p:cNvSpPr/>
          <p:nvPr/>
        </p:nvSpPr>
        <p:spPr>
          <a:xfrm>
            <a:off x="347472" y="2560320"/>
            <a:ext cx="3822192" cy="0"/>
          </a:xfrm>
          <a:prstGeom prst="line">
            <a:avLst/>
          </a:prstGeom>
          <a:noFill/>
          <a:ln w="6350">
            <a:solidFill>
              <a:srgbClr val="E5E7EB"/>
            </a:solidFill>
            <a:prstDash val="solid"/>
          </a:ln>
        </p:spPr>
      </p:sp>
      <p:sp>
        <p:nvSpPr>
          <p:cNvPr id="17" name="Text 15"/>
          <p:cNvSpPr/>
          <p:nvPr/>
        </p:nvSpPr>
        <p:spPr>
          <a:xfrm>
            <a:off x="347472" y="2633472"/>
            <a:ext cx="2011680" cy="402336"/>
          </a:xfrm>
          <a:prstGeom prst="rect">
            <a:avLst/>
          </a:prstGeom>
          <a:noFill/>
        </p:spPr>
        <p:txBody>
          <a:bodyPr wrap="square" lIns="0" tIns="0" rIns="0" bIns="0" rtlCol="0" anchor="ctr"/>
          <a:lstStyle/>
          <a:p>
            <a:pPr marL="0" indent="0">
              <a:buNone/>
            </a:pPr>
            <a:r>
              <a:rPr lang="en-US" sz="120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行動食・飲料</a:t>
            </a:r>
            <a:endParaRPr lang="en-US" sz="1200" dirty="0"/>
          </a:p>
        </p:txBody>
      </p:sp>
      <p:sp>
        <p:nvSpPr>
          <p:cNvPr id="18" name="Text 16"/>
          <p:cNvSpPr/>
          <p:nvPr/>
        </p:nvSpPr>
        <p:spPr>
          <a:xfrm>
            <a:off x="2395728" y="2633472"/>
            <a:ext cx="1828800" cy="402336"/>
          </a:xfrm>
          <a:prstGeom prst="rect">
            <a:avLst/>
          </a:prstGeom>
          <a:noFill/>
        </p:spPr>
        <p:txBody>
          <a:bodyPr wrap="square" lIns="0" tIns="0" rIns="0" bIns="0" rtlCol="0" anchor="ctr"/>
          <a:lstStyle/>
          <a:p>
            <a:pPr marL="0" indent="0" algn="r">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約500〜1,000円</a:t>
            </a:r>
            <a:endParaRPr lang="en-US" sz="1200" dirty="0"/>
          </a:p>
        </p:txBody>
      </p:sp>
      <p:sp>
        <p:nvSpPr>
          <p:cNvPr id="19" name="Shape 17"/>
          <p:cNvSpPr/>
          <p:nvPr/>
        </p:nvSpPr>
        <p:spPr>
          <a:xfrm>
            <a:off x="347472" y="3035808"/>
            <a:ext cx="3822192" cy="0"/>
          </a:xfrm>
          <a:prstGeom prst="line">
            <a:avLst/>
          </a:prstGeom>
          <a:noFill/>
          <a:ln w="6350">
            <a:solidFill>
              <a:srgbClr val="E5E7EB"/>
            </a:solidFill>
            <a:prstDash val="solid"/>
          </a:ln>
        </p:spPr>
      </p:sp>
      <p:sp>
        <p:nvSpPr>
          <p:cNvPr id="20" name="Text 18"/>
          <p:cNvSpPr/>
          <p:nvPr/>
        </p:nvSpPr>
        <p:spPr>
          <a:xfrm>
            <a:off x="347472" y="3108960"/>
            <a:ext cx="2011680" cy="402336"/>
          </a:xfrm>
          <a:prstGeom prst="rect">
            <a:avLst/>
          </a:prstGeom>
          <a:noFill/>
        </p:spPr>
        <p:txBody>
          <a:bodyPr wrap="square" lIns="0" tIns="0" rIns="0" bIns="0" rtlCol="0" anchor="ctr"/>
          <a:lstStyle/>
          <a:p>
            <a:pPr marL="0" indent="0">
              <a:buNone/>
            </a:pPr>
            <a:r>
              <a:rPr lang="en-US" sz="1300" b="1" dirty="0">
                <a:solidFill>
                  <a:srgbClr val="2C6B3A"/>
                </a:solidFill>
                <a:latin typeface="メイリオ" panose="020B0604030504040204" pitchFamily="34" charset="-128"/>
                <a:ea typeface="メイリオ" panose="020B0604030504040204" pitchFamily="34" charset="-122"/>
                <a:cs typeface="メイリオ" panose="020B0604030504040204" pitchFamily="34" charset="-120"/>
              </a:rPr>
              <a:t>合計</a:t>
            </a:r>
            <a:endParaRPr lang="en-US" sz="1300" dirty="0"/>
          </a:p>
        </p:txBody>
      </p:sp>
      <p:sp>
        <p:nvSpPr>
          <p:cNvPr id="21" name="Text 19"/>
          <p:cNvSpPr/>
          <p:nvPr/>
        </p:nvSpPr>
        <p:spPr>
          <a:xfrm>
            <a:off x="2395728" y="3108960"/>
            <a:ext cx="1828800" cy="402336"/>
          </a:xfrm>
          <a:prstGeom prst="rect">
            <a:avLst/>
          </a:prstGeom>
          <a:noFill/>
        </p:spPr>
        <p:txBody>
          <a:bodyPr wrap="square" lIns="0" tIns="0" rIns="0" bIns="0" rtlCol="0" anchor="ctr"/>
          <a:lstStyle/>
          <a:p>
            <a:pPr marL="0" indent="0" algn="r">
              <a:buNone/>
            </a:pPr>
            <a:r>
              <a:rPr lang="en-US" sz="1400" b="1" dirty="0">
                <a:solidFill>
                  <a:srgbClr val="2C6B3A"/>
                </a:solidFill>
                <a:latin typeface="メイリオ" panose="020B0604030504040204" pitchFamily="34" charset="-128"/>
                <a:ea typeface="メイリオ" panose="020B0604030504040204" pitchFamily="34" charset="-122"/>
                <a:cs typeface="メイリオ" panose="020B0604030504040204" pitchFamily="34" charset="-120"/>
              </a:rPr>
              <a:t>約4,720〜5,820円</a:t>
            </a:r>
            <a:endParaRPr lang="en-US" sz="1400" dirty="0"/>
          </a:p>
        </p:txBody>
      </p:sp>
      <p:sp>
        <p:nvSpPr>
          <p:cNvPr id="22" name="Shape 20"/>
          <p:cNvSpPr/>
          <p:nvPr/>
        </p:nvSpPr>
        <p:spPr>
          <a:xfrm>
            <a:off x="4572000" y="804672"/>
            <a:ext cx="4343400" cy="3364992"/>
          </a:xfrm>
          <a:prstGeom prst="rect">
            <a:avLst/>
          </a:prstGeom>
          <a:solidFill>
            <a:srgbClr val="FFFFFF"/>
          </a:solidFill>
          <a:ln w="12700">
            <a:solidFill>
              <a:srgbClr val="D1D5DB"/>
            </a:solidFill>
            <a:prstDash val="solid"/>
          </a:ln>
          <a:effectLst>
            <a:outerShdw blurRad="101600" dist="38100" dir="8100000" algn="bl" rotWithShape="0">
              <a:srgbClr val="000000">
                <a:alpha val="11000"/>
              </a:srgbClr>
            </a:outerShdw>
          </a:effectLst>
        </p:spPr>
      </p:sp>
      <p:sp>
        <p:nvSpPr>
          <p:cNvPr id="23" name="Shape 21"/>
          <p:cNvSpPr/>
          <p:nvPr/>
        </p:nvSpPr>
        <p:spPr>
          <a:xfrm>
            <a:off x="4572000" y="804672"/>
            <a:ext cx="4343400" cy="329184"/>
          </a:xfrm>
          <a:prstGeom prst="rect">
            <a:avLst/>
          </a:prstGeom>
          <a:solidFill>
            <a:srgbClr val="2A6BAE"/>
          </a:solidFill>
          <a:ln w="12700">
            <a:solidFill>
              <a:srgbClr val="2A6BAE"/>
            </a:solidFill>
            <a:prstDash val="solid"/>
          </a:ln>
        </p:spPr>
      </p:sp>
      <p:sp>
        <p:nvSpPr>
          <p:cNvPr id="24" name="Text 22"/>
          <p:cNvSpPr/>
          <p:nvPr/>
        </p:nvSpPr>
        <p:spPr>
          <a:xfrm>
            <a:off x="4663440" y="822960"/>
            <a:ext cx="4160520" cy="256032"/>
          </a:xfrm>
          <a:prstGeom prst="rect">
            <a:avLst/>
          </a:prstGeom>
          <a:noFill/>
        </p:spPr>
        <p:txBody>
          <a:bodyPr wrap="square" lIns="0" tIns="0" rIns="0" bIns="0" rtlCol="0" anchor="ctr"/>
          <a:lstStyle/>
          <a:p>
            <a:pPr marL="0" indent="0">
              <a:buNone/>
            </a:pPr>
            <a:r>
              <a:rPr lang="en-US" sz="1300" b="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  アクセス情報</a:t>
            </a:r>
            <a:endParaRPr lang="en-US" sz="1300" dirty="0"/>
          </a:p>
        </p:txBody>
      </p:sp>
      <p:sp>
        <p:nvSpPr>
          <p:cNvPr id="25" name="Text 23"/>
          <p:cNvSpPr/>
          <p:nvPr/>
        </p:nvSpPr>
        <p:spPr>
          <a:xfrm>
            <a:off x="4681728" y="1207008"/>
            <a:ext cx="877824" cy="402336"/>
          </a:xfrm>
          <a:prstGeom prst="rect">
            <a:avLst/>
          </a:prstGeom>
          <a:noFill/>
        </p:spPr>
        <p:txBody>
          <a:bodyPr wrap="square" lIns="0" tIns="0" rIns="0" bIns="0" rtlCol="0" anchor="ctr"/>
          <a:lstStyle/>
          <a:p>
            <a:pPr marL="0" indent="0">
              <a:buNone/>
            </a:pPr>
            <a:r>
              <a:rPr lang="en-US" sz="1200" b="1" dirty="0">
                <a:solidFill>
                  <a:srgbClr val="2A6BAE"/>
                </a:solidFill>
                <a:latin typeface="メイリオ" panose="020B0604030504040204" pitchFamily="34" charset="-128"/>
                <a:ea typeface="メイリオ" panose="020B0604030504040204" pitchFamily="34" charset="-122"/>
                <a:cs typeface="メイリオ" panose="020B0604030504040204" pitchFamily="34" charset="-120"/>
              </a:rPr>
              <a:t>集合：</a:t>
            </a:r>
            <a:endParaRPr lang="en-US" sz="1200" dirty="0"/>
          </a:p>
        </p:txBody>
      </p:sp>
      <p:sp>
        <p:nvSpPr>
          <p:cNvPr id="26" name="Text 24"/>
          <p:cNvSpPr/>
          <p:nvPr/>
        </p:nvSpPr>
        <p:spPr>
          <a:xfrm>
            <a:off x="5596128" y="1207008"/>
            <a:ext cx="3218688" cy="402336"/>
          </a:xfrm>
          <a:prstGeom prst="rect">
            <a:avLst/>
          </a:prstGeom>
          <a:noFill/>
        </p:spPr>
        <p:txBody>
          <a:bodyPr wrap="square" lIns="0" tIns="0" rIns="0" bIns="0" rtlCol="0" anchor="t"/>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渋沢駅 北口 08:00</a:t>
            </a:r>
            <a:endParaRPr lang="en-US" sz="1200" dirty="0"/>
          </a:p>
        </p:txBody>
      </p:sp>
      <p:sp>
        <p:nvSpPr>
          <p:cNvPr id="27" name="Shape 25"/>
          <p:cNvSpPr/>
          <p:nvPr/>
        </p:nvSpPr>
        <p:spPr>
          <a:xfrm>
            <a:off x="4681728" y="1609344"/>
            <a:ext cx="4133088" cy="0"/>
          </a:xfrm>
          <a:prstGeom prst="line">
            <a:avLst/>
          </a:prstGeom>
          <a:noFill/>
          <a:ln w="6350">
            <a:solidFill>
              <a:srgbClr val="E5E7EB"/>
            </a:solidFill>
            <a:prstDash val="solid"/>
          </a:ln>
        </p:spPr>
      </p:sp>
      <p:sp>
        <p:nvSpPr>
          <p:cNvPr id="28" name="Text 26"/>
          <p:cNvSpPr/>
          <p:nvPr/>
        </p:nvSpPr>
        <p:spPr>
          <a:xfrm>
            <a:off x="4681728" y="1682496"/>
            <a:ext cx="877824" cy="402336"/>
          </a:xfrm>
          <a:prstGeom prst="rect">
            <a:avLst/>
          </a:prstGeom>
          <a:noFill/>
        </p:spPr>
        <p:txBody>
          <a:bodyPr wrap="square" lIns="0" tIns="0" rIns="0" bIns="0" rtlCol="0" anchor="ctr"/>
          <a:lstStyle/>
          <a:p>
            <a:pPr marL="0" indent="0">
              <a:buNone/>
            </a:pPr>
            <a:r>
              <a:rPr lang="en-US" sz="1200" b="1" dirty="0">
                <a:solidFill>
                  <a:srgbClr val="2A6BAE"/>
                </a:solidFill>
                <a:latin typeface="メイリオ" panose="020B0604030504040204" pitchFamily="34" charset="-128"/>
                <a:ea typeface="メイリオ" panose="020B0604030504040204" pitchFamily="34" charset="-122"/>
                <a:cs typeface="メイリオ" panose="020B0604030504040204" pitchFamily="34" charset="-120"/>
              </a:rPr>
              <a:t>電車：</a:t>
            </a:r>
            <a:endParaRPr lang="en-US" sz="1200" dirty="0"/>
          </a:p>
        </p:txBody>
      </p:sp>
      <p:sp>
        <p:nvSpPr>
          <p:cNvPr id="29" name="Text 27"/>
          <p:cNvSpPr/>
          <p:nvPr/>
        </p:nvSpPr>
        <p:spPr>
          <a:xfrm>
            <a:off x="5596128" y="1682496"/>
            <a:ext cx="3218688" cy="402336"/>
          </a:xfrm>
          <a:prstGeom prst="rect">
            <a:avLst/>
          </a:prstGeom>
          <a:noFill/>
        </p:spPr>
        <p:txBody>
          <a:bodyPr wrap="square" lIns="0" tIns="0" rIns="0" bIns="0" rtlCol="0" anchor="t"/>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新宿→小田急快速急行→渋沢（約63分）</a:t>
            </a:r>
            <a:endParaRPr lang="en-US" sz="1200" dirty="0"/>
          </a:p>
        </p:txBody>
      </p:sp>
      <p:sp>
        <p:nvSpPr>
          <p:cNvPr id="30" name="Shape 28"/>
          <p:cNvSpPr/>
          <p:nvPr/>
        </p:nvSpPr>
        <p:spPr>
          <a:xfrm>
            <a:off x="4681728" y="2084832"/>
            <a:ext cx="4133088" cy="0"/>
          </a:xfrm>
          <a:prstGeom prst="line">
            <a:avLst/>
          </a:prstGeom>
          <a:noFill/>
          <a:ln w="6350">
            <a:solidFill>
              <a:srgbClr val="E5E7EB"/>
            </a:solidFill>
            <a:prstDash val="solid"/>
          </a:ln>
        </p:spPr>
      </p:sp>
      <p:sp>
        <p:nvSpPr>
          <p:cNvPr id="31" name="Text 29"/>
          <p:cNvSpPr/>
          <p:nvPr/>
        </p:nvSpPr>
        <p:spPr>
          <a:xfrm>
            <a:off x="4681728" y="2157984"/>
            <a:ext cx="877824" cy="402336"/>
          </a:xfrm>
          <a:prstGeom prst="rect">
            <a:avLst/>
          </a:prstGeom>
          <a:noFill/>
        </p:spPr>
        <p:txBody>
          <a:bodyPr wrap="square" lIns="0" tIns="0" rIns="0" bIns="0" rtlCol="0" anchor="ctr"/>
          <a:lstStyle/>
          <a:p>
            <a:pPr marL="0" indent="0">
              <a:buNone/>
            </a:pPr>
            <a:r>
              <a:rPr lang="en-US" sz="1200" b="1" dirty="0">
                <a:solidFill>
                  <a:srgbClr val="2A6BAE"/>
                </a:solidFill>
                <a:latin typeface="メイリオ" panose="020B0604030504040204" pitchFamily="34" charset="-128"/>
                <a:ea typeface="メイリオ" panose="020B0604030504040204" pitchFamily="34" charset="-122"/>
                <a:cs typeface="メイリオ" panose="020B0604030504040204" pitchFamily="34" charset="-120"/>
              </a:rPr>
              <a:t>バス：</a:t>
            </a:r>
            <a:endParaRPr lang="en-US" sz="1200" dirty="0"/>
          </a:p>
        </p:txBody>
      </p:sp>
      <p:sp>
        <p:nvSpPr>
          <p:cNvPr id="32" name="Text 30"/>
          <p:cNvSpPr/>
          <p:nvPr/>
        </p:nvSpPr>
        <p:spPr>
          <a:xfrm>
            <a:off x="5596128" y="2157984"/>
            <a:ext cx="3218688" cy="402336"/>
          </a:xfrm>
          <a:prstGeom prst="rect">
            <a:avLst/>
          </a:prstGeom>
          <a:noFill/>
        </p:spPr>
        <p:txBody>
          <a:bodyPr wrap="square" lIns="0" tIns="0" rIns="0" bIns="0" rtlCol="0" anchor="t"/>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渋沢駅北口【渋02】大倉行</a:t>
            </a:r>
            <a:endParaRPr lang="en-US" sz="1200" dirty="0"/>
          </a:p>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 → 大倉バス停（約15分・210円）</a:t>
            </a:r>
            <a:endParaRPr lang="en-US" sz="1200" dirty="0"/>
          </a:p>
        </p:txBody>
      </p:sp>
      <p:sp>
        <p:nvSpPr>
          <p:cNvPr id="33" name="Shape 31"/>
          <p:cNvSpPr/>
          <p:nvPr/>
        </p:nvSpPr>
        <p:spPr>
          <a:xfrm>
            <a:off x="4681728" y="2560320"/>
            <a:ext cx="4133088" cy="0"/>
          </a:xfrm>
          <a:prstGeom prst="line">
            <a:avLst/>
          </a:prstGeom>
          <a:noFill/>
          <a:ln w="6350">
            <a:solidFill>
              <a:srgbClr val="E5E7EB"/>
            </a:solidFill>
            <a:prstDash val="solid"/>
          </a:ln>
        </p:spPr>
      </p:sp>
      <p:sp>
        <p:nvSpPr>
          <p:cNvPr id="34" name="Text 32"/>
          <p:cNvSpPr/>
          <p:nvPr/>
        </p:nvSpPr>
        <p:spPr>
          <a:xfrm>
            <a:off x="4681728" y="2633472"/>
            <a:ext cx="877824" cy="402336"/>
          </a:xfrm>
          <a:prstGeom prst="rect">
            <a:avLst/>
          </a:prstGeom>
          <a:noFill/>
        </p:spPr>
        <p:txBody>
          <a:bodyPr wrap="square" lIns="0" tIns="0" rIns="0" bIns="0" rtlCol="0" anchor="ctr"/>
          <a:lstStyle/>
          <a:p>
            <a:pPr marL="0" indent="0">
              <a:buNone/>
            </a:pPr>
            <a:r>
              <a:rPr lang="en-US" sz="1200" b="1" dirty="0">
                <a:solidFill>
                  <a:srgbClr val="2A6BAE"/>
                </a:solidFill>
                <a:latin typeface="メイリオ" panose="020B0604030504040204" pitchFamily="34" charset="-128"/>
                <a:ea typeface="メイリオ" panose="020B0604030504040204" pitchFamily="34" charset="-122"/>
                <a:cs typeface="メイリオ" panose="020B0604030504040204" pitchFamily="34" charset="-120"/>
              </a:rPr>
              <a:t>注意：</a:t>
            </a:r>
            <a:endParaRPr lang="en-US" sz="1200" dirty="0"/>
          </a:p>
        </p:txBody>
      </p:sp>
      <p:sp>
        <p:nvSpPr>
          <p:cNvPr id="35" name="Text 33"/>
          <p:cNvSpPr/>
          <p:nvPr/>
        </p:nvSpPr>
        <p:spPr>
          <a:xfrm>
            <a:off x="5596128" y="2633472"/>
            <a:ext cx="3218688" cy="402336"/>
          </a:xfrm>
          <a:prstGeom prst="rect">
            <a:avLst/>
          </a:prstGeom>
          <a:noFill/>
        </p:spPr>
        <p:txBody>
          <a:bodyPr wrap="square" lIns="0" tIns="0" rIns="0" bIns="0" rtlCol="0" anchor="t"/>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GWはバスに長蛇の列！</a:t>
            </a:r>
            <a:endParaRPr lang="en-US" sz="1200" dirty="0"/>
          </a:p>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ICカード持参推奨</a:t>
            </a:r>
            <a:endParaRPr lang="en-US" sz="1200" dirty="0"/>
          </a:p>
        </p:txBody>
      </p:sp>
      <p:sp>
        <p:nvSpPr>
          <p:cNvPr id="36" name="Shape 34"/>
          <p:cNvSpPr/>
          <p:nvPr/>
        </p:nvSpPr>
        <p:spPr>
          <a:xfrm>
            <a:off x="4681728" y="3035808"/>
            <a:ext cx="4133088" cy="0"/>
          </a:xfrm>
          <a:prstGeom prst="line">
            <a:avLst/>
          </a:prstGeom>
          <a:noFill/>
          <a:ln w="6350">
            <a:solidFill>
              <a:srgbClr val="E5E7EB"/>
            </a:solidFill>
            <a:prstDash val="solid"/>
          </a:ln>
        </p:spPr>
      </p:sp>
      <p:sp>
        <p:nvSpPr>
          <p:cNvPr id="37" name="Text 35"/>
          <p:cNvSpPr/>
          <p:nvPr/>
        </p:nvSpPr>
        <p:spPr>
          <a:xfrm>
            <a:off x="4681728" y="3108960"/>
            <a:ext cx="877824" cy="402336"/>
          </a:xfrm>
          <a:prstGeom prst="rect">
            <a:avLst/>
          </a:prstGeom>
          <a:noFill/>
        </p:spPr>
        <p:txBody>
          <a:bodyPr wrap="square" lIns="0" tIns="0" rIns="0" bIns="0" rtlCol="0" anchor="ctr"/>
          <a:lstStyle/>
          <a:p>
            <a:pPr marL="0" indent="0">
              <a:buNone/>
            </a:pPr>
            <a:r>
              <a:rPr lang="en-US" sz="1200" b="1" dirty="0">
                <a:solidFill>
                  <a:srgbClr val="2A6BAE"/>
                </a:solidFill>
                <a:latin typeface="メイリオ" panose="020B0604030504040204" pitchFamily="34" charset="-128"/>
                <a:ea typeface="メイリオ" panose="020B0604030504040204" pitchFamily="34" charset="-122"/>
                <a:cs typeface="メイリオ" panose="020B0604030504040204" pitchFamily="34" charset="-120"/>
              </a:rPr>
              <a:t>帰り：</a:t>
            </a:r>
            <a:endParaRPr lang="en-US" sz="1200" dirty="0"/>
          </a:p>
        </p:txBody>
      </p:sp>
      <p:sp>
        <p:nvSpPr>
          <p:cNvPr id="38" name="Text 36"/>
          <p:cNvSpPr/>
          <p:nvPr/>
        </p:nvSpPr>
        <p:spPr>
          <a:xfrm>
            <a:off x="5596128" y="3108960"/>
            <a:ext cx="3218688" cy="402336"/>
          </a:xfrm>
          <a:prstGeom prst="rect">
            <a:avLst/>
          </a:prstGeom>
          <a:noFill/>
        </p:spPr>
        <p:txBody>
          <a:bodyPr wrap="square" lIns="0" tIns="0" rIns="0" bIns="0" rtlCol="0" anchor="t"/>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大倉BS → 渋沢駅 → 各自解散</a:t>
            </a:r>
            <a:endParaRPr lang="en-US" sz="1200" dirty="0"/>
          </a:p>
        </p:txBody>
      </p:sp>
      <p:sp>
        <p:nvSpPr>
          <p:cNvPr id="39" name="Shape 37"/>
          <p:cNvSpPr/>
          <p:nvPr/>
        </p:nvSpPr>
        <p:spPr>
          <a:xfrm>
            <a:off x="228600" y="4297680"/>
            <a:ext cx="8686800" cy="822960"/>
          </a:xfrm>
          <a:prstGeom prst="rect">
            <a:avLst/>
          </a:prstGeom>
          <a:solidFill>
            <a:srgbClr val="FFFFFF"/>
          </a:solidFill>
          <a:ln w="12700">
            <a:solidFill>
              <a:srgbClr val="D1D5DB"/>
            </a:solidFill>
            <a:prstDash val="solid"/>
          </a:ln>
          <a:effectLst>
            <a:outerShdw blurRad="101600" dist="38100" dir="8100000" algn="bl" rotWithShape="0">
              <a:srgbClr val="000000">
                <a:alpha val="11000"/>
              </a:srgbClr>
            </a:outerShdw>
          </a:effectLst>
        </p:spPr>
      </p:sp>
      <p:sp>
        <p:nvSpPr>
          <p:cNvPr id="40" name="Shape 38"/>
          <p:cNvSpPr/>
          <p:nvPr/>
        </p:nvSpPr>
        <p:spPr>
          <a:xfrm>
            <a:off x="548640" y="4462272"/>
            <a:ext cx="237744" cy="237744"/>
          </a:xfrm>
          <a:prstGeom prst="ellipse">
            <a:avLst/>
          </a:prstGeom>
          <a:solidFill>
            <a:srgbClr val="2A6BAE"/>
          </a:solidFill>
          <a:ln w="12700">
            <a:solidFill>
              <a:srgbClr val="2A6BAE"/>
            </a:solidFill>
            <a:prstDash val="solid"/>
          </a:ln>
        </p:spPr>
      </p:sp>
      <p:sp>
        <p:nvSpPr>
          <p:cNvPr id="41" name="Text 39"/>
          <p:cNvSpPr/>
          <p:nvPr/>
        </p:nvSpPr>
        <p:spPr>
          <a:xfrm>
            <a:off x="164592" y="4718304"/>
            <a:ext cx="1024128" cy="347472"/>
          </a:xfrm>
          <a:prstGeom prst="rect">
            <a:avLst/>
          </a:prstGeom>
          <a:noFill/>
        </p:spPr>
        <p:txBody>
          <a:bodyPr wrap="square" lIns="0" tIns="0" rIns="0" bIns="0" rtlCol="0" anchor="ctr"/>
          <a:lstStyle/>
          <a:p>
            <a:pPr marL="0" indent="0" algn="ctr">
              <a:buNone/>
            </a:pPr>
            <a:r>
              <a:rPr lang="en-US" sz="95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新宿</a:t>
            </a:r>
            <a:endParaRPr lang="en-US" sz="950" dirty="0"/>
          </a:p>
        </p:txBody>
      </p:sp>
      <p:sp>
        <p:nvSpPr>
          <p:cNvPr id="42" name="Shape 40"/>
          <p:cNvSpPr/>
          <p:nvPr/>
        </p:nvSpPr>
        <p:spPr>
          <a:xfrm>
            <a:off x="786384" y="4562856"/>
            <a:ext cx="1225296" cy="0"/>
          </a:xfrm>
          <a:prstGeom prst="line">
            <a:avLst/>
          </a:prstGeom>
          <a:noFill/>
          <a:ln w="19050">
            <a:solidFill>
              <a:srgbClr val="2A6BAE"/>
            </a:solidFill>
            <a:prstDash val="solid"/>
          </a:ln>
        </p:spPr>
      </p:sp>
      <p:sp>
        <p:nvSpPr>
          <p:cNvPr id="43" name="Shape 41"/>
          <p:cNvSpPr/>
          <p:nvPr/>
        </p:nvSpPr>
        <p:spPr>
          <a:xfrm>
            <a:off x="2011680" y="4462272"/>
            <a:ext cx="237744" cy="237744"/>
          </a:xfrm>
          <a:prstGeom prst="ellipse">
            <a:avLst/>
          </a:prstGeom>
          <a:solidFill>
            <a:srgbClr val="2A6BAE"/>
          </a:solidFill>
          <a:ln w="12700">
            <a:solidFill>
              <a:srgbClr val="2A6BAE"/>
            </a:solidFill>
            <a:prstDash val="solid"/>
          </a:ln>
        </p:spPr>
      </p:sp>
      <p:sp>
        <p:nvSpPr>
          <p:cNvPr id="44" name="Text 42"/>
          <p:cNvSpPr/>
          <p:nvPr/>
        </p:nvSpPr>
        <p:spPr>
          <a:xfrm>
            <a:off x="1627632" y="4718304"/>
            <a:ext cx="1024128" cy="347472"/>
          </a:xfrm>
          <a:prstGeom prst="rect">
            <a:avLst/>
          </a:prstGeom>
          <a:noFill/>
        </p:spPr>
        <p:txBody>
          <a:bodyPr wrap="square" lIns="0" tIns="0" rIns="0" bIns="0" rtlCol="0" anchor="ctr"/>
          <a:lstStyle/>
          <a:p>
            <a:pPr marL="0" indent="0" algn="ctr">
              <a:buNone/>
            </a:pPr>
            <a:r>
              <a:rPr lang="en-US" sz="95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渋沢駅(集合)</a:t>
            </a:r>
            <a:endParaRPr lang="en-US" sz="950" dirty="0"/>
          </a:p>
        </p:txBody>
      </p:sp>
      <p:sp>
        <p:nvSpPr>
          <p:cNvPr id="45" name="Shape 43"/>
          <p:cNvSpPr/>
          <p:nvPr/>
        </p:nvSpPr>
        <p:spPr>
          <a:xfrm>
            <a:off x="2249424" y="4562856"/>
            <a:ext cx="1225296" cy="0"/>
          </a:xfrm>
          <a:prstGeom prst="line">
            <a:avLst/>
          </a:prstGeom>
          <a:noFill/>
          <a:ln w="19050">
            <a:solidFill>
              <a:srgbClr val="2A6BAE"/>
            </a:solidFill>
            <a:prstDash val="solid"/>
          </a:ln>
        </p:spPr>
      </p:sp>
      <p:sp>
        <p:nvSpPr>
          <p:cNvPr id="46" name="Shape 44"/>
          <p:cNvSpPr/>
          <p:nvPr/>
        </p:nvSpPr>
        <p:spPr>
          <a:xfrm>
            <a:off x="3474720" y="4462272"/>
            <a:ext cx="237744" cy="237744"/>
          </a:xfrm>
          <a:prstGeom prst="ellipse">
            <a:avLst/>
          </a:prstGeom>
          <a:solidFill>
            <a:srgbClr val="2C6B3A"/>
          </a:solidFill>
          <a:ln w="12700">
            <a:solidFill>
              <a:srgbClr val="2C6B3A"/>
            </a:solidFill>
            <a:prstDash val="solid"/>
          </a:ln>
        </p:spPr>
      </p:sp>
      <p:sp>
        <p:nvSpPr>
          <p:cNvPr id="47" name="Text 45"/>
          <p:cNvSpPr/>
          <p:nvPr/>
        </p:nvSpPr>
        <p:spPr>
          <a:xfrm>
            <a:off x="3090672" y="4718304"/>
            <a:ext cx="1024128" cy="347472"/>
          </a:xfrm>
          <a:prstGeom prst="rect">
            <a:avLst/>
          </a:prstGeom>
          <a:noFill/>
        </p:spPr>
        <p:txBody>
          <a:bodyPr wrap="square" lIns="0" tIns="0" rIns="0" bIns="0" rtlCol="0" anchor="ctr"/>
          <a:lstStyle/>
          <a:p>
            <a:pPr marL="0" indent="0" algn="ctr">
              <a:buNone/>
            </a:pPr>
            <a:r>
              <a:rPr lang="en-US" sz="95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大倉BS</a:t>
            </a:r>
            <a:endParaRPr lang="en-US" sz="950" dirty="0"/>
          </a:p>
        </p:txBody>
      </p:sp>
      <p:sp>
        <p:nvSpPr>
          <p:cNvPr id="48" name="Shape 46"/>
          <p:cNvSpPr/>
          <p:nvPr/>
        </p:nvSpPr>
        <p:spPr>
          <a:xfrm>
            <a:off x="3712464" y="4562856"/>
            <a:ext cx="1225296" cy="0"/>
          </a:xfrm>
          <a:prstGeom prst="line">
            <a:avLst/>
          </a:prstGeom>
          <a:noFill/>
          <a:ln w="19050">
            <a:solidFill>
              <a:srgbClr val="2C6B3A"/>
            </a:solidFill>
            <a:prstDash val="solid"/>
          </a:ln>
        </p:spPr>
      </p:sp>
      <p:sp>
        <p:nvSpPr>
          <p:cNvPr id="49" name="Shape 47"/>
          <p:cNvSpPr/>
          <p:nvPr/>
        </p:nvSpPr>
        <p:spPr>
          <a:xfrm>
            <a:off x="4937760" y="4462272"/>
            <a:ext cx="237744" cy="237744"/>
          </a:xfrm>
          <a:prstGeom prst="ellipse">
            <a:avLst/>
          </a:prstGeom>
          <a:solidFill>
            <a:srgbClr val="2C6B3A"/>
          </a:solidFill>
          <a:ln w="12700">
            <a:solidFill>
              <a:srgbClr val="2C6B3A"/>
            </a:solidFill>
            <a:prstDash val="solid"/>
          </a:ln>
        </p:spPr>
      </p:sp>
      <p:sp>
        <p:nvSpPr>
          <p:cNvPr id="50" name="Text 48"/>
          <p:cNvSpPr/>
          <p:nvPr/>
        </p:nvSpPr>
        <p:spPr>
          <a:xfrm>
            <a:off x="4553712" y="4718304"/>
            <a:ext cx="1024128" cy="347472"/>
          </a:xfrm>
          <a:prstGeom prst="rect">
            <a:avLst/>
          </a:prstGeom>
          <a:noFill/>
        </p:spPr>
        <p:txBody>
          <a:bodyPr wrap="square" lIns="0" tIns="0" rIns="0" bIns="0" rtlCol="0" anchor="ctr"/>
          <a:lstStyle/>
          <a:p>
            <a:pPr marL="0" indent="0" algn="ctr">
              <a:buNone/>
            </a:pPr>
            <a:r>
              <a:rPr lang="en-US" sz="95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二俣</a:t>
            </a:r>
            <a:endParaRPr lang="en-US" sz="950" dirty="0"/>
          </a:p>
        </p:txBody>
      </p:sp>
      <p:sp>
        <p:nvSpPr>
          <p:cNvPr id="51" name="Shape 49"/>
          <p:cNvSpPr/>
          <p:nvPr/>
        </p:nvSpPr>
        <p:spPr>
          <a:xfrm>
            <a:off x="5175504" y="4562856"/>
            <a:ext cx="1225296" cy="0"/>
          </a:xfrm>
          <a:prstGeom prst="line">
            <a:avLst/>
          </a:prstGeom>
          <a:noFill/>
          <a:ln w="19050">
            <a:solidFill>
              <a:srgbClr val="2C6B3A"/>
            </a:solidFill>
            <a:prstDash val="solid"/>
          </a:ln>
        </p:spPr>
      </p:sp>
      <p:sp>
        <p:nvSpPr>
          <p:cNvPr id="52" name="Shape 50"/>
          <p:cNvSpPr/>
          <p:nvPr/>
        </p:nvSpPr>
        <p:spPr>
          <a:xfrm>
            <a:off x="6400800" y="4462272"/>
            <a:ext cx="237744" cy="237744"/>
          </a:xfrm>
          <a:prstGeom prst="ellipse">
            <a:avLst/>
          </a:prstGeom>
          <a:solidFill>
            <a:srgbClr val="7A4520"/>
          </a:solidFill>
          <a:ln w="12700">
            <a:solidFill>
              <a:srgbClr val="7A4520"/>
            </a:solidFill>
            <a:prstDash val="solid"/>
          </a:ln>
        </p:spPr>
      </p:sp>
      <p:sp>
        <p:nvSpPr>
          <p:cNvPr id="53" name="Text 51"/>
          <p:cNvSpPr/>
          <p:nvPr/>
        </p:nvSpPr>
        <p:spPr>
          <a:xfrm>
            <a:off x="6016752" y="4718304"/>
            <a:ext cx="1024128" cy="347472"/>
          </a:xfrm>
          <a:prstGeom prst="rect">
            <a:avLst/>
          </a:prstGeom>
          <a:noFill/>
        </p:spPr>
        <p:txBody>
          <a:bodyPr wrap="square" lIns="0" tIns="0" rIns="0" bIns="0" rtlCol="0" anchor="ctr"/>
          <a:lstStyle/>
          <a:p>
            <a:pPr marL="0" indent="0" algn="ctr">
              <a:buNone/>
            </a:pPr>
            <a:r>
              <a:rPr lang="en-US" sz="95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後沢乗越</a:t>
            </a:r>
            <a:endParaRPr lang="en-US" sz="950" dirty="0"/>
          </a:p>
        </p:txBody>
      </p:sp>
      <p:sp>
        <p:nvSpPr>
          <p:cNvPr id="54" name="Shape 52"/>
          <p:cNvSpPr/>
          <p:nvPr/>
        </p:nvSpPr>
        <p:spPr>
          <a:xfrm>
            <a:off x="6638544" y="4562856"/>
            <a:ext cx="1225296" cy="0"/>
          </a:xfrm>
          <a:prstGeom prst="line">
            <a:avLst/>
          </a:prstGeom>
          <a:noFill/>
          <a:ln w="19050">
            <a:solidFill>
              <a:srgbClr val="7A4520"/>
            </a:solidFill>
            <a:prstDash val="solid"/>
          </a:ln>
        </p:spPr>
      </p:sp>
      <p:sp>
        <p:nvSpPr>
          <p:cNvPr id="55" name="Shape 53"/>
          <p:cNvSpPr/>
          <p:nvPr/>
        </p:nvSpPr>
        <p:spPr>
          <a:xfrm>
            <a:off x="7863840" y="4462272"/>
            <a:ext cx="237744" cy="237744"/>
          </a:xfrm>
          <a:prstGeom prst="ellipse">
            <a:avLst/>
          </a:prstGeom>
          <a:solidFill>
            <a:srgbClr val="2C6B3A"/>
          </a:solidFill>
          <a:ln w="12700">
            <a:solidFill>
              <a:srgbClr val="2C6B3A"/>
            </a:solidFill>
            <a:prstDash val="solid"/>
          </a:ln>
        </p:spPr>
      </p:sp>
      <p:sp>
        <p:nvSpPr>
          <p:cNvPr id="56" name="Text 54"/>
          <p:cNvSpPr/>
          <p:nvPr/>
        </p:nvSpPr>
        <p:spPr>
          <a:xfrm>
            <a:off x="7479792" y="4718304"/>
            <a:ext cx="1024128" cy="347472"/>
          </a:xfrm>
          <a:prstGeom prst="rect">
            <a:avLst/>
          </a:prstGeom>
          <a:noFill/>
        </p:spPr>
        <p:txBody>
          <a:bodyPr wrap="square" lIns="0" tIns="0" rIns="0" bIns="0" rtlCol="0" anchor="ctr"/>
          <a:lstStyle/>
          <a:p>
            <a:pPr marL="0" indent="0" algn="ctr">
              <a:buNone/>
            </a:pPr>
            <a:r>
              <a:rPr lang="en-US" sz="95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鍋割山頂</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AF3"/>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2C6B3A"/>
          </a:solidFill>
          <a:ln w="12700">
            <a:solidFill>
              <a:srgbClr val="2C6B3A"/>
            </a:solidFill>
            <a:prstDash val="solid"/>
          </a:ln>
        </p:spPr>
      </p:sp>
      <p:sp>
        <p:nvSpPr>
          <p:cNvPr id="3" name="Shape 1"/>
          <p:cNvSpPr/>
          <p:nvPr/>
        </p:nvSpPr>
        <p:spPr>
          <a:xfrm>
            <a:off x="0" y="0"/>
            <a:ext cx="164592" cy="685800"/>
          </a:xfrm>
          <a:prstGeom prst="rect">
            <a:avLst/>
          </a:prstGeom>
          <a:solidFill>
            <a:srgbClr val="7DC87A"/>
          </a:solidFill>
          <a:ln w="12700">
            <a:solidFill>
              <a:srgbClr val="7DC87A"/>
            </a:solidFill>
            <a:prstDash val="solid"/>
          </a:ln>
        </p:spPr>
      </p:sp>
      <p:sp>
        <p:nvSpPr>
          <p:cNvPr id="4" name="Text 2"/>
          <p:cNvSpPr/>
          <p:nvPr/>
        </p:nvSpPr>
        <p:spPr>
          <a:xfrm>
            <a:off x="274320" y="91440"/>
            <a:ext cx="8686800" cy="530352"/>
          </a:xfrm>
          <a:prstGeom prst="rect">
            <a:avLst/>
          </a:prstGeom>
          <a:noFill/>
        </p:spPr>
        <p:txBody>
          <a:bodyPr wrap="square" lIns="0" tIns="0" rIns="0" bIns="0" rtlCol="0" anchor="ctr"/>
          <a:lstStyle/>
          <a:p>
            <a:pPr marL="0" indent="0">
              <a:buNone/>
            </a:pPr>
            <a:r>
              <a:rPr lang="en-US" sz="2400" b="1" dirty="0">
                <a:solidFill>
                  <a:srgbClr val="FFFFFF"/>
                </a:solidFill>
                <a:latin typeface="メイリオ" panose="020B0604030504040204" pitchFamily="34" charset="-128"/>
                <a:ea typeface="メイリオ" panose="020B0604030504040204" pitchFamily="34" charset="-122"/>
                <a:cs typeface="メイリオ" panose="020B0604030504040204" pitchFamily="34" charset="-120"/>
              </a:rPr>
              <a:t>📝 申込方法 ＋ ⚠️ 注意事項</a:t>
            </a:r>
            <a:endParaRPr lang="en-US" sz="2400" dirty="0"/>
          </a:p>
        </p:txBody>
      </p:sp>
      <p:sp>
        <p:nvSpPr>
          <p:cNvPr id="5" name="Shape 3"/>
          <p:cNvSpPr/>
          <p:nvPr/>
        </p:nvSpPr>
        <p:spPr>
          <a:xfrm>
            <a:off x="228600" y="804672"/>
            <a:ext cx="8686800" cy="1188720"/>
          </a:xfrm>
          <a:prstGeom prst="rect">
            <a:avLst/>
          </a:prstGeom>
          <a:solidFill>
            <a:srgbClr val="FFFFFF"/>
          </a:solidFill>
          <a:ln w="25400">
            <a:solidFill>
              <a:srgbClr val="3E9E56"/>
            </a:solidFill>
            <a:prstDash val="solid"/>
          </a:ln>
          <a:effectLst>
            <a:outerShdw blurRad="101600" dist="38100" dir="8100000" algn="bl" rotWithShape="0">
              <a:srgbClr val="000000">
                <a:alpha val="11000"/>
              </a:srgbClr>
            </a:outerShdw>
          </a:effectLst>
        </p:spPr>
      </p:sp>
      <p:sp>
        <p:nvSpPr>
          <p:cNvPr id="6" name="Shape 4"/>
          <p:cNvSpPr/>
          <p:nvPr/>
        </p:nvSpPr>
        <p:spPr>
          <a:xfrm>
            <a:off x="228600" y="804672"/>
            <a:ext cx="146304" cy="1188720"/>
          </a:xfrm>
          <a:prstGeom prst="rect">
            <a:avLst/>
          </a:prstGeom>
          <a:solidFill>
            <a:srgbClr val="3E9E56"/>
          </a:solidFill>
          <a:ln w="12700">
            <a:solidFill>
              <a:srgbClr val="3E9E56"/>
            </a:solidFill>
            <a:prstDash val="solid"/>
          </a:ln>
        </p:spPr>
      </p:sp>
      <p:sp>
        <p:nvSpPr>
          <p:cNvPr id="7" name="Text 5"/>
          <p:cNvSpPr/>
          <p:nvPr/>
        </p:nvSpPr>
        <p:spPr>
          <a:xfrm>
            <a:off x="475488" y="859536"/>
            <a:ext cx="8321040" cy="256032"/>
          </a:xfrm>
          <a:prstGeom prst="rect">
            <a:avLst/>
          </a:prstGeom>
          <a:noFill/>
        </p:spPr>
        <p:txBody>
          <a:bodyPr wrap="square" lIns="0" tIns="0" rIns="0" bIns="0" rtlCol="0" anchor="ctr"/>
          <a:lstStyle/>
          <a:p>
            <a:pPr marL="0" indent="0">
              <a:buNone/>
            </a:pPr>
            <a:r>
              <a:rPr lang="en-US" sz="1400" b="1" dirty="0">
                <a:solidFill>
                  <a:srgbClr val="2C6B3A"/>
                </a:solidFill>
                <a:latin typeface="メイリオ" panose="020B0604030504040204" pitchFamily="34" charset="-128"/>
                <a:ea typeface="メイリオ" panose="020B0604030504040204" pitchFamily="34" charset="-122"/>
                <a:cs typeface="メイリオ" panose="020B0604030504040204" pitchFamily="34" charset="-120"/>
              </a:rPr>
              <a:t>📋  申込情報</a:t>
            </a:r>
            <a:endParaRPr lang="en-US" sz="1400" dirty="0"/>
          </a:p>
        </p:txBody>
      </p:sp>
      <p:sp>
        <p:nvSpPr>
          <p:cNvPr id="8" name="Text 6"/>
          <p:cNvSpPr/>
          <p:nvPr/>
        </p:nvSpPr>
        <p:spPr>
          <a:xfrm>
            <a:off x="475488" y="1115568"/>
            <a:ext cx="1463040" cy="237744"/>
          </a:xfrm>
          <a:prstGeom prst="rect">
            <a:avLst/>
          </a:prstGeom>
          <a:noFill/>
        </p:spPr>
        <p:txBody>
          <a:bodyPr wrap="square" lIns="0" tIns="0" rIns="0" bIns="0" rtlCol="0" anchor="ctr"/>
          <a:lstStyle/>
          <a:p>
            <a:pPr marL="0" indent="0">
              <a:buNone/>
            </a:pPr>
            <a:r>
              <a:rPr lang="en-US" sz="1200" b="1" dirty="0">
                <a:solidFill>
                  <a:srgbClr val="2C6B3A"/>
                </a:solidFill>
                <a:latin typeface="メイリオ" panose="020B0604030504040204" pitchFamily="34" charset="-128"/>
                <a:ea typeface="メイリオ" panose="020B0604030504040204" pitchFamily="34" charset="-122"/>
                <a:cs typeface="メイリオ" panose="020B0604030504040204" pitchFamily="34" charset="-120"/>
              </a:rPr>
              <a:t>⏰ 締め切り</a:t>
            </a:r>
            <a:endParaRPr lang="en-US" sz="1200" dirty="0"/>
          </a:p>
        </p:txBody>
      </p:sp>
      <p:sp>
        <p:nvSpPr>
          <p:cNvPr id="9" name="Text 7"/>
          <p:cNvSpPr/>
          <p:nvPr/>
        </p:nvSpPr>
        <p:spPr>
          <a:xfrm>
            <a:off x="1965960" y="1115568"/>
            <a:ext cx="6858000" cy="237744"/>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5月1日（木）まで（3日前）</a:t>
            </a:r>
            <a:endParaRPr lang="en-US" sz="1200" dirty="0"/>
          </a:p>
        </p:txBody>
      </p:sp>
      <p:sp>
        <p:nvSpPr>
          <p:cNvPr id="10" name="Text 8"/>
          <p:cNvSpPr/>
          <p:nvPr/>
        </p:nvSpPr>
        <p:spPr>
          <a:xfrm>
            <a:off x="475488" y="1389888"/>
            <a:ext cx="1463040" cy="237744"/>
          </a:xfrm>
          <a:prstGeom prst="rect">
            <a:avLst/>
          </a:prstGeom>
          <a:noFill/>
        </p:spPr>
        <p:txBody>
          <a:bodyPr wrap="square" lIns="0" tIns="0" rIns="0" bIns="0" rtlCol="0" anchor="ctr"/>
          <a:lstStyle/>
          <a:p>
            <a:pPr marL="0" indent="0">
              <a:buNone/>
            </a:pPr>
            <a:r>
              <a:rPr lang="en-US" sz="1200" b="1" dirty="0">
                <a:solidFill>
                  <a:srgbClr val="2C6B3A"/>
                </a:solidFill>
                <a:latin typeface="メイリオ" panose="020B0604030504040204" pitchFamily="34" charset="-128"/>
                <a:ea typeface="メイリオ" panose="020B0604030504040204" pitchFamily="34" charset="-122"/>
                <a:cs typeface="メイリオ" panose="020B0604030504040204" pitchFamily="34" charset="-120"/>
              </a:rPr>
              <a:t>📬 申込方法</a:t>
            </a:r>
            <a:endParaRPr lang="en-US" sz="1200" dirty="0"/>
          </a:p>
        </p:txBody>
      </p:sp>
      <p:sp>
        <p:nvSpPr>
          <p:cNvPr id="11" name="Text 9"/>
          <p:cNvSpPr/>
          <p:nvPr/>
        </p:nvSpPr>
        <p:spPr>
          <a:xfrm>
            <a:off x="1965960" y="1389888"/>
            <a:ext cx="6858000" cy="237744"/>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主催者に参加の旨を連絡してください</a:t>
            </a:r>
            <a:endParaRPr lang="en-US" sz="1200" dirty="0"/>
          </a:p>
        </p:txBody>
      </p:sp>
      <p:sp>
        <p:nvSpPr>
          <p:cNvPr id="12" name="Text 10"/>
          <p:cNvSpPr/>
          <p:nvPr/>
        </p:nvSpPr>
        <p:spPr>
          <a:xfrm>
            <a:off x="475488" y="1664208"/>
            <a:ext cx="1463040" cy="237744"/>
          </a:xfrm>
          <a:prstGeom prst="rect">
            <a:avLst/>
          </a:prstGeom>
          <a:noFill/>
        </p:spPr>
        <p:txBody>
          <a:bodyPr wrap="square" lIns="0" tIns="0" rIns="0" bIns="0" rtlCol="0" anchor="ctr"/>
          <a:lstStyle/>
          <a:p>
            <a:pPr marL="0" indent="0">
              <a:buNone/>
            </a:pPr>
            <a:r>
              <a:rPr lang="en-US" sz="1200" b="1" dirty="0">
                <a:solidFill>
                  <a:srgbClr val="2C6B3A"/>
                </a:solidFill>
                <a:latin typeface="メイリオ" panose="020B0604030504040204" pitchFamily="34" charset="-128"/>
                <a:ea typeface="メイリオ" panose="020B0604030504040204" pitchFamily="34" charset="-122"/>
                <a:cs typeface="メイリオ" panose="020B0604030504040204" pitchFamily="34" charset="-120"/>
              </a:rPr>
              <a:t>💡 コース</a:t>
            </a:r>
            <a:endParaRPr lang="en-US" sz="1200" dirty="0"/>
          </a:p>
        </p:txBody>
      </p:sp>
      <p:sp>
        <p:nvSpPr>
          <p:cNvPr id="13" name="Text 11"/>
          <p:cNvSpPr/>
          <p:nvPr/>
        </p:nvSpPr>
        <p:spPr>
          <a:xfrm>
            <a:off x="1965960" y="1664208"/>
            <a:ext cx="6858000" cy="237744"/>
          </a:xfrm>
          <a:prstGeom prst="rect">
            <a:avLst/>
          </a:prstGeom>
          <a:noFill/>
        </p:spPr>
        <p:txBody>
          <a:bodyPr wrap="square" lIns="0" tIns="0" rIns="0" bIns="0" rtlCol="0" anchor="ctr"/>
          <a:lstStyle/>
          <a:p>
            <a:pPr marL="0" indent="0">
              <a:buNone/>
            </a:pPr>
            <a:r>
              <a:rPr lang="en-US" sz="1200" dirty="0">
                <a:solidFill>
                  <a:srgbClr val="2C4430"/>
                </a:solidFill>
                <a:latin typeface="メイリオ" panose="020B0604030504040204" pitchFamily="34" charset="-128"/>
                <a:ea typeface="メイリオ" panose="020B0604030504040204" pitchFamily="34" charset="-122"/>
                <a:cs typeface="メイリオ" panose="020B0604030504040204" pitchFamily="34" charset="-120"/>
              </a:rPr>
              <a:t>大倉→二俣→後沢乗越→鍋割山（往復）1日コースのみ</a:t>
            </a:r>
            <a:endParaRPr lang="en-US" sz="1200" dirty="0"/>
          </a:p>
        </p:txBody>
      </p:sp>
      <p:sp>
        <p:nvSpPr>
          <p:cNvPr id="14" name="Shape 12"/>
          <p:cNvSpPr/>
          <p:nvPr/>
        </p:nvSpPr>
        <p:spPr>
          <a:xfrm>
            <a:off x="228600" y="2157984"/>
            <a:ext cx="4206240" cy="1225296"/>
          </a:xfrm>
          <a:prstGeom prst="rect">
            <a:avLst/>
          </a:prstGeom>
          <a:solidFill>
            <a:srgbClr val="FFFFFF"/>
          </a:solidFill>
          <a:ln w="19050">
            <a:solidFill>
              <a:srgbClr val="D4860E"/>
            </a:solidFill>
            <a:prstDash val="solid"/>
          </a:ln>
          <a:effectLst>
            <a:outerShdw blurRad="101600" dist="38100" dir="8100000" algn="bl" rotWithShape="0">
              <a:srgbClr val="000000">
                <a:alpha val="11000"/>
              </a:srgbClr>
            </a:outerShdw>
          </a:effectLst>
        </p:spPr>
      </p:sp>
      <p:sp>
        <p:nvSpPr>
          <p:cNvPr id="15" name="Shape 13"/>
          <p:cNvSpPr/>
          <p:nvPr/>
        </p:nvSpPr>
        <p:spPr>
          <a:xfrm>
            <a:off x="228600" y="2157984"/>
            <a:ext cx="4206240" cy="310896"/>
          </a:xfrm>
          <a:prstGeom prst="rect">
            <a:avLst/>
          </a:prstGeom>
          <a:solidFill>
            <a:srgbClr val="D4860E">
              <a:alpha val="12000"/>
            </a:srgbClr>
          </a:solidFill>
          <a:ln w="12700">
            <a:solidFill>
              <a:srgbClr val="D4860E"/>
            </a:solidFill>
            <a:prstDash val="solid"/>
          </a:ln>
        </p:spPr>
      </p:sp>
      <p:sp>
        <p:nvSpPr>
          <p:cNvPr id="16" name="Text 14"/>
          <p:cNvSpPr/>
          <p:nvPr/>
        </p:nvSpPr>
        <p:spPr>
          <a:xfrm>
            <a:off x="338328" y="2194560"/>
            <a:ext cx="3986784" cy="237744"/>
          </a:xfrm>
          <a:prstGeom prst="rect">
            <a:avLst/>
          </a:prstGeom>
          <a:noFill/>
        </p:spPr>
        <p:txBody>
          <a:bodyPr wrap="square" lIns="0" tIns="0" rIns="0" bIns="0" rtlCol="0" anchor="ctr"/>
          <a:lstStyle/>
          <a:p>
            <a:pPr marL="0" indent="0">
              <a:buNone/>
            </a:pPr>
            <a:r>
              <a:rPr lang="en-US" sz="1300" b="1" dirty="0">
                <a:solidFill>
                  <a:srgbClr val="D4860E"/>
                </a:solidFill>
                <a:latin typeface="メイリオ" panose="020B0604030504040204" pitchFamily="34" charset="-128"/>
                <a:ea typeface="メイリオ" panose="020B0604030504040204" pitchFamily="34" charset="-122"/>
                <a:cs typeface="メイリオ" panose="020B0604030504040204" pitchFamily="34" charset="-120"/>
              </a:rPr>
              <a:t>🍜  うどんは早い者勝ち！</a:t>
            </a:r>
            <a:endParaRPr lang="en-US" sz="1300" dirty="0"/>
          </a:p>
        </p:txBody>
      </p:sp>
      <p:sp>
        <p:nvSpPr>
          <p:cNvPr id="17" name="Text 15"/>
          <p:cNvSpPr/>
          <p:nvPr/>
        </p:nvSpPr>
        <p:spPr>
          <a:xfrm>
            <a:off x="338328" y="2542032"/>
            <a:ext cx="3986784" cy="768096"/>
          </a:xfrm>
          <a:prstGeom prst="rect">
            <a:avLst/>
          </a:prstGeom>
          <a:noFill/>
        </p:spPr>
        <p:txBody>
          <a:bodyPr wrap="square" lIns="0" tIns="0" rIns="0" bIns="0" rtlCol="0" anchor="t"/>
          <a:lstStyle/>
          <a:p>
            <a:pPr marL="0" indent="0">
              <a:buNone/>
            </a:pPr>
            <a:r>
              <a:rPr lang="en-US" sz="120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GWは10時頃から行列・11時前後に売り切れることも。早出が絶対条件！</a:t>
            </a:r>
            <a:endParaRPr lang="en-US" sz="120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endParaRPr>
          </a:p>
          <a:p>
            <a:pPr marL="0" indent="0">
              <a:buNone/>
            </a:pPr>
            <a:r>
              <a:rPr lang="ja-JP" altLang="en-US" sz="120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売り切れた場合の軽食も準備</a:t>
            </a:r>
            <a:r>
              <a:rPr lang="ja-JP" altLang="en-US" sz="120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a:t>
            </a:r>
            <a:endParaRPr lang="ja-JP" altLang="en-US" sz="120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endParaRPr>
          </a:p>
        </p:txBody>
      </p:sp>
      <p:sp>
        <p:nvSpPr>
          <p:cNvPr id="18" name="Shape 16"/>
          <p:cNvSpPr/>
          <p:nvPr/>
        </p:nvSpPr>
        <p:spPr>
          <a:xfrm>
            <a:off x="4709160" y="2157984"/>
            <a:ext cx="4206240" cy="1225296"/>
          </a:xfrm>
          <a:prstGeom prst="rect">
            <a:avLst/>
          </a:prstGeom>
          <a:solidFill>
            <a:srgbClr val="FFFFFF"/>
          </a:solidFill>
          <a:ln w="19050">
            <a:solidFill>
              <a:srgbClr val="2A6BAE"/>
            </a:solidFill>
            <a:prstDash val="solid"/>
          </a:ln>
          <a:effectLst>
            <a:outerShdw blurRad="101600" dist="38100" dir="8100000" algn="bl" rotWithShape="0">
              <a:srgbClr val="000000">
                <a:alpha val="11000"/>
              </a:srgbClr>
            </a:outerShdw>
          </a:effectLst>
        </p:spPr>
      </p:sp>
      <p:sp>
        <p:nvSpPr>
          <p:cNvPr id="19" name="Shape 17"/>
          <p:cNvSpPr/>
          <p:nvPr/>
        </p:nvSpPr>
        <p:spPr>
          <a:xfrm>
            <a:off x="4709160" y="2157984"/>
            <a:ext cx="4206240" cy="310896"/>
          </a:xfrm>
          <a:prstGeom prst="rect">
            <a:avLst/>
          </a:prstGeom>
          <a:solidFill>
            <a:srgbClr val="2A6BAE">
              <a:alpha val="12000"/>
            </a:srgbClr>
          </a:solidFill>
          <a:ln w="12700">
            <a:solidFill>
              <a:srgbClr val="2A6BAE"/>
            </a:solidFill>
            <a:prstDash val="solid"/>
          </a:ln>
        </p:spPr>
      </p:sp>
      <p:sp>
        <p:nvSpPr>
          <p:cNvPr id="20" name="Text 18"/>
          <p:cNvSpPr/>
          <p:nvPr/>
        </p:nvSpPr>
        <p:spPr>
          <a:xfrm>
            <a:off x="4818888" y="2194560"/>
            <a:ext cx="3986784" cy="237744"/>
          </a:xfrm>
          <a:prstGeom prst="rect">
            <a:avLst/>
          </a:prstGeom>
          <a:noFill/>
        </p:spPr>
        <p:txBody>
          <a:bodyPr wrap="square" lIns="0" tIns="0" rIns="0" bIns="0" rtlCol="0" anchor="ctr"/>
          <a:lstStyle/>
          <a:p>
            <a:pPr marL="0" indent="0">
              <a:buNone/>
            </a:pPr>
            <a:r>
              <a:rPr lang="en-US" sz="1300" b="1" dirty="0">
                <a:solidFill>
                  <a:srgbClr val="2A6BAE"/>
                </a:solidFill>
                <a:latin typeface="メイリオ" panose="020B0604030504040204" pitchFamily="34" charset="-128"/>
                <a:ea typeface="メイリオ" panose="020B0604030504040204" pitchFamily="34" charset="-122"/>
                <a:cs typeface="メイリオ" panose="020B0604030504040204" pitchFamily="34" charset="-120"/>
              </a:rPr>
              <a:t>🚌  バスは激混み</a:t>
            </a:r>
            <a:endParaRPr lang="en-US" sz="1300" dirty="0"/>
          </a:p>
        </p:txBody>
      </p:sp>
      <p:sp>
        <p:nvSpPr>
          <p:cNvPr id="21" name="Text 19"/>
          <p:cNvSpPr/>
          <p:nvPr/>
        </p:nvSpPr>
        <p:spPr>
          <a:xfrm>
            <a:off x="4818888" y="2542032"/>
            <a:ext cx="3986784" cy="768096"/>
          </a:xfrm>
          <a:prstGeom prst="rect">
            <a:avLst/>
          </a:prstGeom>
          <a:noFill/>
        </p:spPr>
        <p:txBody>
          <a:bodyPr wrap="square" lIns="0" tIns="0" rIns="0" bIns="0" rtlCol="0" anchor="t"/>
          <a:lstStyle/>
          <a:p>
            <a:pPr marL="0" indent="0">
              <a:buNone/>
            </a:pPr>
            <a:r>
              <a:rPr lang="en-US" sz="120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渋沢駅バス停は長蛇の列。ICカード準備を。1本乗れなくても次がある</a:t>
            </a:r>
            <a:endParaRPr lang="en-US" sz="1200" dirty="0"/>
          </a:p>
        </p:txBody>
      </p:sp>
      <p:sp>
        <p:nvSpPr>
          <p:cNvPr id="22" name="Shape 20"/>
          <p:cNvSpPr/>
          <p:nvPr/>
        </p:nvSpPr>
        <p:spPr>
          <a:xfrm>
            <a:off x="228600" y="3511296"/>
            <a:ext cx="4206240" cy="1225296"/>
          </a:xfrm>
          <a:prstGeom prst="rect">
            <a:avLst/>
          </a:prstGeom>
          <a:solidFill>
            <a:srgbClr val="FFFFFF"/>
          </a:solidFill>
          <a:ln w="19050">
            <a:solidFill>
              <a:srgbClr val="D97706"/>
            </a:solidFill>
            <a:prstDash val="solid"/>
          </a:ln>
          <a:effectLst>
            <a:outerShdw blurRad="101600" dist="38100" dir="8100000" algn="bl" rotWithShape="0">
              <a:srgbClr val="000000">
                <a:alpha val="11000"/>
              </a:srgbClr>
            </a:outerShdw>
          </a:effectLst>
        </p:spPr>
      </p:sp>
      <p:sp>
        <p:nvSpPr>
          <p:cNvPr id="23" name="Shape 21"/>
          <p:cNvSpPr/>
          <p:nvPr/>
        </p:nvSpPr>
        <p:spPr>
          <a:xfrm>
            <a:off x="228600" y="3511296"/>
            <a:ext cx="4206240" cy="310896"/>
          </a:xfrm>
          <a:prstGeom prst="rect">
            <a:avLst/>
          </a:prstGeom>
          <a:solidFill>
            <a:srgbClr val="D97706">
              <a:alpha val="12000"/>
            </a:srgbClr>
          </a:solidFill>
          <a:ln w="12700">
            <a:solidFill>
              <a:srgbClr val="D97706"/>
            </a:solidFill>
            <a:prstDash val="solid"/>
          </a:ln>
        </p:spPr>
      </p:sp>
      <p:sp>
        <p:nvSpPr>
          <p:cNvPr id="24" name="Text 22"/>
          <p:cNvSpPr/>
          <p:nvPr/>
        </p:nvSpPr>
        <p:spPr>
          <a:xfrm>
            <a:off x="338328" y="3547872"/>
            <a:ext cx="3986784" cy="237744"/>
          </a:xfrm>
          <a:prstGeom prst="rect">
            <a:avLst/>
          </a:prstGeom>
          <a:noFill/>
        </p:spPr>
        <p:txBody>
          <a:bodyPr wrap="square" lIns="0" tIns="0" rIns="0" bIns="0" rtlCol="0" anchor="ctr"/>
          <a:lstStyle/>
          <a:p>
            <a:pPr marL="0" indent="0">
              <a:buNone/>
            </a:pPr>
            <a:r>
              <a:rPr lang="en-US" sz="1300" b="1" dirty="0">
                <a:solidFill>
                  <a:srgbClr val="D97706"/>
                </a:solidFill>
                <a:latin typeface="メイリオ" panose="020B0604030504040204" pitchFamily="34" charset="-128"/>
                <a:ea typeface="メイリオ" panose="020B0604030504040204" pitchFamily="34" charset="-122"/>
                <a:cs typeface="メイリオ" panose="020B0604030504040204" pitchFamily="34" charset="-120"/>
              </a:rPr>
              <a:t>🐛  ヤマビルに注意</a:t>
            </a:r>
            <a:endParaRPr lang="en-US" sz="1300" dirty="0"/>
          </a:p>
        </p:txBody>
      </p:sp>
      <p:sp>
        <p:nvSpPr>
          <p:cNvPr id="25" name="Text 23"/>
          <p:cNvSpPr/>
          <p:nvPr/>
        </p:nvSpPr>
        <p:spPr>
          <a:xfrm>
            <a:off x="338328" y="3895344"/>
            <a:ext cx="3986784" cy="768096"/>
          </a:xfrm>
          <a:prstGeom prst="rect">
            <a:avLst/>
          </a:prstGeom>
          <a:noFill/>
        </p:spPr>
        <p:txBody>
          <a:bodyPr wrap="square" lIns="0" tIns="0" rIns="0" bIns="0" rtlCol="0" anchor="t"/>
          <a:lstStyle/>
          <a:p>
            <a:pPr marL="0" indent="0">
              <a:buNone/>
            </a:pPr>
            <a:r>
              <a:rPr lang="en-US" sz="120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5〜10月はヤマビルが多い。必ず虫よけスプレーを持参・靴下にもスプレー</a:t>
            </a:r>
            <a:endParaRPr lang="en-US" sz="1200" dirty="0"/>
          </a:p>
        </p:txBody>
      </p:sp>
      <p:sp>
        <p:nvSpPr>
          <p:cNvPr id="26" name="Shape 24"/>
          <p:cNvSpPr/>
          <p:nvPr/>
        </p:nvSpPr>
        <p:spPr>
          <a:xfrm>
            <a:off x="4709160" y="3511296"/>
            <a:ext cx="4206240" cy="1225296"/>
          </a:xfrm>
          <a:prstGeom prst="rect">
            <a:avLst/>
          </a:prstGeom>
          <a:solidFill>
            <a:srgbClr val="FFFFFF"/>
          </a:solidFill>
          <a:ln w="19050">
            <a:solidFill>
              <a:srgbClr val="7A4520"/>
            </a:solidFill>
            <a:prstDash val="solid"/>
          </a:ln>
          <a:effectLst>
            <a:outerShdw blurRad="101600" dist="38100" dir="8100000" algn="bl" rotWithShape="0">
              <a:srgbClr val="000000">
                <a:alpha val="11000"/>
              </a:srgbClr>
            </a:outerShdw>
          </a:effectLst>
        </p:spPr>
      </p:sp>
      <p:sp>
        <p:nvSpPr>
          <p:cNvPr id="27" name="Shape 25"/>
          <p:cNvSpPr/>
          <p:nvPr/>
        </p:nvSpPr>
        <p:spPr>
          <a:xfrm>
            <a:off x="4709160" y="3511296"/>
            <a:ext cx="4206240" cy="310896"/>
          </a:xfrm>
          <a:prstGeom prst="rect">
            <a:avLst/>
          </a:prstGeom>
          <a:solidFill>
            <a:srgbClr val="7A4520">
              <a:alpha val="12000"/>
            </a:srgbClr>
          </a:solidFill>
          <a:ln w="12700">
            <a:solidFill>
              <a:srgbClr val="7A4520"/>
            </a:solidFill>
            <a:prstDash val="solid"/>
          </a:ln>
        </p:spPr>
      </p:sp>
      <p:sp>
        <p:nvSpPr>
          <p:cNvPr id="28" name="Text 26"/>
          <p:cNvSpPr/>
          <p:nvPr/>
        </p:nvSpPr>
        <p:spPr>
          <a:xfrm>
            <a:off x="4818888" y="3547872"/>
            <a:ext cx="3986784" cy="237744"/>
          </a:xfrm>
          <a:prstGeom prst="rect">
            <a:avLst/>
          </a:prstGeom>
          <a:noFill/>
        </p:spPr>
        <p:txBody>
          <a:bodyPr wrap="square" lIns="0" tIns="0" rIns="0" bIns="0" rtlCol="0" anchor="ctr"/>
          <a:lstStyle/>
          <a:p>
            <a:pPr marL="0" indent="0">
              <a:buNone/>
            </a:pPr>
            <a:r>
              <a:rPr lang="en-US" sz="1300" b="1" dirty="0">
                <a:solidFill>
                  <a:srgbClr val="7A4520"/>
                </a:solidFill>
                <a:latin typeface="メイリオ" panose="020B0604030504040204" pitchFamily="34" charset="-128"/>
                <a:ea typeface="メイリオ" panose="020B0604030504040204" pitchFamily="34" charset="-122"/>
                <a:cs typeface="メイリオ" panose="020B0604030504040204" pitchFamily="34" charset="-120"/>
              </a:rPr>
              <a:t>💪  距離が長い！体力必要</a:t>
            </a:r>
            <a:endParaRPr lang="en-US" sz="1300" dirty="0"/>
          </a:p>
        </p:txBody>
      </p:sp>
      <p:sp>
        <p:nvSpPr>
          <p:cNvPr id="29" name="Text 27"/>
          <p:cNvSpPr/>
          <p:nvPr/>
        </p:nvSpPr>
        <p:spPr>
          <a:xfrm>
            <a:off x="4818888" y="3895344"/>
            <a:ext cx="3986784" cy="768096"/>
          </a:xfrm>
          <a:prstGeom prst="rect">
            <a:avLst/>
          </a:prstGeom>
          <a:noFill/>
        </p:spPr>
        <p:txBody>
          <a:bodyPr wrap="square" lIns="0" tIns="0" rIns="0" bIns="0" rtlCol="0" anchor="t"/>
          <a:lstStyle/>
          <a:p>
            <a:pPr marL="0" indent="0">
              <a:buNone/>
            </a:pPr>
            <a:r>
              <a:rPr lang="en-US" sz="1200" dirty="0">
                <a:solidFill>
                  <a:srgbClr val="4A6A50"/>
                </a:solidFill>
                <a:latin typeface="メイリオ" panose="020B0604030504040204" pitchFamily="34" charset="-128"/>
                <a:ea typeface="メイリオ" panose="020B0604030504040204" pitchFamily="34" charset="-122"/>
                <a:cs typeface="メイリオ" panose="020B0604030504040204" pitchFamily="34" charset="-120"/>
              </a:rPr>
              <a:t>往復16km・標高差1,000m。武甲山より距離が長い。前日は休む・水分補給を</a:t>
            </a:r>
            <a:endParaRPr lang="en-US" sz="1200" dirty="0"/>
          </a:p>
        </p:txBody>
      </p:sp>
      <p:sp>
        <p:nvSpPr>
          <p:cNvPr id="30" name="Shape 28"/>
          <p:cNvSpPr/>
          <p:nvPr/>
        </p:nvSpPr>
        <p:spPr>
          <a:xfrm>
            <a:off x="228600" y="4808982"/>
            <a:ext cx="8686800" cy="219456"/>
          </a:xfrm>
          <a:prstGeom prst="rect">
            <a:avLst/>
          </a:prstGeom>
          <a:solidFill>
            <a:srgbClr val="EEF7EE"/>
          </a:solidFill>
          <a:ln w="12700">
            <a:solidFill>
              <a:srgbClr val="3E9E56"/>
            </a:solidFill>
            <a:prstDash val="solid"/>
          </a:ln>
        </p:spPr>
      </p:sp>
      <p:sp>
        <p:nvSpPr>
          <p:cNvPr id="31" name="Text 29"/>
          <p:cNvSpPr/>
          <p:nvPr/>
        </p:nvSpPr>
        <p:spPr>
          <a:xfrm>
            <a:off x="320040" y="4827270"/>
            <a:ext cx="8503920" cy="182880"/>
          </a:xfrm>
          <a:prstGeom prst="rect">
            <a:avLst/>
          </a:prstGeom>
          <a:noFill/>
        </p:spPr>
        <p:txBody>
          <a:bodyPr wrap="square" lIns="0" tIns="0" rIns="0" bIns="0" rtlCol="0" anchor="ctr"/>
          <a:lstStyle/>
          <a:p>
            <a:pPr marL="0" indent="0" algn="ctr">
              <a:buNone/>
            </a:pPr>
            <a:r>
              <a:rPr lang="en-US" sz="1200" dirty="0">
                <a:solidFill>
                  <a:srgbClr val="2C6B3A"/>
                </a:solidFill>
                <a:latin typeface="メイリオ" panose="020B0604030504040204" pitchFamily="34" charset="-128"/>
                <a:ea typeface="メイリオ" panose="020B0604030504040204" pitchFamily="34" charset="-122"/>
                <a:cs typeface="メイリオ" panose="020B0604030504040204" pitchFamily="34" charset="-120"/>
              </a:rPr>
              <a:t>質問・不明点は主催者まで気軽にご連絡ください。絶品うどんを一緒に食べましょう！🍜</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1924</Words>
  <Application>WPS Presentation</Application>
  <PresentationFormat>On-screen Show (16:9)</PresentationFormat>
  <Paragraphs>286</Paragraphs>
  <Slides>8</Slides>
  <Notes>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vt:i4>
      </vt:variant>
    </vt:vector>
  </HeadingPairs>
  <TitlesOfParts>
    <vt:vector size="20" baseType="lpstr">
      <vt:lpstr>Arial</vt:lpstr>
      <vt:lpstr>ＭＳ Ｐゴシック</vt:lpstr>
      <vt:lpstr>Wingdings</vt:lpstr>
      <vt:lpstr>メイリオ</vt:lpstr>
      <vt:lpstr>メイリオ</vt:lpstr>
      <vt:lpstr>メイリオ</vt:lpstr>
      <vt:lpstr>Calibri</vt:lpstr>
      <vt:lpstr>Microsoft YaHei</vt:lpstr>
      <vt:lpstr>ＭＳ Ｐゴシック</vt:lpstr>
      <vt:lpstr>Arial Unicode MS</vt:lpstr>
      <vt:lpstr>SimSun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5月4日 鍋割山イベント 参加者向け案内</dc:title>
  <dc:creator>PptxGenJS</dc:creator>
  <dc:subject>PptxGenJS Presentation</dc:subject>
  <cp:lastModifiedBy>user</cp:lastModifiedBy>
  <cp:revision>4</cp:revision>
  <dcterms:created xsi:type="dcterms:W3CDTF">2026-04-17T13:05:00Z</dcterms:created>
  <dcterms:modified xsi:type="dcterms:W3CDTF">2026-04-21T08:16:47Z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1041-11.8.2.10339</vt:lpwstr>
  </property>
</Properties>
</file>