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0688955" cy="15123795"/>
  <p:notesSz cx="15123795" cy="1068895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EC864">
              <a:alpha val="12000"/>
            </a:srgbClr>
          </a:solidFill>
          <a:ln w="12700">
            <a:solidFill>
              <a:srgbClr val="7EC86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2344400"/>
            <a:ext cx="4114800" cy="4114800"/>
          </a:xfrm>
          <a:prstGeom prst="ellipse">
            <a:avLst/>
          </a:prstGeom>
          <a:solidFill>
            <a:srgbClr val="4AA34E">
              <a:alpha val="10000"/>
            </a:srgbClr>
          </a:solidFill>
          <a:ln w="12700">
            <a:solidFill>
              <a:srgbClr val="4AA34E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"/>
            <a:ext cx="2286000" cy="2286000"/>
          </a:xfrm>
          <a:prstGeom prst="ellipse">
            <a:avLst/>
          </a:prstGeom>
          <a:solidFill>
            <a:srgbClr val="7EC864">
              <a:alpha val="12000"/>
            </a:srgbClr>
          </a:solidFill>
          <a:ln w="12700">
            <a:solidFill>
              <a:srgbClr val="7EC864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689336" cy="201168"/>
          </a:xfrm>
          <a:prstGeom prst="rect">
            <a:avLst/>
          </a:prstGeom>
          <a:solidFill>
            <a:srgbClr val="2C7A30"/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01168"/>
            <a:ext cx="10689336" cy="54864"/>
          </a:xfrm>
          <a:prstGeom prst="rect">
            <a:avLst/>
          </a:prstGeom>
          <a:solidFill>
            <a:srgbClr val="7EC864">
              <a:alpha val="50000"/>
            </a:srgbClr>
          </a:solidFill>
          <a:ln w="12700">
            <a:solidFill>
              <a:srgbClr val="7EC864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4886432"/>
            <a:ext cx="10689336" cy="237744"/>
          </a:xfrm>
          <a:prstGeom prst="rect">
            <a:avLst/>
          </a:prstGeom>
          <a:solidFill>
            <a:srgbClr val="2C7A30"/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347472"/>
            <a:ext cx="804672" cy="804672"/>
          </a:xfrm>
          <a:prstGeom prst="ellipse">
            <a:avLst/>
          </a:prstGeom>
          <a:solidFill>
            <a:srgbClr val="4AA34E"/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347472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16736" y="40233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CHICHIBU OUTDOOR &amp; TRAVEL EVENT 2025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868680"/>
            <a:ext cx="9875520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1A3A1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秩父で遊ぼう！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402336" y="1901952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登山 × 芝桜 × 温泉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02336" y="2596896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A6A4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〜 武甲山から芝桜の絶景へ、祭の湯で締めくくる1日 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2336" y="3072384"/>
            <a:ext cx="9884664" cy="658368"/>
          </a:xfrm>
          <a:prstGeom prst="rect">
            <a:avLst/>
          </a:prstGeom>
          <a:solidFill>
            <a:srgbClr val="2C7A30"/>
          </a:solidFill>
          <a:ln w="12700">
            <a:solidFill>
              <a:srgbClr val="2C7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2336" y="3072384"/>
            <a:ext cx="164592" cy="658368"/>
          </a:xfrm>
          <a:prstGeom prst="rect">
            <a:avLst/>
          </a:prstGeom>
          <a:solidFill>
            <a:srgbClr val="E09018"/>
          </a:solidFill>
          <a:ln w="12700">
            <a:solidFill>
              <a:srgbClr val="E090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072384"/>
            <a:ext cx="5486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📅  2025年5月5日（日・祝）　GW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3072384"/>
            <a:ext cx="38404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⏰ 終日（午前〜夕方）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02336" y="3858768"/>
            <a:ext cx="3127248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4AA34E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2336" y="3858768"/>
            <a:ext cx="3127248" cy="530352"/>
          </a:xfrm>
          <a:prstGeom prst="rect">
            <a:avLst/>
          </a:prstGeom>
          <a:solidFill>
            <a:srgbClr val="2C7A30"/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3895344"/>
            <a:ext cx="30358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🏔️+🌸+♨️  1日参加</a:t>
            </a:r>
            <a:endParaRPr lang="en-US" sz="15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02336" y="4389120"/>
            <a:ext cx="3127248" cy="16459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02336" y="5779008"/>
            <a:ext cx="3127248" cy="256032"/>
          </a:xfrm>
          <a:prstGeom prst="rect">
            <a:avLst/>
          </a:prstGeom>
          <a:solidFill>
            <a:srgbClr val="1A3A1C">
              <a:alpha val="65000"/>
            </a:srgbClr>
          </a:solidFill>
          <a:ln w="12700">
            <a:solidFill>
              <a:srgbClr val="1A3A1C">
                <a:alpha val="6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580644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芝桜の丘から武甲山を望む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93776" y="6099048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登山＋芝桜＋温泉フルコース！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93776" y="6437376"/>
            <a:ext cx="29809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武甲山（1,304m）山頂まで登る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93776" y="6784848"/>
            <a:ext cx="29809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表参道往復コース 約7km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93776" y="7132320"/>
            <a:ext cx="29809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羊山公園で芝桜40万株を鑑賞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93776" y="7479792"/>
            <a:ext cx="29809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祭の湯でゆっくり入浴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93776" y="7827264"/>
            <a:ext cx="29809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わらじカツ丼など秩父グルメ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93776" y="8394192"/>
            <a:ext cx="2962656" cy="201168"/>
          </a:xfrm>
          <a:prstGeom prst="rect">
            <a:avLst/>
          </a:prstGeom>
          <a:solidFill>
            <a:srgbClr val="EEF7EC"/>
          </a:solidFill>
          <a:ln w="12700">
            <a:solidFill>
              <a:srgbClr val="4AA34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3776" y="8394192"/>
            <a:ext cx="29626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費用目安：約7,000〜8,500円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785616" y="3858768"/>
            <a:ext cx="3127248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A6B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3785616" y="3858768"/>
            <a:ext cx="3127248" cy="530352"/>
          </a:xfrm>
          <a:prstGeom prst="rect">
            <a:avLst/>
          </a:prstGeom>
          <a:solidFill>
            <a:srgbClr val="2A6BAE"/>
          </a:solidFill>
          <a:ln w="12700">
            <a:solidFill>
              <a:srgbClr val="2A6BA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877056" y="3895344"/>
            <a:ext cx="30358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🏔️  午前のみ（登山）</a:t>
            </a:r>
            <a:endParaRPr lang="en-US" sz="15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785616" y="4389120"/>
            <a:ext cx="3127248" cy="1645920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3785616" y="5779008"/>
            <a:ext cx="3127248" cy="256032"/>
          </a:xfrm>
          <a:prstGeom prst="rect">
            <a:avLst/>
          </a:prstGeom>
          <a:solidFill>
            <a:srgbClr val="0A2040">
              <a:alpha val="65000"/>
            </a:srgbClr>
          </a:solidFill>
          <a:ln w="12700">
            <a:solidFill>
              <a:srgbClr val="0A2040">
                <a:alpha val="6500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840480" y="580644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武甲山頂より秩父市街を一望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3877056" y="6099048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6BA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武甲山を登って、そのまま帰宅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3877056" y="6437376"/>
            <a:ext cx="29809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武甲山（1,304m）山頂まで登る</a:t>
            </a:r>
            <a:endParaRPr lang="en-US" sz="1150" dirty="0"/>
          </a:p>
        </p:txBody>
      </p:sp>
      <p:sp>
        <p:nvSpPr>
          <p:cNvPr id="40" name="Text 36"/>
          <p:cNvSpPr/>
          <p:nvPr/>
        </p:nvSpPr>
        <p:spPr>
          <a:xfrm>
            <a:off x="3877056" y="6784848"/>
            <a:ext cx="29809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表参道往復コース 約7km</a:t>
            </a:r>
            <a:endParaRPr lang="en-US" sz="1150" dirty="0"/>
          </a:p>
        </p:txBody>
      </p:sp>
      <p:sp>
        <p:nvSpPr>
          <p:cNvPr id="41" name="Text 37"/>
          <p:cNvSpPr/>
          <p:nvPr/>
        </p:nvSpPr>
        <p:spPr>
          <a:xfrm>
            <a:off x="3877056" y="7132320"/>
            <a:ext cx="29809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難易度 ★★☆ 初心者向け</a:t>
            </a:r>
            <a:endParaRPr lang="en-US" sz="1150" dirty="0"/>
          </a:p>
        </p:txBody>
      </p:sp>
      <p:sp>
        <p:nvSpPr>
          <p:cNvPr id="42" name="Text 38"/>
          <p:cNvSpPr/>
          <p:nvPr/>
        </p:nvSpPr>
        <p:spPr>
          <a:xfrm>
            <a:off x="3877056" y="7479792"/>
            <a:ext cx="29809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下山後は自由に行動・帰宅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3877056" y="7827264"/>
            <a:ext cx="29809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>
              <a:buSzPct val="100000"/>
              <a:buNone/>
            </a:pPr>
            <a:endParaRPr lang="en-US" sz="1150" dirty="0"/>
          </a:p>
        </p:txBody>
      </p:sp>
      <p:sp>
        <p:nvSpPr>
          <p:cNvPr id="44" name="Shape 40"/>
          <p:cNvSpPr/>
          <p:nvPr/>
        </p:nvSpPr>
        <p:spPr>
          <a:xfrm>
            <a:off x="3877056" y="8394192"/>
            <a:ext cx="2962656" cy="201168"/>
          </a:xfrm>
          <a:prstGeom prst="rect">
            <a:avLst/>
          </a:prstGeom>
          <a:solidFill>
            <a:srgbClr val="EDF3FB"/>
          </a:solidFill>
          <a:ln w="12700">
            <a:solidFill>
              <a:srgbClr val="2A6BAE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877056" y="8394192"/>
            <a:ext cx="29626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6BA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費用目安：約3,000〜4,000円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7159752" y="3858768"/>
            <a:ext cx="3127248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D460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7159752" y="3858768"/>
            <a:ext cx="3127248" cy="530352"/>
          </a:xfrm>
          <a:prstGeom prst="rect">
            <a:avLst/>
          </a:prstGeom>
          <a:solidFill>
            <a:srgbClr val="D4608A"/>
          </a:solidFill>
          <a:ln w="12700">
            <a:solidFill>
              <a:srgbClr val="D4608A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251192" y="3895344"/>
            <a:ext cx="30358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🌸+♨ 午後(</a:t>
            </a:r>
            <a:r>
              <a:rPr lang="ja-JP" altLang="en-US" sz="15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夕方</a:t>
            </a:r>
            <a:r>
              <a:rPr lang="en-US" sz="15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)のみ（旅行）</a:t>
            </a:r>
            <a:endParaRPr lang="en-US" sz="1500" dirty="0"/>
          </a:p>
        </p:txBody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59752" y="4389120"/>
            <a:ext cx="3127248" cy="1645920"/>
          </a:xfrm>
          <a:prstGeom prst="rect">
            <a:avLst/>
          </a:prstGeom>
        </p:spPr>
      </p:pic>
      <p:sp>
        <p:nvSpPr>
          <p:cNvPr id="50" name="Shape 45"/>
          <p:cNvSpPr/>
          <p:nvPr/>
        </p:nvSpPr>
        <p:spPr>
          <a:xfrm>
            <a:off x="7159752" y="5779008"/>
            <a:ext cx="3127248" cy="256032"/>
          </a:xfrm>
          <a:prstGeom prst="rect">
            <a:avLst/>
          </a:prstGeom>
          <a:solidFill>
            <a:srgbClr val="3A0820">
              <a:alpha val="65000"/>
            </a:srgbClr>
          </a:solidFill>
          <a:ln w="12700">
            <a:solidFill>
              <a:srgbClr val="3A0820">
                <a:alpha val="65000"/>
              </a:srgbClr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7214616" y="580644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40万株の芝桜 絶景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7251192" y="6099048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608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芝桜＋温泉でのんびり観光</a:t>
            </a:r>
            <a:endParaRPr lang="en-US" sz="1300" dirty="0"/>
          </a:p>
        </p:txBody>
      </p:sp>
      <p:sp>
        <p:nvSpPr>
          <p:cNvPr id="53" name="Text 48"/>
          <p:cNvSpPr/>
          <p:nvPr/>
        </p:nvSpPr>
        <p:spPr>
          <a:xfrm>
            <a:off x="7251192" y="6437376"/>
            <a:ext cx="29809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羊山公園 芝桜40万株を鑑賞</a:t>
            </a:r>
            <a:endParaRPr lang="en-US" sz="1150" dirty="0"/>
          </a:p>
        </p:txBody>
      </p:sp>
      <p:sp>
        <p:nvSpPr>
          <p:cNvPr id="54" name="Text 49"/>
          <p:cNvSpPr/>
          <p:nvPr/>
        </p:nvSpPr>
        <p:spPr>
          <a:xfrm>
            <a:off x="7251192" y="6784848"/>
            <a:ext cx="29809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入園料300円 8:00〜17:00</a:t>
            </a:r>
            <a:endParaRPr lang="en-US" sz="1150" dirty="0"/>
          </a:p>
        </p:txBody>
      </p:sp>
      <p:sp>
        <p:nvSpPr>
          <p:cNvPr id="55" name="Text 50"/>
          <p:cNvSpPr/>
          <p:nvPr/>
        </p:nvSpPr>
        <p:spPr>
          <a:xfrm>
            <a:off x="7251192" y="7132320"/>
            <a:ext cx="29809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祭の湯（駅直結）でゆっくり</a:t>
            </a:r>
            <a:endParaRPr lang="en-US" sz="1150" dirty="0"/>
          </a:p>
        </p:txBody>
      </p:sp>
      <p:sp>
        <p:nvSpPr>
          <p:cNvPr id="56" name="Text 51"/>
          <p:cNvSpPr/>
          <p:nvPr/>
        </p:nvSpPr>
        <p:spPr>
          <a:xfrm>
            <a:off x="7251192" y="7479792"/>
            <a:ext cx="29809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わらじカツ丼など秩父グルメ</a:t>
            </a:r>
            <a:endParaRPr lang="en-US" sz="1150" dirty="0"/>
          </a:p>
        </p:txBody>
      </p:sp>
      <p:sp>
        <p:nvSpPr>
          <p:cNvPr id="57" name="Text 52"/>
          <p:cNvSpPr/>
          <p:nvPr/>
        </p:nvSpPr>
        <p:spPr>
          <a:xfrm>
            <a:off x="7251192" y="7827264"/>
            <a:ext cx="29809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午後から合流OK！</a:t>
            </a:r>
            <a:r>
              <a:rPr lang="ja-JP" alt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時間</a:t>
            </a:r>
            <a:r>
              <a:rPr lang="ja-JP" alt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多少ずれる</a:t>
            </a:r>
            <a:endParaRPr lang="ja-JP" altLang="en-US" sz="1150" dirty="0">
              <a:solidFill>
                <a:srgbClr val="2C4A2E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</a:endParaRPr>
          </a:p>
        </p:txBody>
      </p:sp>
      <p:sp>
        <p:nvSpPr>
          <p:cNvPr id="58" name="Shape 53"/>
          <p:cNvSpPr/>
          <p:nvPr/>
        </p:nvSpPr>
        <p:spPr>
          <a:xfrm>
            <a:off x="7251192" y="8394192"/>
            <a:ext cx="2962656" cy="201168"/>
          </a:xfrm>
          <a:prstGeom prst="rect">
            <a:avLst/>
          </a:prstGeom>
          <a:solidFill>
            <a:srgbClr val="FDF0F5"/>
          </a:solidFill>
          <a:ln w="12700">
            <a:solidFill>
              <a:srgbClr val="D4608A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7251192" y="8394192"/>
            <a:ext cx="29626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608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費用目安：約3,000〜4,000円</a:t>
            </a:r>
            <a:endParaRPr lang="en-US" sz="1050" dirty="0"/>
          </a:p>
        </p:txBody>
      </p:sp>
      <p:sp>
        <p:nvSpPr>
          <p:cNvPr id="60" name="Shape 55"/>
          <p:cNvSpPr/>
          <p:nvPr/>
        </p:nvSpPr>
        <p:spPr>
          <a:xfrm>
            <a:off x="402336" y="8741664"/>
            <a:ext cx="9884664" cy="658368"/>
          </a:xfrm>
          <a:prstGeom prst="rect">
            <a:avLst/>
          </a:prstGeom>
          <a:solidFill>
            <a:srgbClr val="FFF4E0"/>
          </a:solidFill>
          <a:ln w="25400">
            <a:solidFill>
              <a:srgbClr val="E090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1" name="Shape 56"/>
          <p:cNvSpPr/>
          <p:nvPr/>
        </p:nvSpPr>
        <p:spPr>
          <a:xfrm>
            <a:off x="402336" y="8741664"/>
            <a:ext cx="164592" cy="658368"/>
          </a:xfrm>
          <a:prstGeom prst="rect">
            <a:avLst/>
          </a:prstGeom>
          <a:solidFill>
            <a:srgbClr val="E09018"/>
          </a:solidFill>
          <a:ln w="12700">
            <a:solidFill>
              <a:srgbClr val="E09018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676656" y="8741664"/>
            <a:ext cx="94183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901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⚠️  申込締め切り：5月1日（木）まで</a:t>
            </a:r>
            <a:r>
              <a:rPr lang="ja-JP" altLang="en-US" sz="2200" b="1" dirty="0">
                <a:solidFill>
                  <a:srgbClr val="E0901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公式</a:t>
            </a:r>
            <a:r>
              <a:rPr lang="en-US" altLang="ja-JP" sz="2200" b="1" dirty="0">
                <a:solidFill>
                  <a:srgbClr val="E0901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QR</a:t>
            </a:r>
            <a:r>
              <a:rPr lang="ja-JP" altLang="en-US" sz="2200" b="1" dirty="0">
                <a:solidFill>
                  <a:srgbClr val="E0901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より</a:t>
            </a:r>
            <a:endParaRPr lang="ja-JP" altLang="en-US" sz="2200" b="1" dirty="0">
              <a:solidFill>
                <a:srgbClr val="E09018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</a:endParaRPr>
          </a:p>
        </p:txBody>
      </p:sp>
      <p:sp>
        <p:nvSpPr>
          <p:cNvPr id="63" name="Shape 58"/>
          <p:cNvSpPr/>
          <p:nvPr/>
        </p:nvSpPr>
        <p:spPr>
          <a:xfrm>
            <a:off x="402336" y="9546336"/>
            <a:ext cx="2320290" cy="1536192"/>
          </a:xfrm>
          <a:prstGeom prst="rect">
            <a:avLst/>
          </a:prstGeom>
          <a:solidFill>
            <a:srgbClr val="CCCCCC"/>
          </a:solidFill>
          <a:ln w="19050">
            <a:solidFill>
              <a:srgbClr val="4AA34E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64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2336" y="9546336"/>
            <a:ext cx="2320290" cy="1536192"/>
          </a:xfrm>
          <a:prstGeom prst="rect">
            <a:avLst/>
          </a:prstGeom>
        </p:spPr>
      </p:pic>
      <p:sp>
        <p:nvSpPr>
          <p:cNvPr id="65" name="Shape 59"/>
          <p:cNvSpPr/>
          <p:nvPr/>
        </p:nvSpPr>
        <p:spPr>
          <a:xfrm>
            <a:off x="402336" y="10753344"/>
            <a:ext cx="2320290" cy="329184"/>
          </a:xfrm>
          <a:prstGeom prst="rect">
            <a:avLst/>
          </a:prstGeom>
          <a:solidFill>
            <a:srgbClr val="1A3A1C">
              <a:alpha val="72000"/>
            </a:srgbClr>
          </a:solidFill>
          <a:ln w="12700">
            <a:solidFill>
              <a:srgbClr val="1A3A1C">
                <a:alpha val="72000"/>
              </a:srgbClr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402336" y="10753344"/>
            <a:ext cx="232029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登山道の木段</a:t>
            </a:r>
            <a:endParaRPr lang="en-US" sz="1100" dirty="0"/>
          </a:p>
        </p:txBody>
      </p:sp>
      <p:sp>
        <p:nvSpPr>
          <p:cNvPr id="67" name="Shape 61"/>
          <p:cNvSpPr/>
          <p:nvPr/>
        </p:nvSpPr>
        <p:spPr>
          <a:xfrm>
            <a:off x="2923794" y="9546336"/>
            <a:ext cx="2320290" cy="1536192"/>
          </a:xfrm>
          <a:prstGeom prst="rect">
            <a:avLst/>
          </a:prstGeom>
          <a:solidFill>
            <a:srgbClr val="CCCCCC"/>
          </a:solidFill>
          <a:ln w="19050">
            <a:solidFill>
              <a:srgbClr val="4AA34E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68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923794" y="9546336"/>
            <a:ext cx="2320290" cy="1536192"/>
          </a:xfrm>
          <a:prstGeom prst="rect">
            <a:avLst/>
          </a:prstGeom>
        </p:spPr>
      </p:pic>
      <p:sp>
        <p:nvSpPr>
          <p:cNvPr id="69" name="Shape 62"/>
          <p:cNvSpPr/>
          <p:nvPr/>
        </p:nvSpPr>
        <p:spPr>
          <a:xfrm>
            <a:off x="2923794" y="10753344"/>
            <a:ext cx="2320290" cy="329184"/>
          </a:xfrm>
          <a:prstGeom prst="rect">
            <a:avLst/>
          </a:prstGeom>
          <a:solidFill>
            <a:srgbClr val="1A3A1C">
              <a:alpha val="72000"/>
            </a:srgbClr>
          </a:solidFill>
          <a:ln w="12700">
            <a:solidFill>
              <a:srgbClr val="1A3A1C">
                <a:alpha val="72000"/>
              </a:srgbClr>
            </a:solidFill>
            <a:prstDash val="solid"/>
          </a:ln>
        </p:spPr>
      </p:sp>
      <p:sp>
        <p:nvSpPr>
          <p:cNvPr id="70" name="Text 63"/>
          <p:cNvSpPr/>
          <p:nvPr/>
        </p:nvSpPr>
        <p:spPr>
          <a:xfrm>
            <a:off x="2923794" y="10753344"/>
            <a:ext cx="232029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山頂からの大パノラマ</a:t>
            </a:r>
            <a:endParaRPr lang="en-US" sz="1100" dirty="0"/>
          </a:p>
        </p:txBody>
      </p:sp>
      <p:sp>
        <p:nvSpPr>
          <p:cNvPr id="71" name="Shape 64"/>
          <p:cNvSpPr/>
          <p:nvPr/>
        </p:nvSpPr>
        <p:spPr>
          <a:xfrm>
            <a:off x="5445252" y="9546336"/>
            <a:ext cx="2320290" cy="1536192"/>
          </a:xfrm>
          <a:prstGeom prst="rect">
            <a:avLst/>
          </a:prstGeom>
          <a:solidFill>
            <a:srgbClr val="CCCCCC"/>
          </a:solidFill>
          <a:ln w="19050">
            <a:solidFill>
              <a:srgbClr val="4AA34E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72" name="Image 5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45252" y="9546336"/>
            <a:ext cx="2320290" cy="1536192"/>
          </a:xfrm>
          <a:prstGeom prst="rect">
            <a:avLst/>
          </a:prstGeom>
        </p:spPr>
      </p:pic>
      <p:sp>
        <p:nvSpPr>
          <p:cNvPr id="73" name="Shape 65"/>
          <p:cNvSpPr/>
          <p:nvPr/>
        </p:nvSpPr>
        <p:spPr>
          <a:xfrm>
            <a:off x="5445252" y="10753344"/>
            <a:ext cx="2320290" cy="329184"/>
          </a:xfrm>
          <a:prstGeom prst="rect">
            <a:avLst/>
          </a:prstGeom>
          <a:solidFill>
            <a:srgbClr val="1A3A1C">
              <a:alpha val="72000"/>
            </a:srgbClr>
          </a:solidFill>
          <a:ln w="12700">
            <a:solidFill>
              <a:srgbClr val="1A3A1C">
                <a:alpha val="72000"/>
              </a:srgbClr>
            </a:solidFill>
            <a:prstDash val="solid"/>
          </a:ln>
        </p:spPr>
      </p:sp>
      <p:sp>
        <p:nvSpPr>
          <p:cNvPr id="74" name="Text 66"/>
          <p:cNvSpPr/>
          <p:nvPr/>
        </p:nvSpPr>
        <p:spPr>
          <a:xfrm>
            <a:off x="5445252" y="10753344"/>
            <a:ext cx="232029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芝桜＋武甲山</a:t>
            </a:r>
            <a:endParaRPr lang="en-US" sz="1100" dirty="0"/>
          </a:p>
        </p:txBody>
      </p:sp>
      <p:sp>
        <p:nvSpPr>
          <p:cNvPr id="75" name="Shape 67"/>
          <p:cNvSpPr/>
          <p:nvPr/>
        </p:nvSpPr>
        <p:spPr>
          <a:xfrm>
            <a:off x="7966710" y="9546336"/>
            <a:ext cx="2320290" cy="1536192"/>
          </a:xfrm>
          <a:prstGeom prst="rect">
            <a:avLst/>
          </a:prstGeom>
          <a:solidFill>
            <a:srgbClr val="CCCCCC"/>
          </a:solidFill>
          <a:ln w="19050">
            <a:solidFill>
              <a:srgbClr val="4AA34E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76" name="Image 6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966710" y="9546336"/>
            <a:ext cx="2320290" cy="1536192"/>
          </a:xfrm>
          <a:prstGeom prst="rect">
            <a:avLst/>
          </a:prstGeom>
        </p:spPr>
      </p:pic>
      <p:sp>
        <p:nvSpPr>
          <p:cNvPr id="77" name="Shape 68"/>
          <p:cNvSpPr/>
          <p:nvPr/>
        </p:nvSpPr>
        <p:spPr>
          <a:xfrm>
            <a:off x="7966710" y="10753344"/>
            <a:ext cx="2320290" cy="329184"/>
          </a:xfrm>
          <a:prstGeom prst="rect">
            <a:avLst/>
          </a:prstGeom>
          <a:solidFill>
            <a:srgbClr val="1A3A1C">
              <a:alpha val="72000"/>
            </a:srgbClr>
          </a:solidFill>
          <a:ln w="12700">
            <a:solidFill>
              <a:srgbClr val="1A3A1C">
                <a:alpha val="72000"/>
              </a:srgbClr>
            </a:solidFill>
            <a:prstDash val="solid"/>
          </a:ln>
        </p:spPr>
      </p:sp>
      <p:sp>
        <p:nvSpPr>
          <p:cNvPr id="78" name="Text 69"/>
          <p:cNvSpPr/>
          <p:nvPr/>
        </p:nvSpPr>
        <p:spPr>
          <a:xfrm>
            <a:off x="7966710" y="10753344"/>
            <a:ext cx="232029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秩父の産業景観</a:t>
            </a:r>
            <a:endParaRPr lang="en-US" sz="1100" dirty="0"/>
          </a:p>
        </p:txBody>
      </p:sp>
      <p:sp>
        <p:nvSpPr>
          <p:cNvPr id="79" name="Shape 70"/>
          <p:cNvSpPr/>
          <p:nvPr/>
        </p:nvSpPr>
        <p:spPr>
          <a:xfrm>
            <a:off x="402336" y="11228832"/>
            <a:ext cx="98846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80" name="Text 71"/>
          <p:cNvSpPr/>
          <p:nvPr/>
        </p:nvSpPr>
        <p:spPr>
          <a:xfrm>
            <a:off x="530352" y="11283696"/>
            <a:ext cx="9692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🎒  登山参加者の持ち物（必須）</a:t>
            </a:r>
            <a:endParaRPr lang="en-US" sz="1400" dirty="0"/>
          </a:p>
        </p:txBody>
      </p:sp>
      <p:sp>
        <p:nvSpPr>
          <p:cNvPr id="81" name="Text 72"/>
          <p:cNvSpPr/>
          <p:nvPr/>
        </p:nvSpPr>
        <p:spPr>
          <a:xfrm>
            <a:off x="530352" y="116128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👟  登山靴・トレッキングシューズ（スニーカーNG）</a:t>
            </a:r>
            <a:endParaRPr lang="en-US" sz="1200" dirty="0"/>
          </a:p>
        </p:txBody>
      </p:sp>
      <p:sp>
        <p:nvSpPr>
          <p:cNvPr id="82" name="Text 73"/>
          <p:cNvSpPr/>
          <p:nvPr/>
        </p:nvSpPr>
        <p:spPr>
          <a:xfrm>
            <a:off x="530352" y="1201521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🎒  ザック20〜25L・レインウェア上下</a:t>
            </a:r>
            <a:endParaRPr lang="en-US" sz="1200" dirty="0"/>
          </a:p>
        </p:txBody>
      </p:sp>
      <p:sp>
        <p:nvSpPr>
          <p:cNvPr id="83" name="Text 74"/>
          <p:cNvSpPr/>
          <p:nvPr/>
        </p:nvSpPr>
        <p:spPr>
          <a:xfrm>
            <a:off x="530352" y="1241755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💧  水1.5〜2L・昼食（コンビニで事前購入）</a:t>
            </a:r>
            <a:endParaRPr lang="en-US" sz="1200" dirty="0"/>
          </a:p>
        </p:txBody>
      </p:sp>
      <p:sp>
        <p:nvSpPr>
          <p:cNvPr id="84" name="Text 75"/>
          <p:cNvSpPr/>
          <p:nvPr/>
        </p:nvSpPr>
        <p:spPr>
          <a:xfrm>
            <a:off x="5559552" y="116128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📱  スマホ・モバイルバッテリー・現金多め</a:t>
            </a:r>
            <a:endParaRPr lang="en-US" sz="1200" dirty="0"/>
          </a:p>
        </p:txBody>
      </p:sp>
      <p:sp>
        <p:nvSpPr>
          <p:cNvPr id="85" name="Text 76"/>
          <p:cNvSpPr/>
          <p:nvPr/>
        </p:nvSpPr>
        <p:spPr>
          <a:xfrm>
            <a:off x="5559552" y="1201521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🩹  絆創膏・テーピング・防寒着（山頂は寒い）</a:t>
            </a:r>
            <a:endParaRPr lang="en-US" sz="1200" dirty="0"/>
          </a:p>
        </p:txBody>
      </p:sp>
      <p:sp>
        <p:nvSpPr>
          <p:cNvPr id="86" name="Shape 77"/>
          <p:cNvSpPr/>
          <p:nvPr/>
        </p:nvSpPr>
        <p:spPr>
          <a:xfrm>
            <a:off x="402336" y="12984480"/>
            <a:ext cx="9884664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87" name="Text 78"/>
          <p:cNvSpPr/>
          <p:nvPr/>
        </p:nvSpPr>
        <p:spPr>
          <a:xfrm>
            <a:off x="530352" y="1303934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🚃  アクセス</a:t>
            </a:r>
            <a:endParaRPr lang="en-US" sz="1400" dirty="0"/>
          </a:p>
        </p:txBody>
      </p:sp>
      <p:sp>
        <p:nvSpPr>
          <p:cNvPr id="88" name="Text 79"/>
          <p:cNvSpPr/>
          <p:nvPr/>
        </p:nvSpPr>
        <p:spPr>
          <a:xfrm>
            <a:off x="530352" y="13331952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午前：横瀬駅</a:t>
            </a:r>
            <a:r>
              <a:rPr lang="en-US" sz="12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（09:00</a:t>
            </a:r>
            <a:r>
              <a:rPr lang="ja-JP" altLang="en-US" sz="12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集合</a:t>
            </a:r>
            <a:r>
              <a:rPr lang="en-US" sz="12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）→ 横瀬駅からタクシーで一の鳥居へ（約15分）</a:t>
            </a:r>
            <a:r>
              <a:rPr lang="ja-JP" altLang="en-US" sz="12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電車（</a:t>
            </a:r>
            <a:r>
              <a:rPr lang="en-US" sz="12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13:57</a:t>
            </a:r>
            <a:r>
              <a:rPr lang="ja-JP" altLang="en-US" sz="12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、</a:t>
            </a:r>
            <a:r>
              <a:rPr lang="en-US" altLang="ja-JP" sz="12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14:29</a:t>
            </a:r>
            <a:r>
              <a:rPr lang="ja-JP" altLang="en-US" sz="12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）</a:t>
            </a:r>
            <a:endParaRPr lang="ja-JP" altLang="en-US" sz="1250" dirty="0">
              <a:solidFill>
                <a:srgbClr val="2C4A2E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</a:endParaRPr>
          </a:p>
        </p:txBody>
      </p:sp>
      <p:sp>
        <p:nvSpPr>
          <p:cNvPr id="89" name="Text 80"/>
          <p:cNvSpPr/>
          <p:nvPr/>
        </p:nvSpPr>
        <p:spPr>
          <a:xfrm>
            <a:off x="530352" y="1364284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A4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午後</a:t>
            </a:r>
            <a:r>
              <a:rPr lang="ja-JP" altLang="en-US" sz="1200" dirty="0">
                <a:solidFill>
                  <a:srgbClr val="4A6A4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：</a:t>
            </a:r>
            <a:r>
              <a:rPr lang="en-US" sz="1200" dirty="0">
                <a:solidFill>
                  <a:srgbClr val="4A6A4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 西武秩父（15:10</a:t>
            </a:r>
            <a:r>
              <a:rPr lang="ja-JP" altLang="en-US" sz="1200" dirty="0">
                <a:solidFill>
                  <a:srgbClr val="4A6A4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集合）</a:t>
            </a:r>
            <a:r>
              <a:rPr lang="en-US" sz="1200" dirty="0">
                <a:solidFill>
                  <a:srgbClr val="4A6A4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→ 羊山公園へ徒歩20分または芝桜駅バス</a:t>
            </a:r>
            <a:endParaRPr lang="en-US" sz="1200" dirty="0"/>
          </a:p>
        </p:txBody>
      </p:sp>
      <p:sp>
        <p:nvSpPr>
          <p:cNvPr id="90" name="Shape 81"/>
          <p:cNvSpPr/>
          <p:nvPr/>
        </p:nvSpPr>
        <p:spPr>
          <a:xfrm>
            <a:off x="402336" y="14118336"/>
            <a:ext cx="9884664" cy="566928"/>
          </a:xfrm>
          <a:prstGeom prst="rect">
            <a:avLst/>
          </a:prstGeom>
          <a:solidFill>
            <a:srgbClr val="FEF9C3"/>
          </a:solidFill>
          <a:ln w="12700">
            <a:solidFill>
              <a:srgbClr val="E09018"/>
            </a:solidFill>
            <a:prstDash val="solid"/>
          </a:ln>
        </p:spPr>
      </p:sp>
      <p:sp>
        <p:nvSpPr>
          <p:cNvPr id="91" name="Text 82"/>
          <p:cNvSpPr/>
          <p:nvPr/>
        </p:nvSpPr>
        <p:spPr>
          <a:xfrm>
            <a:off x="530352" y="14154912"/>
            <a:ext cx="96012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8350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💡  西武特急は事前予約必須（GWは満席注意）  </a:t>
            </a:r>
            <a:endParaRPr lang="en-US" sz="1150" dirty="0"/>
          </a:p>
        </p:txBody>
      </p:sp>
      <p:sp>
        <p:nvSpPr>
          <p:cNvPr id="92" name="Text 83"/>
          <p:cNvSpPr/>
          <p:nvPr/>
        </p:nvSpPr>
        <p:spPr>
          <a:xfrm>
            <a:off x="402336" y="1492300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#武甲山登山　#秩父芝桜　#祭の湯　#GWイベント　#理科あそび</a:t>
            </a:r>
            <a:endParaRPr lang="en-US" sz="1050" dirty="0"/>
          </a:p>
        </p:txBody>
      </p:sp>
      <p:sp>
        <p:nvSpPr>
          <p:cNvPr id="93" name="Text 84"/>
          <p:cNvSpPr/>
          <p:nvPr/>
        </p:nvSpPr>
        <p:spPr>
          <a:xfrm>
            <a:off x="8229600" y="14923008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AACDE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※ 詳細・申込は主催者まで</a:t>
            </a:r>
            <a:endParaRPr lang="en-US" sz="1050" dirty="0"/>
          </a:p>
        </p:txBody>
      </p:sp>
      <p:pic>
        <p:nvPicPr>
          <p:cNvPr id="94" name="図形 93" descr="S__230686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8565" y="1358900"/>
            <a:ext cx="1384300" cy="1384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</Words>
  <Application>WPS Presentation</Application>
  <PresentationFormat>On-screen Show (16:9)</PresentationFormat>
  <Paragraphs>100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ＭＳ Ｐゴシック</vt:lpstr>
      <vt:lpstr>Wingdings</vt:lpstr>
      <vt:lpstr>メイリオ</vt:lpstr>
      <vt:lpstr>メイリオ</vt:lpstr>
      <vt:lpstr>メイリオ</vt:lpstr>
      <vt:lpstr>Calibri</vt:lpstr>
      <vt:lpstr>Microsoft YaHei</vt:lpstr>
      <vt:lpstr>ＭＳ Ｐゴシック</vt:lpstr>
      <vt:lpstr>Arial Unicode MS</vt:lpstr>
      <vt:lpstr>游ゴシック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5月4日 秩父イベントポスター</dc:title>
  <dc:creator>PptxGenJS</dc:creator>
  <dc:subject>PptxGenJS Presentation</dc:subject>
  <cp:lastModifiedBy>user</cp:lastModifiedBy>
  <cp:revision>6</cp:revision>
  <dcterms:created xsi:type="dcterms:W3CDTF">2026-04-10T12:18:00Z</dcterms:created>
  <dcterms:modified xsi:type="dcterms:W3CDTF">2026-04-21T08:16:49Z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1041-11.8.2.10339</vt:lpwstr>
  </property>
</Properties>
</file>