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表紙。芝桜と武甲山を背景写真に使用。迫力ある印象になります。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3コース比較。各カードに実際の写真を挿入。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タイムライン。右側に山頂パノラマと芝桜の写真を配置。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武甲山コース詳細。右側に登山道と山頂の実際の写真を配置。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持ち物リスト。✅は必須アイテム。午後のみ組への補足を忘れずに。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芝桜と温泉の詳細。上部に芝桜の写真をワイドで配置。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申込締め切りと注意事項。タクシー・特急予約は特に重要。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9018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2025年5月5日（日・祝）GW</a:t>
            </a:r>
            <a:endParaRPr lang="en-US" sz="1500" b="1" dirty="0">
              <a:solidFill>
                <a:srgbClr val="00B050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964819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秩父で遊ぼう！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847088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 × 芝桜 × 温泉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48640" y="3072384"/>
            <a:ext cx="2606040" cy="420624"/>
          </a:xfrm>
          <a:prstGeom prst="rect">
            <a:avLst/>
          </a:prstGeom>
          <a:solidFill>
            <a:srgbClr val="4AA34E">
              <a:alpha val="85000"/>
            </a:srgbClr>
          </a:solidFill>
          <a:ln w="19050">
            <a:solidFill>
              <a:srgbClr val="4AA3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72384"/>
            <a:ext cx="2606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🏔️+🌸+♨️ 1日参加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3072384"/>
            <a:ext cx="2606040" cy="420624"/>
          </a:xfrm>
          <a:prstGeom prst="rect">
            <a:avLst/>
          </a:prstGeom>
          <a:solidFill>
            <a:srgbClr val="2A6BAE">
              <a:alpha val="85000"/>
            </a:srgbClr>
          </a:solidFill>
          <a:ln w="19050">
            <a:solidFill>
              <a:srgbClr val="2A6B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72384"/>
            <a:ext cx="2606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🏔️ 午前のみ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3072130"/>
            <a:ext cx="2421255" cy="420370"/>
          </a:xfrm>
          <a:prstGeom prst="rect">
            <a:avLst/>
          </a:prstGeom>
          <a:solidFill>
            <a:srgbClr val="D4608A">
              <a:alpha val="85000"/>
            </a:srgbClr>
          </a:solidFill>
          <a:ln w="19050">
            <a:solidFill>
              <a:srgbClr val="D46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072384"/>
            <a:ext cx="2606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🌸+♨️ 午後のみ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694176"/>
            <a:ext cx="8046720" cy="603504"/>
          </a:xfrm>
          <a:prstGeom prst="rect">
            <a:avLst/>
          </a:prstGeom>
          <a:solidFill>
            <a:srgbClr val="1A3318">
              <a:alpha val="80000"/>
            </a:srgbClr>
          </a:solidFill>
          <a:ln w="19050">
            <a:solidFill>
              <a:srgbClr val="E090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694176"/>
            <a:ext cx="7955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⚠️  申込締め切り：5月1日（木）まで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28600" y="491947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📸 芝桜の丘より武甲山を望む（羊山公園）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78155" y="2473325"/>
            <a:ext cx="5820410" cy="466725"/>
          </a:xfrm>
          <a:prstGeom prst="rect">
            <a:avLst/>
          </a:prstGeom>
          <a:solidFill>
            <a:srgbClr val="1A3318">
              <a:alpha val="80000"/>
            </a:srgbClr>
          </a:solidFill>
          <a:ln w="19050">
            <a:solidFill>
              <a:srgbClr val="E09018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548640" y="254203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marL="0" indent="0">
              <a:buNone/>
            </a:pPr>
            <a:r>
              <a:rPr lang="en-US" sz="1400" b="1" i="1" dirty="0">
                <a:solidFill>
                  <a:schemeClr val="accent4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武甲山（1,304m）表参道往復コース ＋ 羊山公園芝桜の丘 ＋ 祭の湯</a:t>
            </a:r>
            <a:endParaRPr lang="en-US" sz="1400" b="1" i="1" dirty="0">
              <a:solidFill>
                <a:schemeClr val="accent4"/>
              </a:solidFill>
              <a:effectLst/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EC864"/>
          </a:solidFill>
          <a:ln w="12700">
            <a:solidFill>
              <a:srgbClr val="7EC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参加コースを選ぼう！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04545"/>
            <a:ext cx="2834640" cy="4185285"/>
          </a:xfrm>
          <a:prstGeom prst="rect">
            <a:avLst/>
          </a:prstGeom>
          <a:solidFill>
            <a:srgbClr val="FFFFFF"/>
          </a:solidFill>
          <a:ln w="25400">
            <a:solidFill>
              <a:srgbClr val="2C7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834640" cy="329184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4124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1日参加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1133856"/>
            <a:ext cx="2834640" cy="12984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2194560"/>
            <a:ext cx="2834640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" y="2212848"/>
            <a:ext cx="27249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芝桜と武甲山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250545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登山＋芝桜＋温泉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" y="2907792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武甲山登山から、芝桜鑑賞、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祭の湯での入浴まで1日たっぷり！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8328" y="3584448"/>
            <a:ext cx="2615184" cy="292608"/>
          </a:xfrm>
          <a:prstGeom prst="rect">
            <a:avLst/>
          </a:prstGeom>
          <a:solidFill>
            <a:srgbClr val="2C7A30">
              <a:alpha val="12000"/>
            </a:srgbClr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358444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09:00〜18:00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328" y="3950208"/>
            <a:ext cx="2615184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" y="39502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💴 約7,000〜8,500円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0" y="804545"/>
            <a:ext cx="2834640" cy="4232275"/>
          </a:xfrm>
          <a:prstGeom prst="rect">
            <a:avLst/>
          </a:prstGeom>
          <a:solidFill>
            <a:srgbClr val="FFFFFF"/>
          </a:solidFill>
          <a:ln w="25400">
            <a:solidFill>
              <a:srgbClr val="2A6B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804672"/>
            <a:ext cx="2834640" cy="329184"/>
          </a:xfrm>
          <a:prstGeom prst="rect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73552" y="84124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午前のみ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0400" y="1133856"/>
            <a:ext cx="2834640" cy="129844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200400" y="2194560"/>
            <a:ext cx="2834640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55264" y="2212848"/>
            <a:ext cx="27249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武甲山頂の眺望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91840" y="250545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登山のみ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310128" y="2907792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武甲山の山頂を目指して、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下山後はそのまま帰宅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310128" y="3584448"/>
            <a:ext cx="2615184" cy="292608"/>
          </a:xfrm>
          <a:prstGeom prst="rect">
            <a:avLst/>
          </a:prstGeom>
          <a:solidFill>
            <a:srgbClr val="2A6BAE">
              <a:alpha val="12000"/>
            </a:srgbClr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10128" y="358444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09:00〜13:00頃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310128" y="3950208"/>
            <a:ext cx="2615184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10128" y="39502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💴 約3,000〜4,000円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172200" y="804545"/>
            <a:ext cx="2834640" cy="4191635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72200" y="804672"/>
            <a:ext cx="2834640" cy="329184"/>
          </a:xfrm>
          <a:prstGeom prst="rect">
            <a:avLst/>
          </a:prstGeom>
          <a:solidFill>
            <a:srgbClr val="D4608A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45352" y="841248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午後のみ</a:t>
            </a:r>
            <a:endParaRPr lang="en-US" sz="14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72200" y="1133856"/>
            <a:ext cx="2834640" cy="129844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172200" y="2194560"/>
            <a:ext cx="2834640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27064" y="2212848"/>
            <a:ext cx="27249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40万株の芝桜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63640" y="250545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芝桜＋温泉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6281928" y="2907792"/>
            <a:ext cx="2615184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40万株の芝桜を鑑賞して、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祭の湯でのんびり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281928" y="3584448"/>
            <a:ext cx="2615184" cy="292608"/>
          </a:xfrm>
          <a:prstGeom prst="rect">
            <a:avLst/>
          </a:prstGeom>
          <a:solidFill>
            <a:srgbClr val="D4608A">
              <a:alpha val="12000"/>
            </a:srgbClr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281928" y="358444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15:10〜18:00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281928" y="3950208"/>
            <a:ext cx="2615184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281928" y="3950208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💴 約3,000〜4,000円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372110" y="4462145"/>
            <a:ext cx="8524875" cy="338455"/>
          </a:xfrm>
          <a:prstGeom prst="rect">
            <a:avLst/>
          </a:prstGeom>
          <a:solidFill>
            <a:srgbClr val="FFF4E0"/>
          </a:solidFill>
          <a:ln w="19050">
            <a:solidFill>
              <a:srgbClr val="E0901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38455" y="4453382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901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申込締め切り：5月1日（木）まで　｜　コースを選んで申込してください！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EC864"/>
          </a:solidFill>
          <a:ln w="12700">
            <a:solidFill>
              <a:srgbClr val="7EC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1日タイムライン（全コース対応）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59536"/>
            <a:ext cx="219456" cy="219456"/>
          </a:xfrm>
          <a:prstGeom prst="ellipse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97280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822960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09:00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80160" y="822960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横瀬駅</a:t>
            </a: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 </a:t>
            </a: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集合</a:t>
            </a:r>
            <a:endParaRPr lang="ja-JP" altLang="en-US" sz="1150" dirty="0">
              <a:solidFill>
                <a:srgbClr val="2C4A2E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841248"/>
            <a:ext cx="987552" cy="201168"/>
          </a:xfrm>
          <a:prstGeom prst="rect">
            <a:avLst/>
          </a:prstGeom>
          <a:solidFill>
            <a:srgbClr val="2A6BAE">
              <a:alpha val="18000"/>
            </a:srgbClr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41248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登山・1日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4524883"/>
            <a:ext cx="219456" cy="219456"/>
          </a:xfrm>
          <a:prstGeom prst="ellipse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3413" y="4232402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946" y="4525137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18:00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1369695"/>
            <a:ext cx="219456" cy="219456"/>
          </a:xfrm>
          <a:prstGeom prst="ellipse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607439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1333119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09:15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80160" y="1333119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一の鳥居 登山</a:t>
            </a: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開始</a:t>
            </a: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 🥾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351407"/>
            <a:ext cx="987552" cy="201168"/>
          </a:xfrm>
          <a:prstGeom prst="rect">
            <a:avLst/>
          </a:prstGeom>
          <a:solidFill>
            <a:srgbClr val="2C7A30">
              <a:alpha val="18000"/>
            </a:srgbClr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351407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登山・1日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900047"/>
            <a:ext cx="219456" cy="219456"/>
          </a:xfrm>
          <a:prstGeom prst="ellipse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137791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1863471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11:15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80160" y="1863471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 山頂（1,304m）⛰️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91840" y="1881759"/>
            <a:ext cx="987552" cy="201168"/>
          </a:xfrm>
          <a:prstGeom prst="rect">
            <a:avLst/>
          </a:prstGeom>
          <a:solidFill>
            <a:srgbClr val="2C7A30">
              <a:alpha val="18000"/>
            </a:srgbClr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881759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登山・1日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430399"/>
            <a:ext cx="219456" cy="219456"/>
          </a:xfrm>
          <a:prstGeom prst="ellipse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2668143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2393823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13:00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0160" y="2393823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一の鳥居</a:t>
            </a: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　</a:t>
            </a:r>
            <a:r>
              <a:rPr lang="ja-JP" altLang="en-US" sz="1150" dirty="0"/>
              <a:t>下山　</a:t>
            </a:r>
            <a:r>
              <a:rPr lang="ja-JP" altLang="en-US" sz="1150" dirty="0"/>
              <a:t>お昼</a:t>
            </a:r>
            <a:endParaRPr lang="ja-JP" alt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91840" y="2412111"/>
            <a:ext cx="987552" cy="201168"/>
          </a:xfrm>
          <a:prstGeom prst="rect">
            <a:avLst/>
          </a:prstGeom>
          <a:solidFill>
            <a:srgbClr val="2C7A30">
              <a:alpha val="18000"/>
            </a:srgbClr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412111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登山・1日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960751"/>
            <a:ext cx="219456" cy="219456"/>
          </a:xfrm>
          <a:prstGeom prst="ellipse">
            <a:avLst/>
          </a:prstGeom>
          <a:solidFill>
            <a:srgbClr val="D4608A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198495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" y="2924175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15:10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280160" y="2924175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西武秩父駅</a:t>
            </a: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 (午後合流)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2942463"/>
            <a:ext cx="987552" cy="201168"/>
          </a:xfrm>
          <a:prstGeom prst="rect">
            <a:avLst/>
          </a:prstGeom>
          <a:solidFill>
            <a:srgbClr val="D4608A">
              <a:alpha val="18000"/>
            </a:srgbClr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2942463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1日・午後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491103"/>
            <a:ext cx="219456" cy="219456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728847"/>
            <a:ext cx="0" cy="29260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3454527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15:30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280160" y="3454527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羊山公園 芝桜の丘 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91840" y="3472815"/>
            <a:ext cx="987552" cy="201168"/>
          </a:xfrm>
          <a:prstGeom prst="rect">
            <a:avLst/>
          </a:prstGeom>
          <a:solidFill>
            <a:srgbClr val="A0522D">
              <a:alpha val="18000"/>
            </a:srgbClr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3472815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1日・午後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3685" y="4012565"/>
            <a:ext cx="219456" cy="219456"/>
          </a:xfrm>
          <a:prstGeom prst="ellipse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581" y="3975989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17:00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42695" y="3948430"/>
            <a:ext cx="2999105" cy="347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西武秩父駅前「祭の湯」♨</a:t>
            </a:r>
            <a:endParaRPr lang="ja-JP" alt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291840" y="4003167"/>
            <a:ext cx="987552" cy="201168"/>
          </a:xfrm>
          <a:prstGeom prst="rect">
            <a:avLst/>
          </a:prstGeom>
          <a:solidFill>
            <a:srgbClr val="2A6BAE">
              <a:alpha val="18000"/>
            </a:srgbClr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003167"/>
            <a:ext cx="9875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1日・午後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17720" y="786384"/>
            <a:ext cx="4297680" cy="2286000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17720" y="786384"/>
            <a:ext cx="4297680" cy="2286000"/>
          </a:xfrm>
          <a:prstGeom prst="rect">
            <a:avLst/>
          </a:prstGeom>
        </p:spPr>
      </p:pic>
      <p:sp>
        <p:nvSpPr>
          <p:cNvPr id="53" name="Shape 50"/>
          <p:cNvSpPr/>
          <p:nvPr/>
        </p:nvSpPr>
        <p:spPr>
          <a:xfrm>
            <a:off x="4617720" y="2761488"/>
            <a:ext cx="4297680" cy="27432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62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663440" y="2779776"/>
            <a:ext cx="41879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武甲山頂からのパノラマ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617720" y="3090672"/>
            <a:ext cx="4297680" cy="2084832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17720" y="3090545"/>
            <a:ext cx="4297680" cy="2049145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4617720" y="4864608"/>
            <a:ext cx="4297680" cy="27432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6200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663440" y="4882896"/>
            <a:ext cx="41879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羊山公園 芝桜の丘（40万株）</a:t>
            </a:r>
            <a:endParaRPr lang="en-US" sz="1050" dirty="0"/>
          </a:p>
        </p:txBody>
      </p:sp>
      <p:sp>
        <p:nvSpPr>
          <p:cNvPr id="60" name="Text 45"/>
          <p:cNvSpPr/>
          <p:nvPr/>
        </p:nvSpPr>
        <p:spPr>
          <a:xfrm>
            <a:off x="1242060" y="4479290"/>
            <a:ext cx="2999105" cy="3479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ja-JP" altLang="en-US" sz="115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解散</a:t>
            </a:r>
            <a:endParaRPr lang="ja-JP" altLang="en-US" sz="1150" dirty="0"/>
          </a:p>
        </p:txBody>
      </p:sp>
      <p:sp>
        <p:nvSpPr>
          <p:cNvPr id="61" name="Shape 46"/>
          <p:cNvSpPr/>
          <p:nvPr/>
        </p:nvSpPr>
        <p:spPr>
          <a:xfrm>
            <a:off x="3291840" y="4479417"/>
            <a:ext cx="987552" cy="201168"/>
          </a:xfrm>
          <a:prstGeom prst="rect">
            <a:avLst/>
          </a:prstGeom>
          <a:solidFill>
            <a:srgbClr val="2A6BAE">
              <a:alpha val="18000"/>
            </a:srgbClr>
          </a:solidFill>
          <a:ln w="12700">
            <a:solidFill>
              <a:srgbClr val="2A6BAE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en-US" sz="9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1日・午後</a:t>
            </a:r>
            <a:endParaRPr lang="en-US" altLang="en-US" sz="900" b="1" dirty="0">
              <a:solidFill>
                <a:srgbClr val="2A6BAE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EC864"/>
          </a:solidFill>
          <a:ln w="12700">
            <a:solidFill>
              <a:srgbClr val="7EC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🏔️ 武甲山 表参道コース（初心者向け）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5953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距離（往復）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約7km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53619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9105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標高差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約600m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" y="226771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32257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登り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約2.0~2.5時間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" y="299923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05409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下り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3101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約1.0~1.5時間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8600" y="373075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78561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難易度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404164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★★☆（初心者OK）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80560" y="786384"/>
            <a:ext cx="4434840" cy="2194560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80560" y="786384"/>
            <a:ext cx="4434840" cy="21945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480560" y="2670048"/>
            <a:ext cx="4434840" cy="27432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6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688336"/>
            <a:ext cx="4334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整備された登山道の木製階段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480560" y="3017520"/>
            <a:ext cx="4434840" cy="1828800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80560" y="3017520"/>
            <a:ext cx="4434840" cy="18288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480560" y="4626864"/>
            <a:ext cx="4434840" cy="27432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62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26280" y="4645152"/>
            <a:ext cx="43342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山頂展望台からの秩父市街パノラマ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28600" y="4590161"/>
            <a:ext cx="4069080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E0901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0040" y="4626864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8350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💡 </a:t>
            </a:r>
            <a:r>
              <a:rPr lang="ja-JP" altLang="en-US" sz="1150" dirty="0">
                <a:solidFill>
                  <a:srgbClr val="78350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登山アプリ</a:t>
            </a:r>
            <a:r>
              <a:rPr lang="en-US" sz="1150" dirty="0">
                <a:solidFill>
                  <a:srgbClr val="78350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をインストールしておくと安心！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EC864"/>
          </a:solidFill>
          <a:ln w="12700">
            <a:solidFill>
              <a:srgbClr val="7EC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🎒 持ち物チェックリスト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04545"/>
            <a:ext cx="4224655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C7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224528" cy="329184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👟 足元（最重要）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188720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登山靴・トレッキングシューズ（スニーカーNG）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554480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厚手の登山靴下（マメ予防・足首保護）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81855" y="804545"/>
            <a:ext cx="4224655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A6B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804672"/>
            <a:ext cx="4224528" cy="329184"/>
          </a:xfrm>
          <a:prstGeom prst="rect">
            <a:avLst/>
          </a:prstGeom>
          <a:solidFill>
            <a:srgbClr val="2A6BAE"/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84124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🎒 ザック・衣類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91456" y="1188720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ザック 20〜25L（両手フリー）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レインウェア上下（天気急変対策）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1920240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フリース・防寒着（山頂は寒い）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2286000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速乾Tシャツ・帽子・サングラス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728468"/>
            <a:ext cx="4224528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0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728468"/>
            <a:ext cx="4224528" cy="329184"/>
          </a:xfrm>
          <a:prstGeom prst="rect">
            <a:avLst/>
          </a:prstGeom>
          <a:solidFill>
            <a:srgbClr val="D4608A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5044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💧 飲食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11251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水・スポーツ飲料 1.5〜2L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47827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昼食（コンビニで事前購入）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" y="384403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行動食（チョコ・ゼリー・ナッツ）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" y="420979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アミノ酸サプリ（疲労軽減）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1728" y="2728468"/>
            <a:ext cx="4224528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A052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728468"/>
            <a:ext cx="4224528" cy="32918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765044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🩹 安全・その他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91456" y="311251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絆創膏・テーピング（靴ずれ）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91456" y="347827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スマホ＋モバイルバッテリー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91456" y="384403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現金多め（タクシー・入園料）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209796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トレッキングポール・虫よけ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4758436"/>
            <a:ext cx="868680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776724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⚠️ 午後のみ参加の方は登山用装備は不要。動きやすい服装と歩きやすい靴でOK！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EC864"/>
          </a:solidFill>
          <a:ln w="12700">
            <a:solidFill>
              <a:srgbClr val="7EC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🌸 羊山公園 芝桜の丘 ＋ ♨️ 祭の湯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737360"/>
          </a:xfrm>
          <a:prstGeom prst="rect">
            <a:avLst/>
          </a:prstGeom>
          <a:solidFill>
            <a:srgbClr val="CCCCCC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37" name="図形 36" descr="Hitsujiyama Park-Shibazakura no Ok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5770" y="768350"/>
            <a:ext cx="2102485" cy="1762125"/>
          </a:xfrm>
          <a:prstGeom prst="rect">
            <a:avLst/>
          </a:prstGeom>
        </p:spPr>
      </p:pic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47415" y="767715"/>
            <a:ext cx="3348355" cy="1737995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2090" y="768350"/>
            <a:ext cx="3234690" cy="1737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2090" y="2267585"/>
            <a:ext cx="8686165" cy="255905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2286000"/>
            <a:ext cx="85770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羊山公園「芝桜の丘」〜 芝桜越しに武甲山を望む絶景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2614930"/>
            <a:ext cx="4160520" cy="2341245"/>
          </a:xfrm>
          <a:prstGeom prst="rect">
            <a:avLst/>
          </a:prstGeom>
          <a:solidFill>
            <a:srgbClr val="FFFFFF"/>
          </a:solidFill>
          <a:ln w="25400">
            <a:solidFill>
              <a:srgbClr val="D460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615184"/>
            <a:ext cx="4160520" cy="329184"/>
          </a:xfrm>
          <a:prstGeom prst="rect">
            <a:avLst/>
          </a:prstGeom>
          <a:solidFill>
            <a:srgbClr val="D4608A"/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63347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🌸  羊山公園 芝桜の丘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7472" y="301752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場所：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89888" y="3017520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秩父市羊山公園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341985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規模：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89888" y="3419856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17,600m² / 40万株 / 10品種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" y="382219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入園料：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89888" y="382219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一般300円（中学生以下無料）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" y="4224528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時間：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389888" y="4224528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8:00〜17:00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7472" y="462686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集合：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89888" y="4626864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13:00（午後組はここから合流）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0" y="2614930"/>
            <a:ext cx="4343400" cy="234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A052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0" y="2615184"/>
            <a:ext cx="4343400" cy="32918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63347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♨️  西武秩父駅前温泉 祭の湯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681728" y="301752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場所：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715000" y="30175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西武秩父駅直結で便利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681728" y="341985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料金：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715000" y="341985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平日900円・土休日1,100円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81728" y="382219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営業：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715000" y="382219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10:00〜22:00（最終入館21:00）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681728" y="4224528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特徴：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715000" y="422452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露天風呂あり・わらじカツ丼も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681728" y="462686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ポイント：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715000" y="462686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登山の疲れをしっかり癒せる！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7A30"/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7EC864"/>
          </a:solidFill>
          <a:ln w="12700">
            <a:solidFill>
              <a:srgbClr val="7EC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📝 申込方法 ＋ ⚠️ 注意事項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4AA3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46304" cy="1261872"/>
          </a:xfrm>
          <a:prstGeom prst="rect">
            <a:avLst/>
          </a:prstGeom>
          <a:solidFill>
            <a:srgbClr val="4AA34E"/>
          </a:solidFill>
          <a:ln w="12700">
            <a:solidFill>
              <a:srgbClr val="4AA3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59536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📋  申込情報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1704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⏰ 締め切り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11704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5月1日（木）まで（3日前）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4630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📬 申込方法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463040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主催者に参加コースを選んで連絡してください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17556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💡 選択コース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175564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① 1日参加（登山+芝桜+温泉）　② 午前のみ（登山）　③ 午後のみ（芝桜+温泉）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4206240" cy="1225296"/>
          </a:xfrm>
          <a:prstGeom prst="rect">
            <a:avLst/>
          </a:prstGeom>
          <a:solidFill>
            <a:srgbClr val="FFFFFF"/>
          </a:solidFill>
          <a:ln w="19050">
            <a:solidFill>
              <a:srgbClr val="2A6B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12848"/>
            <a:ext cx="4206240" cy="320040"/>
          </a:xfrm>
          <a:prstGeom prst="rect">
            <a:avLst/>
          </a:prstGeom>
          <a:solidFill>
            <a:srgbClr val="2A6BAE">
              <a:alpha val="12000"/>
            </a:srgbClr>
          </a:solidFill>
          <a:ln w="12700">
            <a:solidFill>
              <a:srgbClr val="2A6B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249424"/>
            <a:ext cx="3986784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A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🚃  西武特急は必ず事前予約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" y="2596896"/>
            <a:ext cx="3986784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GWは満席になります。早めに西武鉄道アプリ or Webサイトで予約を！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212848"/>
            <a:ext cx="4206240" cy="1225296"/>
          </a:xfrm>
          <a:prstGeom prst="rect">
            <a:avLst/>
          </a:prstGeom>
          <a:solidFill>
            <a:srgbClr val="FFFFFF"/>
          </a:solidFill>
          <a:ln w="19050">
            <a:solidFill>
              <a:srgbClr val="2C7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212848"/>
            <a:ext cx="4206240" cy="320040"/>
          </a:xfrm>
          <a:prstGeom prst="rect">
            <a:avLst/>
          </a:prstGeom>
          <a:solidFill>
            <a:srgbClr val="2C7A30">
              <a:alpha val="12000"/>
            </a:srgbClr>
          </a:solidFill>
          <a:ln w="12700">
            <a:solidFill>
              <a:srgbClr val="2C7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249424"/>
            <a:ext cx="3986784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🚕  </a:t>
            </a:r>
            <a:r>
              <a:rPr lang="ja-JP" altLang="en-US" sz="1300" b="1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事前準備</a:t>
            </a:r>
            <a:endParaRPr lang="ja-JP" altLang="en-US" sz="1300" b="1" dirty="0">
              <a:solidFill>
                <a:srgbClr val="2C7A30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18888" y="2596896"/>
            <a:ext cx="3986784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天気予報の確認</a:t>
            </a:r>
            <a:r>
              <a:rPr lang="ja-JP" alt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する</a:t>
            </a:r>
            <a:endParaRPr lang="ja-JP" altLang="en-US" sz="1200" dirty="0">
              <a:solidFill>
                <a:srgbClr val="2C4A2E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  <a:p>
            <a:pPr marL="0" indent="0">
              <a:buNone/>
            </a:pPr>
            <a:r>
              <a:rPr lang="ja-JP" altLang="en-US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登山アプリ：ヤマレコ、</a:t>
            </a:r>
            <a:r>
              <a:rPr lang="en-US" altLang="ja-JP" sz="1200" dirty="0">
                <a:solidFill>
                  <a:srgbClr val="2C4A2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YAMAP</a:t>
            </a:r>
            <a:endParaRPr lang="ja-JP" altLang="en-US" sz="1200" dirty="0">
              <a:solidFill>
                <a:srgbClr val="2C4A2E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3566160"/>
            <a:ext cx="4206240" cy="11150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566160"/>
            <a:ext cx="4206240" cy="32004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602736"/>
            <a:ext cx="3986784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👟  登山靴は必ず用意して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" y="3950208"/>
            <a:ext cx="3986784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スニーカーでの登山は濡れた岩で滑りやすく危険。必ずトレッキングシューズを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4206240" cy="11150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0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566160"/>
            <a:ext cx="4206240" cy="320040"/>
          </a:xfrm>
          <a:prstGeom prst="rect">
            <a:avLst/>
          </a:prstGeom>
          <a:solidFill>
            <a:srgbClr val="D4608A">
              <a:alpha val="12000"/>
            </a:srgbClr>
          </a:solidFill>
          <a:ln w="12700">
            <a:solidFill>
              <a:srgbClr val="D460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602736"/>
            <a:ext cx="3986784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608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🌸  芝桜エリアの混雑に注意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18888" y="3950208"/>
            <a:ext cx="3986784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A4C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GW期間中は周辺道路が大渋滞。必ず電車でのアクセスを推奨します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4791202"/>
            <a:ext cx="8686800" cy="219456"/>
          </a:xfrm>
          <a:prstGeom prst="rect">
            <a:avLst/>
          </a:prstGeom>
          <a:solidFill>
            <a:srgbClr val="EEF7EC"/>
          </a:solidFill>
          <a:ln w="12700">
            <a:solidFill>
              <a:srgbClr val="4AA3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735" y="4681220"/>
            <a:ext cx="8503920" cy="523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7A3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質問・不明点は主催者まで気軽にご連絡ください。楽しい1日にしましょう！🌿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</Words>
  <Application>WPS Presentation</Application>
  <PresentationFormat>On-screen Show (16:9)</PresentationFormat>
  <Paragraphs>266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ＭＳ Ｐゴシック</vt:lpstr>
      <vt:lpstr>Wingdings</vt:lpstr>
      <vt:lpstr>メイリオ</vt:lpstr>
      <vt:lpstr>メイリオ</vt:lpstr>
      <vt:lpstr>メイリオ</vt:lpstr>
      <vt:lpstr>Calibri</vt:lpstr>
      <vt:lpstr>Microsoft YaHei</vt:lpstr>
      <vt:lpstr>ＭＳ Ｐゴシック</vt:lpstr>
      <vt:lpstr>Arial Unicode MS</vt:lpstr>
      <vt:lpstr>SimSun</vt:lpstr>
      <vt:lpstr>游ゴシック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5月4日秩父イベント 参加者向け案内</dc:title>
  <dc:creator>PptxGenJS</dc:creator>
  <dc:subject>PptxGenJS Presentation</dc:subject>
  <cp:lastModifiedBy>user</cp:lastModifiedBy>
  <cp:revision>6</cp:revision>
  <dcterms:created xsi:type="dcterms:W3CDTF">2026-04-10T12:29:00Z</dcterms:created>
  <dcterms:modified xsi:type="dcterms:W3CDTF">2026-04-17T12:46:40Z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1041-11.8.2.10339</vt:lpwstr>
  </property>
</Properties>
</file>